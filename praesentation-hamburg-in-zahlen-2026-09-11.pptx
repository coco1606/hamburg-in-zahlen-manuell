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9" d="100"/>
          <a:sy n="109" d="100"/>
        </p:scale>
        <p:origin x="1572"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63040"/>
            <a:ext cx="9144000" cy="365760"/>
          </a:xfrm>
          <a:prstGeom prst="rect">
            <a:avLst/>
          </a:prstGeom>
          <a:noFill/>
        </p:spPr>
        <p:txBody>
          <a:bodyPr wrap="square" lIns="45720" tIns="27432" rIns="45720" bIns="27432" anchor="t">
            <a:spAutoFit/>
          </a:bodyPr>
          <a:lstStyle/>
          <a:p>
            <a:pPr algn="l">
              <a:lnSpc>
                <a:spcPct val="115000"/>
              </a:lnSpc>
            </a:pPr>
            <a:r>
              <a:rPr sz="1300" b="1">
                <a:solidFill>
                  <a:srgbClr val="F6F7F8"/>
                </a:solidFill>
                <a:latin typeface="Arial"/>
              </a:rPr>
              <a:t>PORTFOLIO-PROJEKT · DATA ANALYST TRAINING</a:t>
            </a:r>
          </a:p>
        </p:txBody>
      </p:sp>
      <p:sp>
        <p:nvSpPr>
          <p:cNvPr id="4" name="TextBox 3"/>
          <p:cNvSpPr txBox="1"/>
          <p:nvPr/>
        </p:nvSpPr>
        <p:spPr>
          <a:xfrm>
            <a:off x="640080" y="1920240"/>
            <a:ext cx="10515600" cy="1280160"/>
          </a:xfrm>
          <a:prstGeom prst="rect">
            <a:avLst/>
          </a:prstGeom>
          <a:noFill/>
        </p:spPr>
        <p:txBody>
          <a:bodyPr wrap="square" lIns="45720" tIns="27432" rIns="45720" bIns="27432" anchor="t">
            <a:spAutoFit/>
          </a:bodyPr>
          <a:lstStyle/>
          <a:p>
            <a:pPr algn="l">
              <a:lnSpc>
                <a:spcPct val="115000"/>
              </a:lnSpc>
            </a:pPr>
            <a:r>
              <a:rPr sz="5400" b="1">
                <a:solidFill>
                  <a:srgbClr val="FFFFFF"/>
                </a:solidFill>
                <a:latin typeface="Arial"/>
              </a:rPr>
              <a:t>Hamburg in Zahlen</a:t>
            </a:r>
          </a:p>
        </p:txBody>
      </p:sp>
      <p:sp>
        <p:nvSpPr>
          <p:cNvPr id="5" name="TextBox 4"/>
          <p:cNvSpPr txBox="1"/>
          <p:nvPr/>
        </p:nvSpPr>
        <p:spPr>
          <a:xfrm>
            <a:off x="640080" y="3017520"/>
            <a:ext cx="6949440" cy="1280160"/>
          </a:xfrm>
          <a:prstGeom prst="rect">
            <a:avLst/>
          </a:prstGeom>
          <a:noFill/>
        </p:spPr>
        <p:txBody>
          <a:bodyPr wrap="square" lIns="45720" tIns="27432" rIns="45720" bIns="27432" anchor="t">
            <a:spAutoFit/>
          </a:bodyPr>
          <a:lstStyle/>
          <a:p>
            <a:pPr algn="l">
              <a:lnSpc>
                <a:spcPct val="115000"/>
              </a:lnSpc>
            </a:pPr>
            <a:r>
              <a:rPr sz="2200" b="0">
                <a:solidFill>
                  <a:srgbClr val="F6F7F8"/>
                </a:solidFill>
                <a:latin typeface="Arial"/>
              </a:rPr>
              <a:t>Wohin 2,62 Milliarden Euro Fördergeld fließen – und warum das seit 2013 niemand mehr zusammenfasst</a:t>
            </a:r>
          </a:p>
        </p:txBody>
      </p:sp>
      <p:sp>
        <p:nvSpPr>
          <p:cNvPr id="6" name="TextBox 5"/>
          <p:cNvSpPr txBox="1"/>
          <p:nvPr/>
        </p:nvSpPr>
        <p:spPr>
          <a:xfrm>
            <a:off x="640080" y="5120640"/>
            <a:ext cx="9144000" cy="731520"/>
          </a:xfrm>
          <a:prstGeom prst="rect">
            <a:avLst/>
          </a:prstGeom>
          <a:noFill/>
        </p:spPr>
        <p:txBody>
          <a:bodyPr wrap="square" lIns="45720" tIns="27432" rIns="45720" bIns="27432" anchor="t">
            <a:spAutoFit/>
          </a:bodyPr>
          <a:lstStyle/>
          <a:p>
            <a:pPr algn="l">
              <a:lnSpc>
                <a:spcPct val="115000"/>
              </a:lnSpc>
            </a:pPr>
            <a:r>
              <a:rPr sz="1800" b="1">
                <a:solidFill>
                  <a:srgbClr val="FFFFFF"/>
                </a:solidFill>
                <a:latin typeface="Arial"/>
              </a:rPr>
              <a:t>Constanze Thönnessen</a:t>
            </a:r>
          </a:p>
          <a:p>
            <a:pPr algn="l">
              <a:lnSpc>
                <a:spcPct val="115000"/>
              </a:lnSpc>
            </a:pPr>
            <a:r>
              <a:rPr sz="1400" b="0">
                <a:solidFill>
                  <a:srgbClr val="F6F7F8"/>
                </a:solidFill>
                <a:latin typeface="Arial"/>
              </a:rPr>
              <a:t>Abschlusspräsentation · 11. September 2026</a:t>
            </a:r>
          </a:p>
        </p:txBody>
      </p:sp>
      <p:pic>
        <p:nvPicPr>
          <p:cNvPr id="7" name="Picture 6" descr="kachel_02_zuwendungen.png"/>
          <p:cNvPicPr>
            <a:picLocks noChangeAspect="1"/>
          </p:cNvPicPr>
          <p:nvPr/>
        </p:nvPicPr>
        <p:blipFill>
          <a:blip r:embed="rId2"/>
          <a:stretch>
            <a:fillRect/>
          </a:stretch>
        </p:blipFill>
        <p:spPr>
          <a:xfrm>
            <a:off x="7818120" y="1463040"/>
            <a:ext cx="393192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ABLAUF</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Teile, ein roter Faden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103120"/>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03120"/>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1</a:t>
            </a:r>
          </a:p>
        </p:txBody>
      </p:sp>
      <p:sp>
        <p:nvSpPr>
          <p:cNvPr id="7" name="TextBox 6"/>
          <p:cNvSpPr txBox="1"/>
          <p:nvPr/>
        </p:nvSpPr>
        <p:spPr>
          <a:xfrm>
            <a:off x="1737360" y="2084832"/>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Warum diese Aufgabe</a:t>
            </a:r>
          </a:p>
        </p:txBody>
      </p:sp>
      <p:sp>
        <p:nvSpPr>
          <p:cNvPr id="8" name="TextBox 7"/>
          <p:cNvSpPr txBox="1"/>
          <p:nvPr/>
        </p:nvSpPr>
        <p:spPr>
          <a:xfrm>
            <a:off x="1737360" y="2514600"/>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Woher die Frage kommt und was am Ende stehen soll</a:t>
            </a:r>
          </a:p>
        </p:txBody>
      </p:sp>
      <p:sp>
        <p:nvSpPr>
          <p:cNvPr id="9" name="Rectangle 8"/>
          <p:cNvSpPr/>
          <p:nvPr/>
        </p:nvSpPr>
        <p:spPr>
          <a:xfrm>
            <a:off x="640080" y="3429000"/>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429000"/>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2</a:t>
            </a:r>
          </a:p>
        </p:txBody>
      </p:sp>
      <p:sp>
        <p:nvSpPr>
          <p:cNvPr id="11" name="TextBox 10"/>
          <p:cNvSpPr txBox="1"/>
          <p:nvPr/>
        </p:nvSpPr>
        <p:spPr>
          <a:xfrm>
            <a:off x="1737360" y="3410712"/>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Die Datenanalyse</a:t>
            </a:r>
          </a:p>
        </p:txBody>
      </p:sp>
      <p:sp>
        <p:nvSpPr>
          <p:cNvPr id="12" name="TextBox 11"/>
          <p:cNvSpPr txBox="1"/>
          <p:nvPr/>
        </p:nvSpPr>
        <p:spPr>
          <a:xfrm>
            <a:off x="1737360" y="3840480"/>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Sechs Hürden im Datensatz und wie ich sie mit Code gelöst habe</a:t>
            </a:r>
          </a:p>
        </p:txBody>
      </p:sp>
      <p:sp>
        <p:nvSpPr>
          <p:cNvPr id="13" name="Rectangle 12"/>
          <p:cNvSpPr/>
          <p:nvPr/>
        </p:nvSpPr>
        <p:spPr>
          <a:xfrm>
            <a:off x="640080" y="4754879"/>
            <a:ext cx="822960" cy="8229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754879"/>
            <a:ext cx="822960" cy="822960"/>
          </a:xfrm>
          <a:prstGeom prst="rect">
            <a:avLst/>
          </a:prstGeom>
          <a:noFill/>
        </p:spPr>
        <p:txBody>
          <a:bodyPr wrap="square" lIns="45720" tIns="27432" rIns="45720" bIns="27432" anchor="ctr">
            <a:spAutoFit/>
          </a:bodyPr>
          <a:lstStyle/>
          <a:p>
            <a:pPr algn="ctr">
              <a:lnSpc>
                <a:spcPct val="115000"/>
              </a:lnSpc>
            </a:pPr>
            <a:r>
              <a:rPr sz="2800" b="1">
                <a:solidFill>
                  <a:srgbClr val="FFFFFF"/>
                </a:solidFill>
                <a:latin typeface="Arial"/>
              </a:rPr>
              <a:t>3</a:t>
            </a:r>
          </a:p>
        </p:txBody>
      </p:sp>
      <p:sp>
        <p:nvSpPr>
          <p:cNvPr id="15" name="TextBox 14"/>
          <p:cNvSpPr txBox="1"/>
          <p:nvPr/>
        </p:nvSpPr>
        <p:spPr>
          <a:xfrm>
            <a:off x="1737360" y="4736591"/>
            <a:ext cx="9144000" cy="457200"/>
          </a:xfrm>
          <a:prstGeom prst="rect">
            <a:avLst/>
          </a:prstGeom>
          <a:noFill/>
        </p:spPr>
        <p:txBody>
          <a:bodyPr wrap="square" lIns="45720" tIns="27432" rIns="45720" bIns="27432" anchor="t">
            <a:spAutoFit/>
          </a:bodyPr>
          <a:lstStyle/>
          <a:p>
            <a:pPr algn="l">
              <a:lnSpc>
                <a:spcPct val="115000"/>
              </a:lnSpc>
            </a:pPr>
            <a:r>
              <a:rPr sz="2200" b="1">
                <a:solidFill>
                  <a:srgbClr val="16202A"/>
                </a:solidFill>
                <a:latin typeface="Arial"/>
              </a:rPr>
              <a:t>Der Ausblick</a:t>
            </a:r>
          </a:p>
        </p:txBody>
      </p:sp>
      <p:sp>
        <p:nvSpPr>
          <p:cNvPr id="16" name="TextBox 15"/>
          <p:cNvSpPr txBox="1"/>
          <p:nvPr/>
        </p:nvSpPr>
        <p:spPr>
          <a:xfrm>
            <a:off x="1737360" y="5166359"/>
            <a:ext cx="9144000" cy="457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Von der Handarbeit zur Pipeline: Kacheln aus amtlichen Daten, automatisch</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1</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Warum ich mir diese Aufgabe genommen habe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Eine Auswertung, die es bis 2013 gab. Seitdem macht sie niemand mehr.</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AUSGANGSPUNKT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Ich komme aus dem Erzählen und will zum Belegen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Mein Hintergrund</a:t>
            </a:r>
          </a:p>
        </p:txBody>
      </p:sp>
      <p:sp>
        <p:nvSpPr>
          <p:cNvPr id="7" name="TextBox 6"/>
          <p:cNvSpPr txBox="1"/>
          <p:nvPr/>
        </p:nvSpPr>
        <p:spPr>
          <a:xfrm>
            <a:off x="640080" y="2697480"/>
            <a:ext cx="3429000" cy="563744"/>
          </a:xfrm>
          <a:prstGeom prst="rect">
            <a:avLst/>
          </a:prstGeom>
          <a:noFill/>
        </p:spPr>
        <p:txBody>
          <a:bodyPr wrap="square" lIns="45720" tIns="27432" rIns="45720" bIns="27432" anchor="t">
            <a:spAutoFit/>
          </a:bodyPr>
          <a:lstStyle/>
          <a:p>
            <a:pPr algn="l">
              <a:lnSpc>
                <a:spcPct val="115000"/>
              </a:lnSpc>
            </a:pPr>
            <a:r>
              <a:rPr lang="de-DE" sz="1500" b="0" dirty="0">
                <a:solidFill>
                  <a:srgbClr val="55677A"/>
                </a:solidFill>
                <a:latin typeface="Arial"/>
              </a:rPr>
              <a:t>Journalismus</a:t>
            </a:r>
            <a:r>
              <a:rPr sz="1500" b="0" dirty="0">
                <a:solidFill>
                  <a:srgbClr val="55677A"/>
                </a:solidFill>
                <a:latin typeface="Arial"/>
              </a:rPr>
              <a:t> </a:t>
            </a:r>
            <a:r>
              <a:rPr sz="1500" b="0" dirty="0" err="1">
                <a:solidFill>
                  <a:srgbClr val="55677A"/>
                </a:solidFill>
                <a:latin typeface="Arial"/>
              </a:rPr>
              <a:t>im</a:t>
            </a:r>
            <a:r>
              <a:rPr sz="1500" b="0" dirty="0">
                <a:solidFill>
                  <a:srgbClr val="55677A"/>
                </a:solidFill>
                <a:latin typeface="Arial"/>
              </a:rPr>
              <a:t> </a:t>
            </a:r>
            <a:r>
              <a:rPr sz="1500" b="0" dirty="0" err="1">
                <a:solidFill>
                  <a:srgbClr val="55677A"/>
                </a:solidFill>
                <a:latin typeface="Arial"/>
              </a:rPr>
              <a:t>öffentlich-rechtlichen</a:t>
            </a:r>
            <a:r>
              <a:rPr sz="1500" b="0" dirty="0">
                <a:solidFill>
                  <a:srgbClr val="55677A"/>
                </a:solidFill>
                <a:latin typeface="Arial"/>
              </a:rPr>
              <a:t> Rundfunk (ZDF, WDR, NDR).</a:t>
            </a:r>
          </a:p>
        </p:txBody>
      </p:sp>
      <p:sp>
        <p:nvSpPr>
          <p:cNvPr id="8" name="Rectangle 7"/>
          <p:cNvSpPr/>
          <p:nvPr/>
        </p:nvSpPr>
        <p:spPr>
          <a:xfrm>
            <a:off x="434340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34340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Was mir fehlte</a:t>
            </a:r>
          </a:p>
        </p:txBody>
      </p:sp>
      <p:sp>
        <p:nvSpPr>
          <p:cNvPr id="10" name="TextBox 9"/>
          <p:cNvSpPr txBox="1"/>
          <p:nvPr/>
        </p:nvSpPr>
        <p:spPr>
          <a:xfrm>
            <a:off x="4343400" y="2697480"/>
            <a:ext cx="3429000" cy="829201"/>
          </a:xfrm>
          <a:prstGeom prst="rect">
            <a:avLst/>
          </a:prstGeom>
          <a:noFill/>
        </p:spPr>
        <p:txBody>
          <a:bodyPr wrap="square" lIns="45720" tIns="27432" rIns="45720" bIns="27432" anchor="t">
            <a:spAutoFit/>
          </a:bodyPr>
          <a:lstStyle/>
          <a:p>
            <a:pPr algn="l">
              <a:lnSpc>
                <a:spcPct val="115000"/>
              </a:lnSpc>
            </a:pPr>
            <a:r>
              <a:rPr sz="1500" b="0" dirty="0">
                <a:solidFill>
                  <a:srgbClr val="55677A"/>
                </a:solidFill>
                <a:latin typeface="Arial"/>
              </a:rPr>
              <a:t>Die </a:t>
            </a:r>
            <a:r>
              <a:rPr sz="1500" b="0" dirty="0" err="1">
                <a:solidFill>
                  <a:srgbClr val="55677A"/>
                </a:solidFill>
                <a:latin typeface="Arial"/>
              </a:rPr>
              <a:t>Fähigkeit</a:t>
            </a:r>
            <a:r>
              <a:rPr sz="1500" b="0" dirty="0">
                <a:solidFill>
                  <a:srgbClr val="55677A"/>
                </a:solidFill>
                <a:latin typeface="Arial"/>
              </a:rPr>
              <a:t>, </a:t>
            </a:r>
            <a:r>
              <a:rPr sz="1500" b="0" dirty="0" err="1">
                <a:solidFill>
                  <a:srgbClr val="55677A"/>
                </a:solidFill>
                <a:latin typeface="Arial"/>
              </a:rPr>
              <a:t>Beleg</a:t>
            </a:r>
            <a:r>
              <a:rPr lang="de-DE" sz="1500" b="0" dirty="0">
                <a:solidFill>
                  <a:srgbClr val="55677A"/>
                </a:solidFill>
                <a:latin typeface="Arial"/>
              </a:rPr>
              <a:t>e</a:t>
            </a:r>
            <a:r>
              <a:rPr sz="1500" b="0" dirty="0">
                <a:solidFill>
                  <a:srgbClr val="55677A"/>
                </a:solidFill>
                <a:latin typeface="Arial"/>
              </a:rPr>
              <a:t> </a:t>
            </a:r>
            <a:r>
              <a:rPr sz="1500" b="0" dirty="0" err="1">
                <a:solidFill>
                  <a:srgbClr val="55677A"/>
                </a:solidFill>
                <a:latin typeface="Arial"/>
              </a:rPr>
              <a:t>dafür</a:t>
            </a:r>
            <a:r>
              <a:rPr sz="1500" b="0" dirty="0">
                <a:solidFill>
                  <a:srgbClr val="55677A"/>
                </a:solidFill>
                <a:latin typeface="Arial"/>
              </a:rPr>
              <a:t> </a:t>
            </a:r>
            <a:r>
              <a:rPr sz="1500" b="0" dirty="0" err="1">
                <a:solidFill>
                  <a:srgbClr val="55677A"/>
                </a:solidFill>
                <a:latin typeface="Arial"/>
              </a:rPr>
              <a:t>selbst</a:t>
            </a:r>
            <a:r>
              <a:rPr sz="1500" b="0" dirty="0">
                <a:solidFill>
                  <a:srgbClr val="55677A"/>
                </a:solidFill>
                <a:latin typeface="Arial"/>
              </a:rPr>
              <a:t> </a:t>
            </a:r>
            <a:r>
              <a:rPr sz="1500" b="0" dirty="0" err="1">
                <a:solidFill>
                  <a:srgbClr val="55677A"/>
                </a:solidFill>
                <a:latin typeface="Arial"/>
              </a:rPr>
              <a:t>aus</a:t>
            </a:r>
            <a:r>
              <a:rPr sz="1500" b="0" dirty="0">
                <a:solidFill>
                  <a:srgbClr val="55677A"/>
                </a:solidFill>
                <a:latin typeface="Arial"/>
              </a:rPr>
              <a:t> </a:t>
            </a:r>
            <a:r>
              <a:rPr sz="1500" b="0" dirty="0" err="1">
                <a:solidFill>
                  <a:srgbClr val="55677A"/>
                </a:solidFill>
                <a:latin typeface="Arial"/>
              </a:rPr>
              <a:t>Rohdaten</a:t>
            </a:r>
            <a:r>
              <a:rPr sz="1500" b="0" dirty="0">
                <a:solidFill>
                  <a:srgbClr val="55677A"/>
                </a:solidFill>
                <a:latin typeface="Arial"/>
              </a:rPr>
              <a:t> </a:t>
            </a:r>
            <a:r>
              <a:rPr sz="1500" b="0" dirty="0" err="1">
                <a:solidFill>
                  <a:srgbClr val="55677A"/>
                </a:solidFill>
                <a:latin typeface="Arial"/>
              </a:rPr>
              <a:t>zu</a:t>
            </a:r>
            <a:r>
              <a:rPr sz="1500" b="0" dirty="0">
                <a:solidFill>
                  <a:srgbClr val="55677A"/>
                </a:solidFill>
                <a:latin typeface="Arial"/>
              </a:rPr>
              <a:t> </a:t>
            </a:r>
            <a:r>
              <a:rPr sz="1500" b="0" dirty="0" err="1">
                <a:solidFill>
                  <a:srgbClr val="55677A"/>
                </a:solidFill>
                <a:latin typeface="Arial"/>
              </a:rPr>
              <a:t>holen</a:t>
            </a:r>
            <a:r>
              <a:rPr sz="1500" b="0" dirty="0">
                <a:solidFill>
                  <a:srgbClr val="55677A"/>
                </a:solidFill>
                <a:latin typeface="Arial"/>
              </a:rPr>
              <a:t>. </a:t>
            </a:r>
            <a:r>
              <a:rPr sz="1500" b="0" dirty="0" err="1">
                <a:solidFill>
                  <a:srgbClr val="55677A"/>
                </a:solidFill>
                <a:latin typeface="Arial"/>
              </a:rPr>
              <a:t>Wer</a:t>
            </a:r>
            <a:r>
              <a:rPr sz="1500" b="0" dirty="0">
                <a:solidFill>
                  <a:srgbClr val="55677A"/>
                </a:solidFill>
                <a:latin typeface="Arial"/>
              </a:rPr>
              <a:t> Zahlen </a:t>
            </a:r>
            <a:r>
              <a:rPr sz="1500" b="0" dirty="0" err="1">
                <a:solidFill>
                  <a:srgbClr val="55677A"/>
                </a:solidFill>
                <a:latin typeface="Arial"/>
              </a:rPr>
              <a:t>nur</a:t>
            </a:r>
            <a:r>
              <a:rPr sz="1500" b="0" dirty="0">
                <a:solidFill>
                  <a:srgbClr val="55677A"/>
                </a:solidFill>
                <a:latin typeface="Arial"/>
              </a:rPr>
              <a:t> </a:t>
            </a:r>
            <a:r>
              <a:rPr sz="1500" b="0" dirty="0" err="1">
                <a:solidFill>
                  <a:srgbClr val="55677A"/>
                </a:solidFill>
                <a:latin typeface="Arial"/>
              </a:rPr>
              <a:t>zitiert</a:t>
            </a:r>
            <a:r>
              <a:rPr sz="1500" b="0" dirty="0">
                <a:solidFill>
                  <a:srgbClr val="55677A"/>
                </a:solidFill>
                <a:latin typeface="Arial"/>
              </a:rPr>
              <a:t>, </a:t>
            </a:r>
            <a:r>
              <a:rPr sz="1500" b="0" dirty="0" err="1">
                <a:solidFill>
                  <a:srgbClr val="55677A"/>
                </a:solidFill>
                <a:latin typeface="Arial"/>
              </a:rPr>
              <a:t>kann</a:t>
            </a:r>
            <a:r>
              <a:rPr sz="1500" b="0" dirty="0">
                <a:solidFill>
                  <a:srgbClr val="55677A"/>
                </a:solidFill>
                <a:latin typeface="Arial"/>
              </a:rPr>
              <a:t> </a:t>
            </a:r>
            <a:r>
              <a:rPr sz="1500" b="0" dirty="0" err="1">
                <a:solidFill>
                  <a:srgbClr val="55677A"/>
                </a:solidFill>
                <a:latin typeface="Arial"/>
              </a:rPr>
              <a:t>sie</a:t>
            </a:r>
            <a:r>
              <a:rPr sz="1500" b="0" dirty="0">
                <a:solidFill>
                  <a:srgbClr val="55677A"/>
                </a:solidFill>
                <a:latin typeface="Arial"/>
              </a:rPr>
              <a:t> nicht </a:t>
            </a:r>
            <a:r>
              <a:rPr sz="1500" b="0" dirty="0" err="1">
                <a:solidFill>
                  <a:srgbClr val="55677A"/>
                </a:solidFill>
                <a:latin typeface="Arial"/>
              </a:rPr>
              <a:t>prüfen</a:t>
            </a:r>
            <a:r>
              <a:rPr sz="1500" b="0" dirty="0">
                <a:solidFill>
                  <a:srgbClr val="55677A"/>
                </a:solidFill>
                <a:latin typeface="Arial"/>
              </a:rPr>
              <a:t>.</a:t>
            </a:r>
          </a:p>
        </p:txBody>
      </p:sp>
      <p:sp>
        <p:nvSpPr>
          <p:cNvPr id="11" name="Rectangle 10"/>
          <p:cNvSpPr/>
          <p:nvPr/>
        </p:nvSpPr>
        <p:spPr>
          <a:xfrm>
            <a:off x="8046720" y="2011680"/>
            <a:ext cx="342900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0" y="2194560"/>
            <a:ext cx="3429000" cy="4572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Warum Fördergeld</a:t>
            </a:r>
          </a:p>
        </p:txBody>
      </p:sp>
      <p:sp>
        <p:nvSpPr>
          <p:cNvPr id="13" name="TextBox 12"/>
          <p:cNvSpPr txBox="1"/>
          <p:nvPr/>
        </p:nvSpPr>
        <p:spPr>
          <a:xfrm>
            <a:off x="8046720" y="2697480"/>
            <a:ext cx="3429000" cy="2743200"/>
          </a:xfrm>
          <a:prstGeom prst="rect">
            <a:avLst/>
          </a:prstGeom>
          <a:noFill/>
        </p:spPr>
        <p:txBody>
          <a:bodyPr wrap="square" lIns="45720" tIns="27432" rIns="45720" bIns="27432" anchor="t">
            <a:spAutoFit/>
          </a:bodyPr>
          <a:lstStyle/>
          <a:p>
            <a:pPr algn="l">
              <a:lnSpc>
                <a:spcPct val="115000"/>
              </a:lnSpc>
            </a:pPr>
            <a:r>
              <a:rPr sz="1500" b="0">
                <a:solidFill>
                  <a:srgbClr val="55677A"/>
                </a:solidFill>
                <a:latin typeface="Arial"/>
              </a:rPr>
              <a:t>Ich beschäftige mich seit einer Weile mit Fördermittelflüssen. Wer bekommt öffentliches Geld, ist eine der Grundfragen des Datenjournalismus, und in Hamburg beantwortet sie seit 2013 niemand mehr.</a:t>
            </a:r>
          </a:p>
        </p:txBody>
      </p:sp>
      <p:sp>
        <p:nvSpPr>
          <p:cNvPr id="14" name="TextBox 13"/>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5" name="TextBox 14"/>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DIE LÜCKE</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Mehr Rohdaten als je zuvor, aber keine Antwort mehr</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512064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BIS 2013</a:t>
            </a:r>
          </a:p>
        </p:txBody>
      </p:sp>
      <p:sp>
        <p:nvSpPr>
          <p:cNvPr id="6" name="TextBox 5"/>
          <p:cNvSpPr txBox="1"/>
          <p:nvPr/>
        </p:nvSpPr>
        <p:spPr>
          <a:xfrm>
            <a:off x="640080" y="2240280"/>
            <a:ext cx="5120640" cy="201168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Der Senat legte der Bürgerschaft alle zwei Jahre einen empfängerbezogenen Zuwendungsbericht vor: fertig aufbereitet, pro Empfänger, eine Zahl je Träger.</a:t>
            </a:r>
          </a:p>
          <a:p>
            <a:pPr algn="l">
              <a:lnSpc>
                <a:spcPct val="115000"/>
              </a:lnSpc>
            </a:pPr>
            <a:r>
              <a:rPr sz="1300" b="0">
                <a:solidFill>
                  <a:srgbClr val="55677A"/>
                </a:solidFill>
                <a:latin typeface="Arial"/>
              </a:rPr>
              <a:t>Zuletzt Drucksache 20/9850 vom 5. November 2013.</a:t>
            </a:r>
          </a:p>
        </p:txBody>
      </p:sp>
      <p:sp>
        <p:nvSpPr>
          <p:cNvPr id="7" name="TextBox 6"/>
          <p:cNvSpPr txBox="1"/>
          <p:nvPr/>
        </p:nvSpPr>
        <p:spPr>
          <a:xfrm>
            <a:off x="6492240" y="1920240"/>
            <a:ext cx="512064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SEIT DEM TRANSPARENZGESETZ (2012)</a:t>
            </a:r>
          </a:p>
        </p:txBody>
      </p:sp>
      <p:sp>
        <p:nvSpPr>
          <p:cNvPr id="8" name="TextBox 7"/>
          <p:cNvSpPr txBox="1"/>
          <p:nvPr/>
        </p:nvSpPr>
        <p:spPr>
          <a:xfrm>
            <a:off x="6492240" y="2240280"/>
            <a:ext cx="5120640" cy="201168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Jeder einzelne Bescheid steht im Transparenzportal. Die Berichte wurden ab 2014 durch die Einzelvorgänge ersetzt.</a:t>
            </a:r>
          </a:p>
          <a:p>
            <a:pPr algn="l">
              <a:lnSpc>
                <a:spcPct val="115000"/>
              </a:lnSpc>
            </a:pPr>
            <a:r>
              <a:rPr sz="1500" b="1">
                <a:solidFill>
                  <a:srgbClr val="16202A"/>
                </a:solidFill>
                <a:latin typeface="Arial"/>
              </a:rPr>
              <a:t>Alles ist offen. Aber niemand fasst mehr zusammen.</a:t>
            </a:r>
          </a:p>
        </p:txBody>
      </p:sp>
      <p:sp>
        <p:nvSpPr>
          <p:cNvPr id="9" name="Rectangle 8"/>
          <p:cNvSpPr/>
          <p:nvPr/>
        </p:nvSpPr>
        <p:spPr>
          <a:xfrm>
            <a:off x="640080" y="4480560"/>
            <a:ext cx="10911535" cy="13716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617720"/>
            <a:ext cx="10362895" cy="118872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Meine These</a:t>
            </a:r>
          </a:p>
          <a:p>
            <a:pPr algn="l">
              <a:lnSpc>
                <a:spcPct val="115000"/>
              </a:lnSpc>
            </a:pPr>
            <a:r>
              <a:rPr sz="1500" b="0">
                <a:solidFill>
                  <a:srgbClr val="16202A"/>
                </a:solidFill>
                <a:latin typeface="Arial"/>
              </a:rPr>
              <a:t>Veröffentlichte Rohdaten sind noch keine Transparenz. Die entsteht erst, wenn jemand die Daten bereinigt, prüft und erklärt. Die Auswertung, die früher die Verwaltung lieferte, ist heute eine journalistische Aufgabe. Dieses Projekt macht sie einmal vor.</a:t>
            </a:r>
          </a:p>
        </p:txBody>
      </p:sp>
      <p:sp>
        <p:nvSpPr>
          <p:cNvPr id="11" name="TextBox 10"/>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2" name="TextBox 11"/>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ZIELBILD</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Befund pro Kachel, der Weg dahin im Repo</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6035040" cy="4114800"/>
          </a:xfrm>
          <a:prstGeom prst="rect">
            <a:avLst/>
          </a:prstGeom>
          <a:noFill/>
        </p:spPr>
        <p:txBody>
          <a:bodyPr wrap="square" lIns="45720" tIns="27432" rIns="45720" bIns="27432" anchor="t">
            <a:spAutoFit/>
          </a:bodyPr>
          <a:lstStyle/>
          <a:p>
            <a:pPr algn="l">
              <a:lnSpc>
                <a:spcPct val="110000"/>
              </a:lnSpc>
            </a:pPr>
            <a:r>
              <a:rPr sz="1200" b="1" dirty="0">
                <a:solidFill>
                  <a:srgbClr val="0A5C6E"/>
                </a:solidFill>
                <a:latin typeface="Arial"/>
              </a:rPr>
              <a:t>Das Format</a:t>
            </a:r>
          </a:p>
          <a:p>
            <a:pPr algn="l">
              <a:lnSpc>
                <a:spcPct val="110000"/>
              </a:lnSpc>
            </a:pPr>
            <a:r>
              <a:rPr sz="1300" b="0" dirty="0">
                <a:solidFill>
                  <a:srgbClr val="16202A"/>
                </a:solidFill>
                <a:latin typeface="Arial"/>
              </a:rPr>
              <a:t>Eine Instagram-Reihe „Hamburg in Zahlen“. </a:t>
            </a:r>
            <a:r>
              <a:rPr sz="1300" b="0" dirty="0" err="1">
                <a:solidFill>
                  <a:srgbClr val="16202A"/>
                </a:solidFill>
                <a:latin typeface="Arial"/>
              </a:rPr>
              <a:t>Jede</a:t>
            </a:r>
            <a:r>
              <a:rPr sz="1300" b="0" dirty="0">
                <a:solidFill>
                  <a:srgbClr val="16202A"/>
                </a:solidFill>
                <a:latin typeface="Arial"/>
              </a:rPr>
              <a:t> Kachel </a:t>
            </a:r>
            <a:r>
              <a:rPr sz="1300" b="0" dirty="0" err="1">
                <a:solidFill>
                  <a:srgbClr val="16202A"/>
                </a:solidFill>
                <a:latin typeface="Arial"/>
              </a:rPr>
              <a:t>zeigt</a:t>
            </a:r>
            <a:r>
              <a:rPr sz="1300" b="0" dirty="0">
                <a:solidFill>
                  <a:srgbClr val="16202A"/>
                </a:solidFill>
                <a:latin typeface="Arial"/>
              </a:rPr>
              <a:t> </a:t>
            </a:r>
            <a:r>
              <a:rPr sz="1300" b="0" dirty="0" err="1">
                <a:solidFill>
                  <a:srgbClr val="16202A"/>
                </a:solidFill>
                <a:latin typeface="Arial"/>
              </a:rPr>
              <a:t>einen</a:t>
            </a:r>
            <a:r>
              <a:rPr sz="1300" b="0" dirty="0">
                <a:solidFill>
                  <a:srgbClr val="16202A"/>
                </a:solidFill>
                <a:latin typeface="Arial"/>
              </a:rPr>
              <a:t> </a:t>
            </a:r>
            <a:r>
              <a:rPr sz="1300" b="0" dirty="0" err="1">
                <a:solidFill>
                  <a:srgbClr val="16202A"/>
                </a:solidFill>
                <a:latin typeface="Arial"/>
              </a:rPr>
              <a:t>Befund</a:t>
            </a:r>
            <a:r>
              <a:rPr sz="1300" b="0" dirty="0">
                <a:solidFill>
                  <a:srgbClr val="16202A"/>
                </a:solidFill>
                <a:latin typeface="Arial"/>
              </a:rPr>
              <a:t>, </a:t>
            </a:r>
            <a:r>
              <a:rPr sz="1300" b="0" dirty="0" err="1">
                <a:solidFill>
                  <a:srgbClr val="16202A"/>
                </a:solidFill>
                <a:latin typeface="Arial"/>
              </a:rPr>
              <a:t>keine</a:t>
            </a:r>
            <a:r>
              <a:rPr sz="1300" b="0" dirty="0">
                <a:solidFill>
                  <a:srgbClr val="16202A"/>
                </a:solidFill>
                <a:latin typeface="Arial"/>
              </a:rPr>
              <a:t> Zahl. „Hamburg </a:t>
            </a:r>
            <a:r>
              <a:rPr sz="1300" b="0" dirty="0" err="1">
                <a:solidFill>
                  <a:srgbClr val="16202A"/>
                </a:solidFill>
                <a:latin typeface="Arial"/>
              </a:rPr>
              <a:t>vergab</a:t>
            </a:r>
            <a:r>
              <a:rPr sz="1300" b="0" dirty="0">
                <a:solidFill>
                  <a:srgbClr val="16202A"/>
                </a:solidFill>
                <a:latin typeface="Arial"/>
              </a:rPr>
              <a:t> 2,6 </a:t>
            </a:r>
            <a:r>
              <a:rPr sz="1300" b="0" dirty="0" err="1">
                <a:solidFill>
                  <a:srgbClr val="16202A"/>
                </a:solidFill>
                <a:latin typeface="Arial"/>
              </a:rPr>
              <a:t>Mrd</a:t>
            </a:r>
            <a:r>
              <a:rPr sz="1300" b="0" dirty="0">
                <a:solidFill>
                  <a:srgbClr val="16202A"/>
                </a:solidFill>
                <a:latin typeface="Arial"/>
              </a:rPr>
              <a:t> €“ </a:t>
            </a:r>
            <a:r>
              <a:rPr sz="1300" b="0" dirty="0" err="1">
                <a:solidFill>
                  <a:srgbClr val="16202A"/>
                </a:solidFill>
                <a:latin typeface="Arial"/>
              </a:rPr>
              <a:t>kann</a:t>
            </a:r>
            <a:r>
              <a:rPr sz="1300" b="0" dirty="0">
                <a:solidFill>
                  <a:srgbClr val="16202A"/>
                </a:solidFill>
                <a:latin typeface="Arial"/>
              </a:rPr>
              <a:t> </a:t>
            </a:r>
            <a:r>
              <a:rPr sz="1300" b="0" dirty="0" err="1">
                <a:solidFill>
                  <a:srgbClr val="16202A"/>
                </a:solidFill>
                <a:latin typeface="Arial"/>
              </a:rPr>
              <a:t>jeder</a:t>
            </a:r>
            <a:r>
              <a:rPr sz="1300" b="0" dirty="0">
                <a:solidFill>
                  <a:srgbClr val="16202A"/>
                </a:solidFill>
                <a:latin typeface="Arial"/>
              </a:rPr>
              <a:t> </a:t>
            </a:r>
            <a:r>
              <a:rPr sz="1300" b="0" dirty="0" err="1">
                <a:solidFill>
                  <a:srgbClr val="16202A"/>
                </a:solidFill>
                <a:latin typeface="Arial"/>
              </a:rPr>
              <a:t>abschreiben</a:t>
            </a:r>
            <a:r>
              <a:rPr sz="1300" b="0" dirty="0">
                <a:solidFill>
                  <a:srgbClr val="16202A"/>
                </a:solidFill>
                <a:latin typeface="Arial"/>
              </a:rPr>
              <a:t>. „Ein </a:t>
            </a:r>
            <a:r>
              <a:rPr sz="1300" b="0" dirty="0" err="1">
                <a:solidFill>
                  <a:srgbClr val="16202A"/>
                </a:solidFill>
                <a:latin typeface="Arial"/>
              </a:rPr>
              <a:t>einziger</a:t>
            </a:r>
            <a:r>
              <a:rPr sz="1300" b="0" dirty="0">
                <a:solidFill>
                  <a:srgbClr val="16202A"/>
                </a:solidFill>
                <a:latin typeface="Arial"/>
              </a:rPr>
              <a:t> </a:t>
            </a:r>
            <a:r>
              <a:rPr sz="1300" b="0" dirty="0" err="1">
                <a:solidFill>
                  <a:srgbClr val="16202A"/>
                </a:solidFill>
                <a:latin typeface="Arial"/>
              </a:rPr>
              <a:t>Empfänger</a:t>
            </a:r>
            <a:r>
              <a:rPr sz="1300" b="0" dirty="0">
                <a:solidFill>
                  <a:srgbClr val="16202A"/>
                </a:solidFill>
                <a:latin typeface="Arial"/>
              </a:rPr>
              <a:t> </a:t>
            </a:r>
            <a:r>
              <a:rPr sz="1300" b="0" dirty="0" err="1">
                <a:solidFill>
                  <a:srgbClr val="16202A"/>
                </a:solidFill>
                <a:latin typeface="Arial"/>
              </a:rPr>
              <a:t>bekommt</a:t>
            </a:r>
            <a:r>
              <a:rPr sz="1300" b="0" dirty="0">
                <a:solidFill>
                  <a:srgbClr val="16202A"/>
                </a:solidFill>
                <a:latin typeface="Arial"/>
              </a:rPr>
              <a:t> 59 % </a:t>
            </a:r>
            <a:r>
              <a:rPr sz="1300" b="0" dirty="0" err="1">
                <a:solidFill>
                  <a:srgbClr val="16202A"/>
                </a:solidFill>
                <a:latin typeface="Arial"/>
              </a:rPr>
              <a:t>davon</a:t>
            </a:r>
            <a:r>
              <a:rPr sz="1300" b="0" dirty="0">
                <a:solidFill>
                  <a:srgbClr val="16202A"/>
                </a:solidFill>
                <a:latin typeface="Arial"/>
              </a:rPr>
              <a:t>“ </a:t>
            </a:r>
            <a:r>
              <a:rPr sz="1300" b="0" dirty="0" err="1">
                <a:solidFill>
                  <a:srgbClr val="16202A"/>
                </a:solidFill>
                <a:latin typeface="Arial"/>
              </a:rPr>
              <a:t>ist</a:t>
            </a:r>
            <a:r>
              <a:rPr sz="1300" b="0" dirty="0">
                <a:solidFill>
                  <a:srgbClr val="16202A"/>
                </a:solidFill>
                <a:latin typeface="Arial"/>
              </a:rPr>
              <a:t> das </a:t>
            </a:r>
            <a:r>
              <a:rPr sz="1300" b="0" dirty="0" err="1">
                <a:solidFill>
                  <a:srgbClr val="16202A"/>
                </a:solidFill>
                <a:latin typeface="Arial"/>
              </a:rPr>
              <a:t>Ergebnis</a:t>
            </a:r>
            <a:r>
              <a:rPr sz="1300" b="0" dirty="0">
                <a:solidFill>
                  <a:srgbClr val="16202A"/>
                </a:solidFill>
                <a:latin typeface="Arial"/>
              </a:rPr>
              <a:t> von </a:t>
            </a:r>
            <a:r>
              <a:rPr sz="1300" b="0" dirty="0" err="1">
                <a:solidFill>
                  <a:srgbClr val="16202A"/>
                </a:solidFill>
                <a:latin typeface="Arial"/>
              </a:rPr>
              <a:t>Bereinigen</a:t>
            </a:r>
            <a:r>
              <a:rPr sz="1300" b="0" dirty="0">
                <a:solidFill>
                  <a:srgbClr val="16202A"/>
                </a:solidFill>
                <a:latin typeface="Arial"/>
              </a:rPr>
              <a:t>, </a:t>
            </a:r>
            <a:r>
              <a:rPr sz="1300" b="0" dirty="0" err="1">
                <a:solidFill>
                  <a:srgbClr val="16202A"/>
                </a:solidFill>
                <a:latin typeface="Arial"/>
              </a:rPr>
              <a:t>Gruppieren</a:t>
            </a:r>
            <a:r>
              <a:rPr sz="1300" b="0" dirty="0">
                <a:solidFill>
                  <a:srgbClr val="16202A"/>
                </a:solidFill>
                <a:latin typeface="Arial"/>
              </a:rPr>
              <a:t>, </a:t>
            </a:r>
            <a:r>
              <a:rPr sz="1300" b="0" dirty="0" err="1">
                <a:solidFill>
                  <a:srgbClr val="16202A"/>
                </a:solidFill>
                <a:latin typeface="Arial"/>
              </a:rPr>
              <a:t>Sortieren</a:t>
            </a:r>
            <a:r>
              <a:rPr sz="1300" b="0" dirty="0">
                <a:solidFill>
                  <a:srgbClr val="16202A"/>
                </a:solidFill>
                <a:latin typeface="Arial"/>
              </a:rPr>
              <a:t> und </a:t>
            </a:r>
            <a:r>
              <a:rPr sz="1300" b="0" dirty="0" err="1">
                <a:solidFill>
                  <a:srgbClr val="16202A"/>
                </a:solidFill>
                <a:latin typeface="Arial"/>
              </a:rPr>
              <a:t>Prüfen</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Der </a:t>
            </a:r>
            <a:r>
              <a:rPr sz="1200" b="1" dirty="0" err="1">
                <a:solidFill>
                  <a:srgbClr val="0A5C6E"/>
                </a:solidFill>
                <a:latin typeface="Arial"/>
              </a:rPr>
              <a:t>Anspruch</a:t>
            </a:r>
            <a:endParaRPr sz="1200" b="1" dirty="0">
              <a:solidFill>
                <a:srgbClr val="0A5C6E"/>
              </a:solidFill>
              <a:latin typeface="Arial"/>
            </a:endParaRPr>
          </a:p>
          <a:p>
            <a:pPr algn="l">
              <a:lnSpc>
                <a:spcPct val="110000"/>
              </a:lnSpc>
            </a:pPr>
            <a:r>
              <a:rPr sz="1300" b="0" dirty="0" err="1">
                <a:solidFill>
                  <a:srgbClr val="16202A"/>
                </a:solidFill>
                <a:latin typeface="Arial"/>
              </a:rPr>
              <a:t>Wer</a:t>
            </a:r>
            <a:r>
              <a:rPr sz="1300" b="0" dirty="0">
                <a:solidFill>
                  <a:srgbClr val="16202A"/>
                </a:solidFill>
                <a:latin typeface="Arial"/>
              </a:rPr>
              <a:t> die Kachel </a:t>
            </a:r>
            <a:r>
              <a:rPr sz="1300" b="0" dirty="0" err="1">
                <a:solidFill>
                  <a:srgbClr val="16202A"/>
                </a:solidFill>
                <a:latin typeface="Arial"/>
              </a:rPr>
              <a:t>sieht</a:t>
            </a:r>
            <a:r>
              <a:rPr sz="1300" b="0" dirty="0">
                <a:solidFill>
                  <a:srgbClr val="16202A"/>
                </a:solidFill>
                <a:latin typeface="Arial"/>
              </a:rPr>
              <a:t>, </a:t>
            </a:r>
            <a:r>
              <a:rPr sz="1300" b="0" dirty="0" err="1">
                <a:solidFill>
                  <a:srgbClr val="16202A"/>
                </a:solidFill>
                <a:latin typeface="Arial"/>
              </a:rPr>
              <a:t>versteht</a:t>
            </a:r>
            <a:r>
              <a:rPr sz="1300" b="0" dirty="0">
                <a:solidFill>
                  <a:srgbClr val="16202A"/>
                </a:solidFill>
                <a:latin typeface="Arial"/>
              </a:rPr>
              <a:t> den Fund in vier </a:t>
            </a:r>
            <a:r>
              <a:rPr sz="1300" b="0" dirty="0" err="1">
                <a:solidFill>
                  <a:srgbClr val="16202A"/>
                </a:solidFill>
                <a:latin typeface="Arial"/>
              </a:rPr>
              <a:t>Sekunden</a:t>
            </a:r>
            <a:r>
              <a:rPr sz="1300" b="0" dirty="0">
                <a:solidFill>
                  <a:srgbClr val="16202A"/>
                </a:solidFill>
                <a:latin typeface="Arial"/>
              </a:rPr>
              <a:t>. </a:t>
            </a:r>
            <a:r>
              <a:rPr sz="1300" b="0" dirty="0" err="1">
                <a:solidFill>
                  <a:srgbClr val="16202A"/>
                </a:solidFill>
                <a:latin typeface="Arial"/>
              </a:rPr>
              <a:t>Wer</a:t>
            </a:r>
            <a:r>
              <a:rPr sz="1300" b="0" dirty="0">
                <a:solidFill>
                  <a:srgbClr val="16202A"/>
                </a:solidFill>
                <a:latin typeface="Arial"/>
              </a:rPr>
              <a:t> ins Repository </a:t>
            </a:r>
            <a:r>
              <a:rPr sz="1300" b="0" dirty="0" err="1">
                <a:solidFill>
                  <a:srgbClr val="16202A"/>
                </a:solidFill>
                <a:latin typeface="Arial"/>
              </a:rPr>
              <a:t>schaut</a:t>
            </a:r>
            <a:r>
              <a:rPr sz="1300" b="0" dirty="0">
                <a:solidFill>
                  <a:srgbClr val="16202A"/>
                </a:solidFill>
                <a:latin typeface="Arial"/>
              </a:rPr>
              <a:t>, </a:t>
            </a:r>
            <a:r>
              <a:rPr sz="1300" b="0" dirty="0" err="1">
                <a:solidFill>
                  <a:srgbClr val="16202A"/>
                </a:solidFill>
                <a:latin typeface="Arial"/>
              </a:rPr>
              <a:t>sieht</a:t>
            </a:r>
            <a:r>
              <a:rPr sz="1300" b="0" dirty="0">
                <a:solidFill>
                  <a:srgbClr val="16202A"/>
                </a:solidFill>
                <a:latin typeface="Arial"/>
              </a:rPr>
              <a:t> den </a:t>
            </a:r>
            <a:r>
              <a:rPr sz="1300" b="0" dirty="0" err="1">
                <a:solidFill>
                  <a:srgbClr val="16202A"/>
                </a:solidFill>
                <a:latin typeface="Arial"/>
              </a:rPr>
              <a:t>ganzen</a:t>
            </a:r>
            <a:r>
              <a:rPr sz="1300" b="0" dirty="0">
                <a:solidFill>
                  <a:srgbClr val="16202A"/>
                </a:solidFill>
                <a:latin typeface="Arial"/>
              </a:rPr>
              <a:t> Weg von der </a:t>
            </a:r>
            <a:r>
              <a:rPr sz="1300" b="0" dirty="0" err="1">
                <a:solidFill>
                  <a:srgbClr val="16202A"/>
                </a:solidFill>
                <a:latin typeface="Arial"/>
              </a:rPr>
              <a:t>Rohdatei</a:t>
            </a:r>
            <a:r>
              <a:rPr sz="1300" b="0" dirty="0">
                <a:solidFill>
                  <a:srgbClr val="16202A"/>
                </a:solidFill>
                <a:latin typeface="Arial"/>
              </a:rPr>
              <a:t> </a:t>
            </a:r>
            <a:r>
              <a:rPr sz="1300" b="0" dirty="0" err="1">
                <a:solidFill>
                  <a:srgbClr val="16202A"/>
                </a:solidFill>
                <a:latin typeface="Arial"/>
              </a:rPr>
              <a:t>zum</a:t>
            </a:r>
            <a:r>
              <a:rPr sz="1300" b="0" dirty="0">
                <a:solidFill>
                  <a:srgbClr val="16202A"/>
                </a:solidFill>
                <a:latin typeface="Arial"/>
              </a:rPr>
              <a:t> Bild. </a:t>
            </a:r>
            <a:r>
              <a:rPr sz="1300" b="0" dirty="0" err="1">
                <a:solidFill>
                  <a:srgbClr val="16202A"/>
                </a:solidFill>
                <a:latin typeface="Arial"/>
              </a:rPr>
              <a:t>Jede</a:t>
            </a:r>
            <a:r>
              <a:rPr sz="1300" b="0" dirty="0">
                <a:solidFill>
                  <a:srgbClr val="16202A"/>
                </a:solidFill>
                <a:latin typeface="Arial"/>
              </a:rPr>
              <a:t> Zahl auf der Kachel </a:t>
            </a:r>
            <a:r>
              <a:rPr sz="1300" b="0" dirty="0" err="1">
                <a:solidFill>
                  <a:srgbClr val="16202A"/>
                </a:solidFill>
                <a:latin typeface="Arial"/>
              </a:rPr>
              <a:t>ist</a:t>
            </a:r>
            <a:r>
              <a:rPr sz="1300" b="0" dirty="0">
                <a:solidFill>
                  <a:srgbClr val="16202A"/>
                </a:solidFill>
                <a:latin typeface="Arial"/>
              </a:rPr>
              <a:t> </a:t>
            </a:r>
            <a:r>
              <a:rPr sz="1300" b="0" dirty="0" err="1">
                <a:solidFill>
                  <a:srgbClr val="16202A"/>
                </a:solidFill>
                <a:latin typeface="Arial"/>
              </a:rPr>
              <a:t>zur</a:t>
            </a:r>
            <a:r>
              <a:rPr sz="1300" b="0" dirty="0">
                <a:solidFill>
                  <a:srgbClr val="16202A"/>
                </a:solidFill>
                <a:latin typeface="Arial"/>
              </a:rPr>
              <a:t> Quelle </a:t>
            </a:r>
            <a:r>
              <a:rPr sz="1300" b="0" dirty="0" err="1">
                <a:solidFill>
                  <a:srgbClr val="16202A"/>
                </a:solidFill>
                <a:latin typeface="Arial"/>
              </a:rPr>
              <a:t>rückverfolgbar</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Die </a:t>
            </a:r>
            <a:r>
              <a:rPr sz="1200" b="1" dirty="0" err="1">
                <a:solidFill>
                  <a:srgbClr val="0A5C6E"/>
                </a:solidFill>
                <a:latin typeface="Arial"/>
              </a:rPr>
              <a:t>Architektur</a:t>
            </a:r>
            <a:endParaRPr sz="1200" b="1" dirty="0">
              <a:solidFill>
                <a:srgbClr val="0A5C6E"/>
              </a:solidFill>
              <a:latin typeface="Arial"/>
            </a:endParaRPr>
          </a:p>
          <a:p>
            <a:pPr algn="l">
              <a:lnSpc>
                <a:spcPct val="110000"/>
              </a:lnSpc>
            </a:pPr>
            <a:r>
              <a:rPr sz="1300" b="0" dirty="0" err="1">
                <a:solidFill>
                  <a:srgbClr val="16202A"/>
                </a:solidFill>
                <a:latin typeface="Arial"/>
              </a:rPr>
              <a:t>Analyse</a:t>
            </a:r>
            <a:r>
              <a:rPr sz="1300" b="0" dirty="0">
                <a:solidFill>
                  <a:srgbClr val="16202A"/>
                </a:solidFill>
                <a:latin typeface="Arial"/>
              </a:rPr>
              <a:t> und </a:t>
            </a:r>
            <a:r>
              <a:rPr sz="1300" b="0" dirty="0" err="1">
                <a:solidFill>
                  <a:srgbClr val="16202A"/>
                </a:solidFill>
                <a:latin typeface="Arial"/>
              </a:rPr>
              <a:t>Gestaltung</a:t>
            </a:r>
            <a:r>
              <a:rPr sz="1300" b="0" dirty="0">
                <a:solidFill>
                  <a:srgbClr val="16202A"/>
                </a:solidFill>
                <a:latin typeface="Arial"/>
              </a:rPr>
              <a:t> </a:t>
            </a:r>
            <a:r>
              <a:rPr sz="1300" b="0" dirty="0" err="1">
                <a:solidFill>
                  <a:srgbClr val="16202A"/>
                </a:solidFill>
                <a:latin typeface="Arial"/>
              </a:rPr>
              <a:t>berühren</a:t>
            </a:r>
            <a:r>
              <a:rPr sz="1300" b="0" dirty="0">
                <a:solidFill>
                  <a:srgbClr val="16202A"/>
                </a:solidFill>
                <a:latin typeface="Arial"/>
              </a:rPr>
              <a:t> </a:t>
            </a:r>
            <a:r>
              <a:rPr sz="1300" b="0" dirty="0" err="1">
                <a:solidFill>
                  <a:srgbClr val="16202A"/>
                </a:solidFill>
                <a:latin typeface="Arial"/>
              </a:rPr>
              <a:t>sich</a:t>
            </a:r>
            <a:r>
              <a:rPr sz="1300" b="0" dirty="0">
                <a:solidFill>
                  <a:srgbClr val="16202A"/>
                </a:solidFill>
                <a:latin typeface="Arial"/>
              </a:rPr>
              <a:t> an </a:t>
            </a:r>
            <a:r>
              <a:rPr sz="1300" b="0" dirty="0" err="1">
                <a:solidFill>
                  <a:srgbClr val="16202A"/>
                </a:solidFill>
                <a:latin typeface="Arial"/>
              </a:rPr>
              <a:t>genau</a:t>
            </a:r>
            <a:r>
              <a:rPr sz="1300" b="0" dirty="0">
                <a:solidFill>
                  <a:srgbClr val="16202A"/>
                </a:solidFill>
                <a:latin typeface="Arial"/>
              </a:rPr>
              <a:t> </a:t>
            </a:r>
            <a:r>
              <a:rPr sz="1300" b="0" dirty="0" err="1">
                <a:solidFill>
                  <a:srgbClr val="16202A"/>
                </a:solidFill>
                <a:latin typeface="Arial"/>
              </a:rPr>
              <a:t>einer</a:t>
            </a:r>
            <a:r>
              <a:rPr sz="1300" b="0" dirty="0">
                <a:solidFill>
                  <a:srgbClr val="16202A"/>
                </a:solidFill>
                <a:latin typeface="Arial"/>
              </a:rPr>
              <a:t> Stelle: Ein </a:t>
            </a:r>
            <a:r>
              <a:rPr sz="1300" b="0" dirty="0" err="1">
                <a:solidFill>
                  <a:srgbClr val="16202A"/>
                </a:solidFill>
                <a:latin typeface="Arial"/>
              </a:rPr>
              <a:t>Befund</a:t>
            </a:r>
            <a:r>
              <a:rPr sz="1300" b="0" dirty="0">
                <a:solidFill>
                  <a:srgbClr val="16202A"/>
                </a:solidFill>
                <a:latin typeface="Arial"/>
              </a:rPr>
              <a:t> (</a:t>
            </a:r>
            <a:r>
              <a:rPr sz="1300" b="0" dirty="0" err="1">
                <a:solidFill>
                  <a:srgbClr val="16202A"/>
                </a:solidFill>
                <a:latin typeface="Arial"/>
              </a:rPr>
              <a:t>Überschrift</a:t>
            </a:r>
            <a:r>
              <a:rPr sz="1300" b="0" dirty="0">
                <a:solidFill>
                  <a:srgbClr val="16202A"/>
                </a:solidFill>
                <a:latin typeface="Arial"/>
              </a:rPr>
              <a:t>, </a:t>
            </a:r>
            <a:r>
              <a:rPr sz="1300" b="0" dirty="0" err="1">
                <a:solidFill>
                  <a:srgbClr val="16202A"/>
                </a:solidFill>
                <a:latin typeface="Arial"/>
              </a:rPr>
              <a:t>Kernzahl</a:t>
            </a:r>
            <a:r>
              <a:rPr sz="1300" b="0" dirty="0">
                <a:solidFill>
                  <a:srgbClr val="16202A"/>
                </a:solidFill>
                <a:latin typeface="Arial"/>
              </a:rPr>
              <a:t>, </a:t>
            </a:r>
            <a:r>
              <a:rPr sz="1300" b="0" dirty="0" err="1">
                <a:solidFill>
                  <a:srgbClr val="16202A"/>
                </a:solidFill>
                <a:latin typeface="Arial"/>
              </a:rPr>
              <a:t>Datenreihe</a:t>
            </a:r>
            <a:r>
              <a:rPr sz="1300" b="0" dirty="0">
                <a:solidFill>
                  <a:srgbClr val="16202A"/>
                </a:solidFill>
                <a:latin typeface="Arial"/>
              </a:rPr>
              <a:t>, Quelle) </a:t>
            </a:r>
            <a:r>
              <a:rPr sz="1300" b="0" dirty="0" err="1">
                <a:solidFill>
                  <a:srgbClr val="16202A"/>
                </a:solidFill>
                <a:latin typeface="Arial"/>
              </a:rPr>
              <a:t>geht</a:t>
            </a:r>
            <a:r>
              <a:rPr sz="1300" b="0" dirty="0">
                <a:solidFill>
                  <a:srgbClr val="16202A"/>
                </a:solidFill>
                <a:latin typeface="Arial"/>
              </a:rPr>
              <a:t> in </a:t>
            </a:r>
            <a:r>
              <a:rPr sz="1300" b="0" dirty="0" err="1">
                <a:solidFill>
                  <a:srgbClr val="16202A"/>
                </a:solidFill>
                <a:latin typeface="Arial"/>
              </a:rPr>
              <a:t>eine</a:t>
            </a:r>
            <a:r>
              <a:rPr sz="1300" b="0" dirty="0">
                <a:solidFill>
                  <a:srgbClr val="16202A"/>
                </a:solidFill>
                <a:latin typeface="Arial"/>
              </a:rPr>
              <a:t> </a:t>
            </a:r>
            <a:r>
              <a:rPr sz="1300" b="0" dirty="0" err="1">
                <a:solidFill>
                  <a:srgbClr val="16202A"/>
                </a:solidFill>
                <a:latin typeface="Arial"/>
              </a:rPr>
              <a:t>Renderfunktion</a:t>
            </a:r>
            <a:r>
              <a:rPr sz="1300" b="0" dirty="0">
                <a:solidFill>
                  <a:srgbClr val="16202A"/>
                </a:solidFill>
                <a:latin typeface="Arial"/>
              </a:rPr>
              <a:t>, die immer </a:t>
            </a:r>
            <a:r>
              <a:rPr sz="1300" b="0" dirty="0" err="1">
                <a:solidFill>
                  <a:srgbClr val="16202A"/>
                </a:solidFill>
                <a:latin typeface="Arial"/>
              </a:rPr>
              <a:t>dasselbe</a:t>
            </a:r>
            <a:r>
              <a:rPr sz="1300" b="0" dirty="0">
                <a:solidFill>
                  <a:srgbClr val="16202A"/>
                </a:solidFill>
                <a:latin typeface="Arial"/>
              </a:rPr>
              <a:t> Layout </a:t>
            </a:r>
            <a:r>
              <a:rPr sz="1300" b="0" dirty="0" err="1">
                <a:solidFill>
                  <a:srgbClr val="16202A"/>
                </a:solidFill>
                <a:latin typeface="Arial"/>
              </a:rPr>
              <a:t>füllt</a:t>
            </a:r>
            <a:r>
              <a:rPr sz="1300" b="0" dirty="0">
                <a:solidFill>
                  <a:srgbClr val="16202A"/>
                </a:solidFill>
                <a:latin typeface="Arial"/>
              </a:rPr>
              <a:t>.</a:t>
            </a:r>
          </a:p>
          <a:p>
            <a:pPr algn="l">
              <a:lnSpc>
                <a:spcPct val="110000"/>
              </a:lnSpc>
              <a:spcBef>
                <a:spcPts val="1000"/>
              </a:spcBef>
            </a:pPr>
            <a:r>
              <a:rPr sz="1200" b="1" dirty="0">
                <a:solidFill>
                  <a:srgbClr val="0A5C6E"/>
                </a:solidFill>
                <a:latin typeface="Arial"/>
              </a:rPr>
              <a:t>Der </a:t>
            </a:r>
            <a:r>
              <a:rPr sz="1200" b="1" dirty="0" err="1">
                <a:solidFill>
                  <a:srgbClr val="0A5C6E"/>
                </a:solidFill>
                <a:latin typeface="Arial"/>
              </a:rPr>
              <a:t>Zuschnitt</a:t>
            </a:r>
            <a:endParaRPr sz="1200" b="1" dirty="0">
              <a:solidFill>
                <a:srgbClr val="0A5C6E"/>
              </a:solidFill>
              <a:latin typeface="Arial"/>
            </a:endParaRPr>
          </a:p>
          <a:p>
            <a:pPr algn="l">
              <a:lnSpc>
                <a:spcPct val="110000"/>
              </a:lnSpc>
            </a:pPr>
            <a:r>
              <a:rPr sz="1300" b="0" dirty="0">
                <a:solidFill>
                  <a:srgbClr val="16202A"/>
                </a:solidFill>
                <a:latin typeface="Arial"/>
              </a:rPr>
              <a:t>Vier </a:t>
            </a:r>
            <a:r>
              <a:rPr sz="1300" b="0" dirty="0" err="1">
                <a:solidFill>
                  <a:srgbClr val="16202A"/>
                </a:solidFill>
                <a:latin typeface="Arial"/>
              </a:rPr>
              <a:t>Kacheln</a:t>
            </a:r>
            <a:r>
              <a:rPr sz="1300" b="0" dirty="0">
                <a:solidFill>
                  <a:srgbClr val="16202A"/>
                </a:solidFill>
                <a:latin typeface="Arial"/>
              </a:rPr>
              <a:t> </a:t>
            </a:r>
            <a:r>
              <a:rPr sz="1300" b="0" dirty="0" err="1">
                <a:solidFill>
                  <a:srgbClr val="16202A"/>
                </a:solidFill>
                <a:latin typeface="Arial"/>
              </a:rPr>
              <a:t>geplant</a:t>
            </a:r>
            <a:r>
              <a:rPr sz="1300" b="0" dirty="0">
                <a:solidFill>
                  <a:srgbClr val="16202A"/>
                </a:solidFill>
                <a:latin typeface="Arial"/>
              </a:rPr>
              <a:t> (</a:t>
            </a:r>
            <a:r>
              <a:rPr sz="1300" b="0" dirty="0" err="1">
                <a:solidFill>
                  <a:srgbClr val="16202A"/>
                </a:solidFill>
                <a:latin typeface="Arial"/>
              </a:rPr>
              <a:t>Sozialwohnungen</a:t>
            </a:r>
            <a:r>
              <a:rPr sz="1300" b="0" dirty="0">
                <a:solidFill>
                  <a:srgbClr val="16202A"/>
                </a:solidFill>
                <a:latin typeface="Arial"/>
              </a:rPr>
              <a:t>, </a:t>
            </a:r>
            <a:r>
              <a:rPr sz="1300" b="0" dirty="0" err="1">
                <a:solidFill>
                  <a:srgbClr val="16202A"/>
                </a:solidFill>
                <a:latin typeface="Arial"/>
              </a:rPr>
              <a:t>Zuwendungen</a:t>
            </a:r>
            <a:r>
              <a:rPr sz="1300" b="0" dirty="0">
                <a:solidFill>
                  <a:srgbClr val="16202A"/>
                </a:solidFill>
                <a:latin typeface="Arial"/>
              </a:rPr>
              <a:t>, </a:t>
            </a:r>
            <a:r>
              <a:rPr sz="1300" b="0" dirty="0" err="1">
                <a:solidFill>
                  <a:srgbClr val="16202A"/>
                </a:solidFill>
                <a:latin typeface="Arial"/>
              </a:rPr>
              <a:t>Straßenbäume</a:t>
            </a:r>
            <a:r>
              <a:rPr sz="1300" b="0" dirty="0">
                <a:solidFill>
                  <a:srgbClr val="16202A"/>
                </a:solidFill>
                <a:latin typeface="Arial"/>
              </a:rPr>
              <a:t>, </a:t>
            </a:r>
            <a:r>
              <a:rPr sz="1300" b="0" dirty="0" err="1">
                <a:solidFill>
                  <a:srgbClr val="16202A"/>
                </a:solidFill>
                <a:latin typeface="Arial"/>
              </a:rPr>
              <a:t>Bäume</a:t>
            </a:r>
            <a:r>
              <a:rPr sz="1300" b="0" dirty="0">
                <a:solidFill>
                  <a:srgbClr val="16202A"/>
                </a:solidFill>
                <a:latin typeface="Arial"/>
              </a:rPr>
              <a:t> × </a:t>
            </a:r>
            <a:r>
              <a:rPr sz="1300" b="0" dirty="0" err="1">
                <a:solidFill>
                  <a:srgbClr val="16202A"/>
                </a:solidFill>
                <a:latin typeface="Arial"/>
              </a:rPr>
              <a:t>Sozialmonitoring</a:t>
            </a:r>
            <a:r>
              <a:rPr sz="1300" b="0" dirty="0">
                <a:solidFill>
                  <a:srgbClr val="16202A"/>
                </a:solidFill>
                <a:latin typeface="Arial"/>
              </a:rPr>
              <a:t>). Eine </a:t>
            </a:r>
            <a:r>
              <a:rPr sz="1300" b="0" dirty="0" err="1">
                <a:solidFill>
                  <a:srgbClr val="16202A"/>
                </a:solidFill>
                <a:latin typeface="Arial"/>
              </a:rPr>
              <a:t>gebaut</a:t>
            </a:r>
            <a:r>
              <a:rPr sz="1300" b="0" dirty="0">
                <a:solidFill>
                  <a:srgbClr val="16202A"/>
                </a:solidFill>
                <a:latin typeface="Arial"/>
              </a:rPr>
              <a:t>. Die </a:t>
            </a:r>
            <a:r>
              <a:rPr sz="1300" b="0" dirty="0" err="1">
                <a:solidFill>
                  <a:srgbClr val="16202A"/>
                </a:solidFill>
                <a:latin typeface="Arial"/>
              </a:rPr>
              <a:t>Prüfung</a:t>
            </a:r>
            <a:r>
              <a:rPr sz="1300" b="0" dirty="0">
                <a:solidFill>
                  <a:srgbClr val="16202A"/>
                </a:solidFill>
                <a:latin typeface="Arial"/>
              </a:rPr>
              <a:t> der </a:t>
            </a:r>
            <a:r>
              <a:rPr sz="1300" b="0" dirty="0" err="1">
                <a:solidFill>
                  <a:srgbClr val="16202A"/>
                </a:solidFill>
                <a:latin typeface="Arial"/>
              </a:rPr>
              <a:t>Trägerschaft</a:t>
            </a:r>
            <a:r>
              <a:rPr sz="1300" b="0" dirty="0">
                <a:solidFill>
                  <a:srgbClr val="16202A"/>
                </a:solidFill>
                <a:latin typeface="Arial"/>
              </a:rPr>
              <a:t> hat </a:t>
            </a:r>
            <a:r>
              <a:rPr sz="1300" b="0" dirty="0" err="1">
                <a:solidFill>
                  <a:srgbClr val="16202A"/>
                </a:solidFill>
                <a:latin typeface="Arial"/>
              </a:rPr>
              <a:t>mehr</a:t>
            </a:r>
            <a:r>
              <a:rPr sz="1300" b="0" dirty="0">
                <a:solidFill>
                  <a:srgbClr val="16202A"/>
                </a:solidFill>
                <a:latin typeface="Arial"/>
              </a:rPr>
              <a:t> Zeit </a:t>
            </a:r>
            <a:r>
              <a:rPr sz="1300" b="0" dirty="0" err="1">
                <a:solidFill>
                  <a:srgbClr val="16202A"/>
                </a:solidFill>
                <a:latin typeface="Arial"/>
              </a:rPr>
              <a:t>gekostet</a:t>
            </a:r>
            <a:r>
              <a:rPr sz="1300" b="0" dirty="0">
                <a:solidFill>
                  <a:srgbClr val="16202A"/>
                </a:solidFill>
                <a:latin typeface="Arial"/>
              </a:rPr>
              <a:t> </a:t>
            </a:r>
            <a:r>
              <a:rPr sz="1300" b="0" dirty="0" err="1">
                <a:solidFill>
                  <a:srgbClr val="16202A"/>
                </a:solidFill>
                <a:latin typeface="Arial"/>
              </a:rPr>
              <a:t>als</a:t>
            </a:r>
            <a:r>
              <a:rPr sz="1300" b="0" dirty="0">
                <a:solidFill>
                  <a:srgbClr val="16202A"/>
                </a:solidFill>
                <a:latin typeface="Arial"/>
              </a:rPr>
              <a:t> die </a:t>
            </a:r>
            <a:r>
              <a:rPr sz="1300" b="0" dirty="0" err="1">
                <a:solidFill>
                  <a:srgbClr val="16202A"/>
                </a:solidFill>
                <a:latin typeface="Arial"/>
              </a:rPr>
              <a:t>Analyse</a:t>
            </a:r>
            <a:r>
              <a:rPr sz="1300" b="0" dirty="0">
                <a:solidFill>
                  <a:srgbClr val="16202A"/>
                </a:solidFill>
                <a:latin typeface="Arial"/>
              </a:rPr>
              <a:t> </a:t>
            </a:r>
            <a:r>
              <a:rPr sz="1300" b="0" dirty="0" err="1">
                <a:solidFill>
                  <a:srgbClr val="16202A"/>
                </a:solidFill>
                <a:latin typeface="Arial"/>
              </a:rPr>
              <a:t>davor</a:t>
            </a:r>
            <a:r>
              <a:rPr sz="1300" b="0" dirty="0">
                <a:solidFill>
                  <a:srgbClr val="16202A"/>
                </a:solidFill>
                <a:latin typeface="Arial"/>
              </a:rPr>
              <a:t>, und ich </a:t>
            </a:r>
            <a:r>
              <a:rPr sz="1300" b="0" dirty="0" err="1">
                <a:solidFill>
                  <a:srgbClr val="16202A"/>
                </a:solidFill>
                <a:latin typeface="Arial"/>
              </a:rPr>
              <a:t>wollte</a:t>
            </a:r>
            <a:r>
              <a:rPr sz="1300" b="0" dirty="0">
                <a:solidFill>
                  <a:srgbClr val="16202A"/>
                </a:solidFill>
                <a:latin typeface="Arial"/>
              </a:rPr>
              <a:t> </a:t>
            </a:r>
            <a:r>
              <a:rPr sz="1300" b="0" dirty="0" err="1">
                <a:solidFill>
                  <a:srgbClr val="16202A"/>
                </a:solidFill>
                <a:latin typeface="Arial"/>
              </a:rPr>
              <a:t>lieber</a:t>
            </a:r>
            <a:r>
              <a:rPr sz="1300" b="0" dirty="0">
                <a:solidFill>
                  <a:srgbClr val="16202A"/>
                </a:solidFill>
                <a:latin typeface="Arial"/>
              </a:rPr>
              <a:t> </a:t>
            </a:r>
            <a:r>
              <a:rPr sz="1300" b="0" dirty="0" err="1">
                <a:solidFill>
                  <a:srgbClr val="16202A"/>
                </a:solidFill>
                <a:latin typeface="Arial"/>
              </a:rPr>
              <a:t>eine</a:t>
            </a:r>
            <a:r>
              <a:rPr sz="1300" b="0" dirty="0">
                <a:solidFill>
                  <a:srgbClr val="16202A"/>
                </a:solidFill>
                <a:latin typeface="Arial"/>
              </a:rPr>
              <a:t> </a:t>
            </a:r>
            <a:r>
              <a:rPr sz="1300" b="0" dirty="0" err="1">
                <a:solidFill>
                  <a:srgbClr val="16202A"/>
                </a:solidFill>
                <a:latin typeface="Arial"/>
              </a:rPr>
              <a:t>belegte</a:t>
            </a:r>
            <a:r>
              <a:rPr sz="1300" b="0" dirty="0">
                <a:solidFill>
                  <a:srgbClr val="16202A"/>
                </a:solidFill>
                <a:latin typeface="Arial"/>
              </a:rPr>
              <a:t> Kachel </a:t>
            </a:r>
            <a:r>
              <a:rPr sz="1300" b="0" dirty="0" err="1">
                <a:solidFill>
                  <a:srgbClr val="16202A"/>
                </a:solidFill>
                <a:latin typeface="Arial"/>
              </a:rPr>
              <a:t>als</a:t>
            </a:r>
            <a:r>
              <a:rPr sz="1300" b="0" dirty="0">
                <a:solidFill>
                  <a:srgbClr val="16202A"/>
                </a:solidFill>
                <a:latin typeface="Arial"/>
              </a:rPr>
              <a:t> vier </a:t>
            </a:r>
            <a:r>
              <a:rPr sz="1300" b="0" dirty="0" err="1">
                <a:solidFill>
                  <a:srgbClr val="16202A"/>
                </a:solidFill>
                <a:latin typeface="Arial"/>
              </a:rPr>
              <a:t>ungeprüfte</a:t>
            </a:r>
            <a:r>
              <a:rPr sz="1300" b="0" dirty="0">
                <a:solidFill>
                  <a:srgbClr val="16202A"/>
                </a:solidFill>
                <a:latin typeface="Arial"/>
              </a:rPr>
              <a:t>.</a:t>
            </a:r>
          </a:p>
        </p:txBody>
      </p:sp>
      <p:pic>
        <p:nvPicPr>
          <p:cNvPr id="6" name="Picture 5" descr="kachel_02_zuwendungen.png"/>
          <p:cNvPicPr>
            <a:picLocks noChangeAspect="1"/>
          </p:cNvPicPr>
          <p:nvPr/>
        </p:nvPicPr>
        <p:blipFill>
          <a:blip r:embed="rId2"/>
          <a:stretch>
            <a:fillRect/>
          </a:stretch>
        </p:blipFill>
        <p:spPr>
          <a:xfrm>
            <a:off x="7345375" y="1920240"/>
            <a:ext cx="4206240" cy="4206240"/>
          </a:xfrm>
          <a:prstGeom prst="rect">
            <a:avLst/>
          </a:prstGeom>
        </p:spPr>
      </p:pic>
      <p:sp>
        <p:nvSpPr>
          <p:cNvPr id="7" name="TextBox 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8" name="TextBox 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2</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Die Datenanalyse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76.961 Zeilen, in denen kein einziger Empfänger nur einmal vorkommt. Sechs Hürden, sechs Lösungen.</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DATENSATZ</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Was in der Datei steht und was nicht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20240"/>
            <a:ext cx="3840480" cy="1280160"/>
          </a:xfrm>
          <a:prstGeom prst="rect">
            <a:avLst/>
          </a:prstGeom>
          <a:noFill/>
        </p:spPr>
        <p:txBody>
          <a:bodyPr wrap="square" lIns="45720" tIns="27432" rIns="45720" bIns="27432" anchor="t">
            <a:spAutoFit/>
          </a:bodyPr>
          <a:lstStyle/>
          <a:p>
            <a:pPr algn="l">
              <a:lnSpc>
                <a:spcPct val="115000"/>
              </a:lnSpc>
            </a:pPr>
            <a:r>
              <a:rPr sz="6000" b="1">
                <a:solidFill>
                  <a:srgbClr val="0A5C6E"/>
                </a:solidFill>
                <a:latin typeface="Arial"/>
              </a:rPr>
              <a:t>76.961</a:t>
            </a:r>
          </a:p>
          <a:p>
            <a:pPr algn="l">
              <a:lnSpc>
                <a:spcPct val="115000"/>
              </a:lnSpc>
            </a:pPr>
            <a:r>
              <a:rPr sz="1300" b="0">
                <a:solidFill>
                  <a:srgbClr val="55677A"/>
                </a:solidFill>
                <a:latin typeface="Arial"/>
              </a:rPr>
              <a:t>Zeilen in der Rohdatei aus dem Transparenzportal (INEZ), Bescheide 2015 bis 2025, Stand Jahresende 2025</a:t>
            </a:r>
          </a:p>
        </p:txBody>
      </p:sp>
      <p:sp>
        <p:nvSpPr>
          <p:cNvPr id="6" name="TextBox 5"/>
          <p:cNvSpPr txBox="1"/>
          <p:nvPr/>
        </p:nvSpPr>
        <p:spPr>
          <a:xfrm>
            <a:off x="640080" y="3931920"/>
            <a:ext cx="3840480"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LEITFRAGE</a:t>
            </a:r>
          </a:p>
        </p:txBody>
      </p:sp>
      <p:sp>
        <p:nvSpPr>
          <p:cNvPr id="7" name="TextBox 6"/>
          <p:cNvSpPr txBox="1"/>
          <p:nvPr/>
        </p:nvSpPr>
        <p:spPr>
          <a:xfrm>
            <a:off x="640080" y="4251960"/>
            <a:ext cx="3840480" cy="137160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Wie verteilt sich das Fördergeld der Stadt Hamburg auf die Empfänger?</a:t>
            </a:r>
          </a:p>
        </p:txBody>
      </p:sp>
      <p:sp>
        <p:nvSpPr>
          <p:cNvPr id="8" name="Rectangle 7"/>
          <p:cNvSpPr/>
          <p:nvPr/>
        </p:nvSpPr>
        <p:spPr>
          <a:xfrm>
            <a:off x="5120640" y="199339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0" y="192024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Eine Zeile ist ein Bescheid, kein Förderfall</a:t>
            </a:r>
          </a:p>
        </p:txBody>
      </p:sp>
      <p:sp>
        <p:nvSpPr>
          <p:cNvPr id="10" name="TextBox 9"/>
          <p:cNvSpPr txBox="1"/>
          <p:nvPr/>
        </p:nvSpPr>
        <p:spPr>
          <a:xfrm>
            <a:off x="5303520" y="226771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Jeder Änderungsbescheid erzeugt eine neue Zeile mit dem jeweils aktuellen Gesamtstand. Ein Fall steht bis zu 24 Mal darin.</a:t>
            </a:r>
          </a:p>
        </p:txBody>
      </p:sp>
      <p:sp>
        <p:nvSpPr>
          <p:cNvPr id="11" name="Rectangle 10"/>
          <p:cNvSpPr/>
          <p:nvPr/>
        </p:nvSpPr>
        <p:spPr>
          <a:xfrm>
            <a:off x="5120640" y="299923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0" y="292608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Keine Spalte sagt, wer der Empfänger ist</a:t>
            </a:r>
          </a:p>
        </p:txBody>
      </p:sp>
      <p:sp>
        <p:nvSpPr>
          <p:cNvPr id="13" name="TextBox 12"/>
          <p:cNvSpPr txBox="1"/>
          <p:nvPr/>
        </p:nvSpPr>
        <p:spPr>
          <a:xfrm>
            <a:off x="5303520" y="327355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Es gibt keine Kennnummer je Träger, nur den Namen als freien Text. Mit allen Schreibweisen, die Sachbearbeitung so produziert.</a:t>
            </a:r>
          </a:p>
        </p:txBody>
      </p:sp>
      <p:sp>
        <p:nvSpPr>
          <p:cNvPr id="14" name="Rectangle 13"/>
          <p:cNvSpPr/>
          <p:nvPr/>
        </p:nvSpPr>
        <p:spPr>
          <a:xfrm>
            <a:off x="5120640" y="400507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0" y="393192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Keine Spalte sagt, ob ein Empfänger städtisch ist</a:t>
            </a:r>
          </a:p>
        </p:txBody>
      </p:sp>
      <p:sp>
        <p:nvSpPr>
          <p:cNvPr id="16" name="TextBox 15"/>
          <p:cNvSpPr txBox="1"/>
          <p:nvPr/>
        </p:nvSpPr>
        <p:spPr>
          <a:xfrm>
            <a:off x="5303520" y="427939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Diese Einordnung existiert in den Daten nicht. Sie musste erst definiert und dann von Hand erarbeitet werden.</a:t>
            </a:r>
          </a:p>
        </p:txBody>
      </p:sp>
      <p:sp>
        <p:nvSpPr>
          <p:cNvPr id="17" name="Rectangle 16"/>
          <p:cNvSpPr/>
          <p:nvPr/>
        </p:nvSpPr>
        <p:spPr>
          <a:xfrm>
            <a:off x="5120640" y="5010912"/>
            <a:ext cx="36000" cy="77724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0" y="4937760"/>
            <a:ext cx="640080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Rückforderungen stehen in einer eigenen Spalte</a:t>
            </a:r>
          </a:p>
        </p:txBody>
      </p:sp>
      <p:sp>
        <p:nvSpPr>
          <p:cNvPr id="19" name="TextBox 18"/>
          <p:cNvSpPr txBox="1"/>
          <p:nvPr/>
        </p:nvSpPr>
        <p:spPr>
          <a:xfrm>
            <a:off x="5303520" y="5285232"/>
            <a:ext cx="6400800" cy="6400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Und sind bei jungen Fällen fast immer leer (2025: 94,9 %), bei alten fast nie. Das spricht für „noch nicht festgesetzt“.</a:t>
            </a:r>
          </a:p>
        </p:txBody>
      </p:sp>
      <p:sp>
        <p:nvSpPr>
          <p:cNvPr id="20" name="TextBox 19"/>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1" name="TextBox 20"/>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WEG</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Von 76.961 Zeilen zu 1.913 Empfängern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extLst>
              <p:ext uri="{D42A27DB-BD31-4B8C-83A1-F6EECF244321}">
                <p14:modId xmlns:p14="http://schemas.microsoft.com/office/powerpoint/2010/main" val="3810356694"/>
              </p:ext>
            </p:extLst>
          </p:nvPr>
        </p:nvGraphicFramePr>
        <p:xfrm>
          <a:off x="640080" y="1920240"/>
          <a:ext cx="10881360" cy="3072384"/>
        </p:xfrm>
        <a:graphic>
          <a:graphicData uri="http://schemas.openxmlformats.org/drawingml/2006/table">
            <a:tbl>
              <a:tblPr firstRow="1" bandRow="1">
                <a:tableStyleId>{5C22544A-7EE6-4342-B048-85BDC9FD1C3A}</a:tableStyleId>
              </a:tblPr>
              <a:tblGrid>
                <a:gridCol w="5852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4048">
                <a:tc>
                  <a:txBody>
                    <a:bodyPr/>
                    <a:lstStyle/>
                    <a:p>
                      <a:r>
                        <a:rPr sz="1300" b="1">
                          <a:solidFill>
                            <a:srgbClr val="FFFFFF"/>
                          </a:solidFill>
                          <a:latin typeface="Arial"/>
                        </a:rPr>
                        <a:t>Schritt</a:t>
                      </a:r>
                    </a:p>
                  </a:txBody>
                  <a:tcPr marL="73152" marR="73152" marT="36576" marB="36576">
                    <a:solidFill>
                      <a:srgbClr val="0A5C6E"/>
                    </a:solidFill>
                  </a:tcPr>
                </a:tc>
                <a:tc>
                  <a:txBody>
                    <a:bodyPr/>
                    <a:lstStyle/>
                    <a:p>
                      <a:r>
                        <a:rPr sz="1300" b="1">
                          <a:solidFill>
                            <a:srgbClr val="FFFFFF"/>
                          </a:solidFill>
                          <a:latin typeface="Arial"/>
                        </a:rPr>
                        <a:t>Ergebnis</a:t>
                      </a:r>
                    </a:p>
                  </a:txBody>
                  <a:tcPr marL="73152" marR="73152" marT="36576" marB="36576">
                    <a:solidFill>
                      <a:srgbClr val="0A5C6E"/>
                    </a:solidFill>
                  </a:tcPr>
                </a:tc>
                <a:tc>
                  <a:txBody>
                    <a:bodyPr/>
                    <a:lstStyle/>
                    <a:p>
                      <a:r>
                        <a:rPr sz="1300" b="1">
                          <a:solidFill>
                            <a:srgbClr val="FFFFFF"/>
                          </a:solidFill>
                          <a:latin typeface="Arial"/>
                        </a:rPr>
                        <a:t>Summe</a:t>
                      </a:r>
                    </a:p>
                  </a:txBody>
                  <a:tcPr marL="73152" marR="73152" marT="36576" marB="36576">
                    <a:solidFill>
                      <a:srgbClr val="0A5C6E"/>
                    </a:solidFill>
                  </a:tcPr>
                </a:tc>
                <a:tc>
                  <a:txBody>
                    <a:bodyPr/>
                    <a:lstStyle/>
                    <a:p>
                      <a:r>
                        <a:rPr sz="1300" b="1">
                          <a:solidFill>
                            <a:srgbClr val="FFFFFF"/>
                          </a:solidFill>
                          <a:latin typeface="Arial"/>
                        </a:rPr>
                        <a:t>Hürde</a:t>
                      </a:r>
                    </a:p>
                  </a:txBody>
                  <a:tcPr marL="73152" marR="73152" marT="36576" marB="36576">
                    <a:solidFill>
                      <a:srgbClr val="0A5C6E"/>
                    </a:solidFill>
                  </a:tcPr>
                </a:tc>
                <a:extLst>
                  <a:ext uri="{0D108BD9-81ED-4DB2-BD59-A6C34878D82A}">
                    <a16:rowId xmlns:a16="http://schemas.microsoft.com/office/drawing/2014/main" val="10000"/>
                  </a:ext>
                </a:extLst>
              </a:tr>
              <a:tr h="384048">
                <a:tc>
                  <a:txBody>
                    <a:bodyPr/>
                    <a:lstStyle/>
                    <a:p>
                      <a:r>
                        <a:rPr sz="1300" b="0">
                          <a:solidFill>
                            <a:srgbClr val="16202A"/>
                          </a:solidFill>
                          <a:latin typeface="Arial"/>
                        </a:rPr>
                        <a:t>Rohdatei aus dem Transparenzportal</a:t>
                      </a:r>
                    </a:p>
                  </a:txBody>
                  <a:tcPr marL="73152" marR="73152" marT="36576" marB="36576">
                    <a:solidFill>
                      <a:srgbClr val="F6F7F8"/>
                    </a:solidFill>
                  </a:tcPr>
                </a:tc>
                <a:tc>
                  <a:txBody>
                    <a:bodyPr/>
                    <a:lstStyle/>
                    <a:p>
                      <a:pPr algn="r"/>
                      <a:r>
                        <a:rPr sz="1300" b="0">
                          <a:solidFill>
                            <a:srgbClr val="16202A"/>
                          </a:solidFill>
                          <a:latin typeface="Arial"/>
                        </a:rPr>
                        <a:t>76.961 Zeilen</a:t>
                      </a:r>
                    </a:p>
                  </a:txBody>
                  <a:tcPr marL="73152" marR="73152" marT="36576" marB="36576">
                    <a:solidFill>
                      <a:srgbClr val="F6F7F8"/>
                    </a:solidFill>
                  </a:tcPr>
                </a:tc>
                <a:tc>
                  <a:txBody>
                    <a:bodyPr/>
                    <a:lstStyle/>
                    <a:p>
                      <a:r>
                        <a:rPr sz="1300" b="0">
                          <a:solidFill>
                            <a:srgbClr val="16202A"/>
                          </a:solidFill>
                          <a:latin typeface="Arial"/>
                        </a:rPr>
                        <a:t>—</a:t>
                      </a:r>
                    </a:p>
                  </a:txBody>
                  <a:tcPr marL="73152" marR="73152" marT="36576" marB="36576">
                    <a:solidFill>
                      <a:srgbClr val="F6F7F8"/>
                    </a:solidFill>
                  </a:tcPr>
                </a:tc>
                <a:tc>
                  <a:txBody>
                    <a:bodyPr/>
                    <a:lstStyle/>
                    <a:p>
                      <a:endParaRPr/>
                    </a:p>
                  </a:txBody>
                  <a:tcPr marL="73152" marR="73152" marT="36576" marB="36576">
                    <a:solidFill>
                      <a:srgbClr val="F6F7F8"/>
                    </a:solidFill>
                  </a:tcPr>
                </a:tc>
                <a:extLst>
                  <a:ext uri="{0D108BD9-81ED-4DB2-BD59-A6C34878D82A}">
                    <a16:rowId xmlns:a16="http://schemas.microsoft.com/office/drawing/2014/main" val="10001"/>
                  </a:ext>
                </a:extLst>
              </a:tr>
              <a:tr h="384048">
                <a:tc>
                  <a:txBody>
                    <a:bodyPr/>
                    <a:lstStyle/>
                    <a:p>
                      <a:r>
                        <a:rPr sz="1300" b="0">
                          <a:solidFill>
                            <a:srgbClr val="16202A"/>
                          </a:solidFill>
                          <a:latin typeface="Arial"/>
                        </a:rPr>
                        <a:t>Pro Vorgang nur den zeitlich letzten Bescheid behalten</a:t>
                      </a:r>
                    </a:p>
                  </a:txBody>
                  <a:tcPr marL="73152" marR="73152" marT="36576" marB="36576">
                    <a:solidFill>
                      <a:srgbClr val="FFFFFF"/>
                    </a:solidFill>
                  </a:tcPr>
                </a:tc>
                <a:tc>
                  <a:txBody>
                    <a:bodyPr/>
                    <a:lstStyle/>
                    <a:p>
                      <a:pPr algn="r"/>
                      <a:r>
                        <a:rPr sz="1300" b="0">
                          <a:solidFill>
                            <a:srgbClr val="16202A"/>
                          </a:solidFill>
                          <a:latin typeface="Arial"/>
                        </a:rPr>
                        <a:t>42.085 Fälle</a:t>
                      </a:r>
                    </a:p>
                  </a:txBody>
                  <a:tcPr marL="73152" marR="73152" marT="36576" marB="36576">
                    <a:solidFill>
                      <a:srgbClr val="FFFFFF"/>
                    </a:solidFill>
                  </a:tcPr>
                </a:tc>
                <a:tc>
                  <a:txBody>
                    <a:bodyPr/>
                    <a:lstStyle/>
                    <a:p>
                      <a:pPr algn="r"/>
                      <a:r>
                        <a:rPr sz="1300" b="0">
                          <a:solidFill>
                            <a:srgbClr val="16202A"/>
                          </a:solidFill>
                          <a:latin typeface="Arial"/>
                        </a:rPr>
                        <a:t>21,09 Mrd € brutto</a:t>
                      </a:r>
                    </a:p>
                  </a:txBody>
                  <a:tcPr marL="73152" marR="73152" marT="36576" marB="36576">
                    <a:solidFill>
                      <a:srgbClr val="FFFFFF"/>
                    </a:solidFill>
                  </a:tcPr>
                </a:tc>
                <a:tc>
                  <a:txBody>
                    <a:bodyPr/>
                    <a:lstStyle/>
                    <a:p>
                      <a:pPr algn="r"/>
                      <a:r>
                        <a:rPr sz="1300" b="0">
                          <a:solidFill>
                            <a:srgbClr val="16202A"/>
                          </a:solidFill>
                          <a:latin typeface="Arial"/>
                        </a:rPr>
                        <a:t>1</a:t>
                      </a:r>
                    </a:p>
                  </a:txBody>
                  <a:tcPr marL="73152" marR="73152" marT="36576" marB="36576">
                    <a:solidFill>
                      <a:srgbClr val="FFFFFF"/>
                    </a:solidFill>
                  </a:tcPr>
                </a:tc>
                <a:extLst>
                  <a:ext uri="{0D108BD9-81ED-4DB2-BD59-A6C34878D82A}">
                    <a16:rowId xmlns:a16="http://schemas.microsoft.com/office/drawing/2014/main" val="10002"/>
                  </a:ext>
                </a:extLst>
              </a:tr>
              <a:tr h="384048">
                <a:tc>
                  <a:txBody>
                    <a:bodyPr/>
                    <a:lstStyle/>
                    <a:p>
                      <a:r>
                        <a:rPr sz="1300" b="0" dirty="0" err="1">
                          <a:solidFill>
                            <a:srgbClr val="16202A"/>
                          </a:solidFill>
                          <a:latin typeface="Arial"/>
                        </a:rPr>
                        <a:t>Minus Rückforderungen (93 Mio €), leer = noch offen, zählt 0</a:t>
                      </a:r>
                      <a:endParaRPr sz="1300" b="0" dirty="0">
                        <a:solidFill>
                          <a:srgbClr val="16202A"/>
                        </a:solidFill>
                        <a:latin typeface="Arial"/>
                      </a:endParaRPr>
                    </a:p>
                  </a:txBody>
                  <a:tcPr marL="73152" marR="73152" marT="36576" marB="36576">
                    <a:solidFill>
                      <a:srgbClr val="F6F7F8"/>
                    </a:solidFill>
                  </a:tcPr>
                </a:tc>
                <a:tc>
                  <a:txBody>
                    <a:bodyPr/>
                    <a:lstStyle/>
                    <a:p>
                      <a:pPr algn="r"/>
                      <a:r>
                        <a:rPr sz="1300" b="0">
                          <a:solidFill>
                            <a:srgbClr val="16202A"/>
                          </a:solidFill>
                          <a:latin typeface="Arial"/>
                        </a:rPr>
                        <a:t>42.085 Fälle</a:t>
                      </a:r>
                    </a:p>
                  </a:txBody>
                  <a:tcPr marL="73152" marR="73152" marT="36576" marB="36576">
                    <a:solidFill>
                      <a:srgbClr val="F6F7F8"/>
                    </a:solidFill>
                  </a:tcPr>
                </a:tc>
                <a:tc>
                  <a:txBody>
                    <a:bodyPr/>
                    <a:lstStyle/>
                    <a:p>
                      <a:pPr algn="r"/>
                      <a:r>
                        <a:rPr sz="1300" b="0" dirty="0">
                          <a:solidFill>
                            <a:srgbClr val="16202A"/>
                          </a:solidFill>
                          <a:latin typeface="Arial"/>
                        </a:rPr>
                        <a:t>21,00 Mrd € netto</a:t>
                      </a:r>
                    </a:p>
                  </a:txBody>
                  <a:tcPr marL="73152" marR="73152" marT="36576" marB="36576">
                    <a:solidFill>
                      <a:srgbClr val="F6F7F8"/>
                    </a:solidFill>
                  </a:tcPr>
                </a:tc>
                <a:tc>
                  <a:txBody>
                    <a:bodyPr/>
                    <a:lstStyle/>
                    <a:p>
                      <a:pPr algn="r"/>
                      <a:r>
                        <a:rPr sz="1300" b="0">
                          <a:solidFill>
                            <a:srgbClr val="16202A"/>
                          </a:solidFill>
                          <a:latin typeface="Arial"/>
                        </a:rPr>
                        <a:t>2</a:t>
                      </a:r>
                    </a:p>
                  </a:txBody>
                  <a:tcPr marL="73152" marR="73152" marT="36576" marB="36576">
                    <a:solidFill>
                      <a:srgbClr val="F6F7F8"/>
                    </a:solidFill>
                  </a:tcPr>
                </a:tc>
                <a:extLst>
                  <a:ext uri="{0D108BD9-81ED-4DB2-BD59-A6C34878D82A}">
                    <a16:rowId xmlns:a16="http://schemas.microsoft.com/office/drawing/2014/main" val="10003"/>
                  </a:ext>
                </a:extLst>
              </a:tr>
              <a:tr h="384048">
                <a:tc>
                  <a:txBody>
                    <a:bodyPr/>
                    <a:lstStyle/>
                    <a:p>
                      <a:r>
                        <a:rPr sz="1300" b="0">
                          <a:solidFill>
                            <a:srgbClr val="16202A"/>
                          </a:solidFill>
                          <a:latin typeface="Arial"/>
                        </a:rPr>
                        <a:t>Auf Erstbescheid-Jahr 2025 eingegrenzt (0 € Rückforderungen)</a:t>
                      </a:r>
                    </a:p>
                  </a:txBody>
                  <a:tcPr marL="73152" marR="73152" marT="36576" marB="36576">
                    <a:solidFill>
                      <a:srgbClr val="FFFFFF"/>
                    </a:solidFill>
                  </a:tcPr>
                </a:tc>
                <a:tc>
                  <a:txBody>
                    <a:bodyPr/>
                    <a:lstStyle/>
                    <a:p>
                      <a:pPr algn="r"/>
                      <a:r>
                        <a:rPr sz="1300" b="0" dirty="0">
                          <a:solidFill>
                            <a:srgbClr val="16202A"/>
                          </a:solidFill>
                          <a:latin typeface="Arial"/>
                        </a:rPr>
                        <a:t>3.980 </a:t>
                      </a:r>
                      <a:r>
                        <a:rPr sz="1300" b="0" dirty="0" err="1">
                          <a:solidFill>
                            <a:srgbClr val="16202A"/>
                          </a:solidFill>
                          <a:latin typeface="Arial"/>
                        </a:rPr>
                        <a:t>Fälle</a:t>
                      </a:r>
                      <a:endParaRPr sz="1300" b="0" dirty="0">
                        <a:solidFill>
                          <a:srgbClr val="16202A"/>
                        </a:solidFill>
                        <a:latin typeface="Arial"/>
                      </a:endParaRPr>
                    </a:p>
                  </a:txBody>
                  <a:tcPr marL="73152" marR="73152" marT="36576" marB="36576">
                    <a:solidFill>
                      <a:srgbClr val="FFFFFF"/>
                    </a:solidFill>
                  </a:tcPr>
                </a:tc>
                <a:tc>
                  <a:txBody>
                    <a:bodyPr/>
                    <a:lstStyle/>
                    <a:p>
                      <a:pPr algn="r"/>
                      <a:r>
                        <a:rPr sz="1300" b="0">
                          <a:solidFill>
                            <a:srgbClr val="16202A"/>
                          </a:solidFill>
                          <a:latin typeface="Arial"/>
                        </a:rPr>
                        <a:t>2,62 Mrd €</a:t>
                      </a:r>
                    </a:p>
                  </a:txBody>
                  <a:tcPr marL="73152" marR="73152" marT="36576" marB="36576">
                    <a:solidFill>
                      <a:srgbClr val="FFFFFF"/>
                    </a:solidFill>
                  </a:tcPr>
                </a:tc>
                <a:tc>
                  <a:txBody>
                    <a:bodyPr/>
                    <a:lstStyle/>
                    <a:p>
                      <a:pPr algn="r"/>
                      <a:r>
                        <a:rPr sz="1300" b="0">
                          <a:solidFill>
                            <a:srgbClr val="16202A"/>
                          </a:solidFill>
                          <a:latin typeface="Arial"/>
                        </a:rPr>
                        <a:t>3</a:t>
                      </a:r>
                    </a:p>
                  </a:txBody>
                  <a:tcPr marL="73152" marR="73152" marT="36576" marB="36576">
                    <a:solidFill>
                      <a:srgbClr val="FFFFFF"/>
                    </a:solidFill>
                  </a:tcPr>
                </a:tc>
                <a:extLst>
                  <a:ext uri="{0D108BD9-81ED-4DB2-BD59-A6C34878D82A}">
                    <a16:rowId xmlns:a16="http://schemas.microsoft.com/office/drawing/2014/main" val="10004"/>
                  </a:ext>
                </a:extLst>
              </a:tr>
              <a:tr h="384048">
                <a:tc>
                  <a:txBody>
                    <a:bodyPr/>
                    <a:lstStyle/>
                    <a:p>
                      <a:r>
                        <a:rPr sz="1300" b="0">
                          <a:solidFill>
                            <a:srgbClr val="16202A"/>
                          </a:solidFill>
                          <a:latin typeface="Arial"/>
                        </a:rPr>
                        <a:t>Sammeleintrag „Vereinsregister“ aufgelöst</a:t>
                      </a:r>
                    </a:p>
                  </a:txBody>
                  <a:tcPr marL="73152" marR="73152" marT="36576" marB="36576">
                    <a:solidFill>
                      <a:srgbClr val="F6F7F8"/>
                    </a:solidFill>
                  </a:tcPr>
                </a:tc>
                <a:tc>
                  <a:txBody>
                    <a:bodyPr/>
                    <a:lstStyle/>
                    <a:p>
                      <a:pPr algn="r"/>
                      <a:r>
                        <a:rPr sz="1300" b="0">
                          <a:solidFill>
                            <a:srgbClr val="16202A"/>
                          </a:solidFill>
                          <a:latin typeface="Arial"/>
                        </a:rPr>
                        <a:t>3.980 Fälle</a:t>
                      </a:r>
                    </a:p>
                  </a:txBody>
                  <a:tcPr marL="73152" marR="73152" marT="36576" marB="36576">
                    <a:solidFill>
                      <a:srgbClr val="F6F7F8"/>
                    </a:solidFill>
                  </a:tcPr>
                </a:tc>
                <a:tc>
                  <a:txBody>
                    <a:bodyPr/>
                    <a:lstStyle/>
                    <a:p>
                      <a:pPr algn="r"/>
                      <a:r>
                        <a:rPr sz="1300" b="0">
                          <a:solidFill>
                            <a:srgbClr val="16202A"/>
                          </a:solidFill>
                          <a:latin typeface="Arial"/>
                        </a:rPr>
                        <a:t>2,62 Mrd €</a:t>
                      </a:r>
                    </a:p>
                  </a:txBody>
                  <a:tcPr marL="73152" marR="73152" marT="36576" marB="36576">
                    <a:solidFill>
                      <a:srgbClr val="F6F7F8"/>
                    </a:solidFill>
                  </a:tcPr>
                </a:tc>
                <a:tc>
                  <a:txBody>
                    <a:bodyPr/>
                    <a:lstStyle/>
                    <a:p>
                      <a:pPr algn="r"/>
                      <a:r>
                        <a:rPr sz="1300" b="0">
                          <a:solidFill>
                            <a:srgbClr val="16202A"/>
                          </a:solidFill>
                          <a:latin typeface="Arial"/>
                        </a:rPr>
                        <a:t>4</a:t>
                      </a:r>
                    </a:p>
                  </a:txBody>
                  <a:tcPr marL="73152" marR="73152" marT="36576" marB="36576">
                    <a:solidFill>
                      <a:srgbClr val="F6F7F8"/>
                    </a:solidFill>
                  </a:tcPr>
                </a:tc>
                <a:extLst>
                  <a:ext uri="{0D108BD9-81ED-4DB2-BD59-A6C34878D82A}">
                    <a16:rowId xmlns:a16="http://schemas.microsoft.com/office/drawing/2014/main" val="10005"/>
                  </a:ext>
                </a:extLst>
              </a:tr>
              <a:tr h="384048">
                <a:tc>
                  <a:txBody>
                    <a:bodyPr/>
                    <a:lstStyle/>
                    <a:p>
                      <a:r>
                        <a:rPr sz="1300" b="0">
                          <a:solidFill>
                            <a:srgbClr val="16202A"/>
                          </a:solidFill>
                          <a:latin typeface="Arial"/>
                        </a:rPr>
                        <a:t>Pro Empfänger summiert, Schreibweisen zusammengeführt</a:t>
                      </a:r>
                    </a:p>
                  </a:txBody>
                  <a:tcPr marL="73152" marR="73152" marT="36576" marB="36576">
                    <a:solidFill>
                      <a:srgbClr val="FFFFFF"/>
                    </a:solidFill>
                  </a:tcPr>
                </a:tc>
                <a:tc>
                  <a:txBody>
                    <a:bodyPr/>
                    <a:lstStyle/>
                    <a:p>
                      <a:pPr algn="r"/>
                      <a:r>
                        <a:rPr sz="1300" b="0" dirty="0">
                          <a:solidFill>
                            <a:srgbClr val="16202A"/>
                          </a:solidFill>
                          <a:latin typeface="Arial"/>
                        </a:rPr>
                        <a:t>1.913 </a:t>
                      </a:r>
                      <a:r>
                        <a:rPr sz="1300" b="0" dirty="0" err="1">
                          <a:solidFill>
                            <a:srgbClr val="16202A"/>
                          </a:solidFill>
                          <a:latin typeface="Arial"/>
                        </a:rPr>
                        <a:t>Empfänger</a:t>
                      </a:r>
                      <a:endParaRPr sz="1300" b="0" dirty="0">
                        <a:solidFill>
                          <a:srgbClr val="16202A"/>
                        </a:solidFill>
                        <a:latin typeface="Arial"/>
                      </a:endParaRPr>
                    </a:p>
                  </a:txBody>
                  <a:tcPr marL="73152" marR="73152" marT="36576" marB="36576">
                    <a:solidFill>
                      <a:srgbClr val="FFFFFF"/>
                    </a:solidFill>
                  </a:tcPr>
                </a:tc>
                <a:tc>
                  <a:txBody>
                    <a:bodyPr/>
                    <a:lstStyle/>
                    <a:p>
                      <a:pPr algn="r"/>
                      <a:r>
                        <a:rPr sz="1300" b="0">
                          <a:solidFill>
                            <a:srgbClr val="16202A"/>
                          </a:solidFill>
                          <a:latin typeface="Arial"/>
                        </a:rPr>
                        <a:t>2,62 Mrd €</a:t>
                      </a:r>
                    </a:p>
                  </a:txBody>
                  <a:tcPr marL="73152" marR="73152" marT="36576" marB="36576">
                    <a:solidFill>
                      <a:srgbClr val="FFFFFF"/>
                    </a:solidFill>
                  </a:tcPr>
                </a:tc>
                <a:tc>
                  <a:txBody>
                    <a:bodyPr/>
                    <a:lstStyle/>
                    <a:p>
                      <a:pPr algn="r"/>
                      <a:r>
                        <a:rPr sz="1300" b="0">
                          <a:solidFill>
                            <a:srgbClr val="16202A"/>
                          </a:solidFill>
                          <a:latin typeface="Arial"/>
                        </a:rPr>
                        <a:t>5</a:t>
                      </a:r>
                    </a:p>
                  </a:txBody>
                  <a:tcPr marL="73152" marR="73152" marT="36576" marB="36576">
                    <a:solidFill>
                      <a:srgbClr val="FFFFFF"/>
                    </a:solidFill>
                  </a:tcPr>
                </a:tc>
                <a:extLst>
                  <a:ext uri="{0D108BD9-81ED-4DB2-BD59-A6C34878D82A}">
                    <a16:rowId xmlns:a16="http://schemas.microsoft.com/office/drawing/2014/main" val="10006"/>
                  </a:ext>
                </a:extLst>
              </a:tr>
              <a:tr h="384048">
                <a:tc>
                  <a:txBody>
                    <a:bodyPr/>
                    <a:lstStyle/>
                    <a:p>
                      <a:r>
                        <a:rPr sz="1300" b="0">
                          <a:solidFill>
                            <a:srgbClr val="16202A"/>
                          </a:solidFill>
                          <a:latin typeface="Arial"/>
                        </a:rPr>
                        <a:t>50 größte Empfänger von Hand eingeordnet</a:t>
                      </a:r>
                    </a:p>
                  </a:txBody>
                  <a:tcPr marL="73152" marR="73152" marT="36576" marB="36576">
                    <a:solidFill>
                      <a:srgbClr val="F6F7F8"/>
                    </a:solidFill>
                  </a:tcPr>
                </a:tc>
                <a:tc>
                  <a:txBody>
                    <a:bodyPr/>
                    <a:lstStyle/>
                    <a:p>
                      <a:pPr algn="r"/>
                      <a:r>
                        <a:rPr sz="1300" b="0">
                          <a:solidFill>
                            <a:srgbClr val="16202A"/>
                          </a:solidFill>
                          <a:latin typeface="Arial"/>
                        </a:rPr>
                        <a:t>3 Gruppen</a:t>
                      </a:r>
                    </a:p>
                  </a:txBody>
                  <a:tcPr marL="73152" marR="73152" marT="36576" marB="36576">
                    <a:solidFill>
                      <a:srgbClr val="F6F7F8"/>
                    </a:solidFill>
                  </a:tcPr>
                </a:tc>
                <a:tc>
                  <a:txBody>
                    <a:bodyPr/>
                    <a:lstStyle/>
                    <a:p>
                      <a:pPr algn="r"/>
                      <a:r>
                        <a:rPr sz="1300" b="0">
                          <a:solidFill>
                            <a:srgbClr val="16202A"/>
                          </a:solidFill>
                          <a:latin typeface="Arial"/>
                        </a:rPr>
                        <a:t>2,62 Mrd €</a:t>
                      </a:r>
                    </a:p>
                  </a:txBody>
                  <a:tcPr marL="73152" marR="73152" marT="36576" marB="36576">
                    <a:solidFill>
                      <a:srgbClr val="F6F7F8"/>
                    </a:solidFill>
                  </a:tcPr>
                </a:tc>
                <a:tc>
                  <a:txBody>
                    <a:bodyPr/>
                    <a:lstStyle/>
                    <a:p>
                      <a:pPr algn="r"/>
                      <a:r>
                        <a:rPr sz="1300" b="0" dirty="0">
                          <a:solidFill>
                            <a:srgbClr val="16202A"/>
                          </a:solidFill>
                          <a:latin typeface="Arial"/>
                        </a:rPr>
                        <a:t>6</a:t>
                      </a:r>
                    </a:p>
                  </a:txBody>
                  <a:tcPr marL="73152" marR="73152" marT="36576" marB="36576">
                    <a:solidFill>
                      <a:srgbClr val="F6F7F8"/>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640080" y="5212080"/>
            <a:ext cx="10911535" cy="73152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Ein Fall zählt mit seinem heutigen Betrag ins Jahr seines ersten Bescheids. Es heißt deshalb „bewilligt 2025“, nie „ausgegeben 2025“. Jede Zeile der Tabelle ist eine Zelle im Notebook, jede Zahl dort nachzulesen.</a:t>
            </a:r>
          </a:p>
        </p:txBody>
      </p:sp>
      <p:sp>
        <p:nvSpPr>
          <p:cNvPr id="7" name="TextBox 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8" name="TextBox 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1</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Förderfall steht bis zu 24 Mal in der Datei</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Jeder Änderungsbescheid ist eine neue Zeile, jeweils mit dem aktuellen Gesamtstand. Eine einfache Summe über alle Zeilen zählt denselben Fall bis zu 24 Mal. Die Bruttosumme wäre um ein Vielfaches zu hoch.</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Pro Vorgangsnummer (INEZ-Nummer) nur die zeitlich letzte Zeile behalten. Dafür erst nach Nummer und Datum sortieren, dann Dubletten mit keep="last" verwerfen. Nicht die größte Zeile, die letzte: Beträge sinken gelegentlich.</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vorgaenge</a:t>
            </a:r>
            <a:r>
              <a:rPr sz="1200" dirty="0">
                <a:solidFill>
                  <a:srgbClr val="E6EDF3"/>
                </a:solidFill>
                <a:latin typeface="Consolas"/>
              </a:rPr>
              <a:t> = (</a:t>
            </a:r>
            <a:r>
              <a:rPr sz="1200" dirty="0" err="1">
                <a:solidFill>
                  <a:srgbClr val="E6EDF3"/>
                </a:solidFill>
                <a:latin typeface="Consolas"/>
              </a:rPr>
              <a:t>df.sort_values</a:t>
            </a:r>
            <a:r>
              <a:rPr sz="1200" dirty="0">
                <a:solidFill>
                  <a:srgbClr val="E6EDF3"/>
                </a:solidFill>
                <a:latin typeface="Consolas"/>
              </a:rPr>
              <a:t>(["INEZ-Nummer", "</a:t>
            </a:r>
            <a:r>
              <a:rPr sz="1200" dirty="0" err="1">
                <a:solidFill>
                  <a:srgbClr val="E6EDF3"/>
                </a:solidFill>
                <a:latin typeface="Consolas"/>
              </a:rPr>
              <a:t>Bescheiddatum</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drop_duplicates</a:t>
            </a:r>
            <a:r>
              <a:rPr sz="1200" dirty="0">
                <a:solidFill>
                  <a:srgbClr val="E6EDF3"/>
                </a:solidFill>
                <a:latin typeface="Consolas"/>
              </a:rPr>
              <a:t>(subset="INEZ-Nummer",</a:t>
            </a:r>
          </a:p>
          <a:p>
            <a:pPr algn="l"/>
            <a:r>
              <a:rPr sz="1200" dirty="0">
                <a:solidFill>
                  <a:srgbClr val="E6EDF3"/>
                </a:solidFill>
                <a:latin typeface="Consolas"/>
              </a:rPr>
              <a:t>                                keep="last"))</a:t>
            </a:r>
          </a:p>
          <a:p>
            <a:pPr algn="l"/>
            <a:endParaRPr sz="1200" dirty="0">
              <a:solidFill>
                <a:srgbClr val="E6EDF3"/>
              </a:solidFill>
              <a:latin typeface="Consolas"/>
            </a:endParaRPr>
          </a:p>
          <a:p>
            <a:pPr algn="l"/>
            <a:r>
              <a:rPr sz="1200" dirty="0" err="1">
                <a:solidFill>
                  <a:srgbClr val="E6EDF3"/>
                </a:solidFill>
                <a:latin typeface="Consolas"/>
              </a:rPr>
              <a:t>len</a:t>
            </a:r>
            <a:r>
              <a:rPr sz="1200" dirty="0">
                <a:solidFill>
                  <a:srgbClr val="E6EDF3"/>
                </a:solidFill>
                <a:latin typeface="Consolas"/>
              </a:rPr>
              <a:t>(</a:t>
            </a:r>
            <a:r>
              <a:rPr sz="1200" dirty="0" err="1">
                <a:solidFill>
                  <a:srgbClr val="E6EDF3"/>
                </a:solidFill>
                <a:latin typeface="Consolas"/>
              </a:rPr>
              <a:t>vorgaenge</a:t>
            </a:r>
            <a:r>
              <a:rPr sz="1200" dirty="0">
                <a:solidFill>
                  <a:srgbClr val="E6EDF3"/>
                </a:solidFill>
                <a:latin typeface="Consolas"/>
              </a:rPr>
              <a:t>), </a:t>
            </a:r>
            <a:r>
              <a:rPr sz="1200" dirty="0" err="1">
                <a:solidFill>
                  <a:srgbClr val="E6EDF3"/>
                </a:solidFill>
                <a:latin typeface="Consolas"/>
              </a:rPr>
              <a:t>df.loc</a:t>
            </a:r>
            <a:r>
              <a:rPr sz="1200" dirty="0">
                <a:solidFill>
                  <a:srgbClr val="E6EDF3"/>
                </a:solidFill>
                <a:latin typeface="Consolas"/>
              </a:rPr>
              <a:t>[:, "INEZ-Nummer"].</a:t>
            </a:r>
            <a:r>
              <a:rPr sz="1200" dirty="0" err="1">
                <a:solidFill>
                  <a:srgbClr val="E6EDF3"/>
                </a:solidFill>
                <a:latin typeface="Consolas"/>
              </a:rPr>
              <a:t>nunique</a:t>
            </a:r>
            <a:r>
              <a:rPr sz="1200" dirty="0">
                <a:solidFill>
                  <a:srgbClr val="E6EDF3"/>
                </a:solidFill>
                <a:latin typeface="Consolas"/>
              </a:rPr>
              <a:t>()</a:t>
            </a:r>
          </a:p>
          <a:p>
            <a:pPr algn="l"/>
            <a:r>
              <a:rPr sz="1200" dirty="0">
                <a:solidFill>
                  <a:srgbClr val="E6EDF3"/>
                </a:solidFill>
                <a:latin typeface="Consolas"/>
              </a:rPr>
              <a:t># → (42085, 42085)</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Was passiert bei zwei Bescheiden am selben Tag? Dann entscheidet die Zeilenreihenfolge der Datei. Gezählt: 154 von 42.085 Vorgängen, davon 32 mit abweichenden Beträgen, davon genau einer im Jahr 2025 mit 13.425 € (0,0005 % der Summe). Kein zweites Sortierkriterium nötig, aber beziffert.</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2</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Bei fast allen 2025-Fällen fehlt die Rückforderung</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Die Spalte „Summe von Rückforderungen“ ist bei 94,9 % der 2025-Fälle leer. Rechnet man Fördersumme minus Rückforderung, wird das Ergebnis bei einem leeren Feld selbst leer (NaN). Die Nettosumme für 2025 gäbe es dann schlicht nicht.</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Die </a:t>
            </a:r>
            <a:r>
              <a:rPr sz="1500" b="0" dirty="0" err="1">
                <a:solidFill>
                  <a:srgbClr val="16202A"/>
                </a:solidFill>
                <a:latin typeface="Arial"/>
              </a:rPr>
              <a:t>Daten</a:t>
            </a:r>
            <a:r>
              <a:rPr sz="1500" b="0" dirty="0">
                <a:solidFill>
                  <a:srgbClr val="16202A"/>
                </a:solidFill>
                <a:latin typeface="Arial"/>
              </a:rPr>
              <a:t> </a:t>
            </a:r>
            <a:r>
              <a:rPr sz="1500" b="0" dirty="0" err="1">
                <a:solidFill>
                  <a:srgbClr val="16202A"/>
                </a:solidFill>
                <a:latin typeface="Arial"/>
              </a:rPr>
              <a:t>sprechen</a:t>
            </a:r>
            <a:r>
              <a:rPr sz="1500" b="0" dirty="0">
                <a:solidFill>
                  <a:srgbClr val="16202A"/>
                </a:solidFill>
                <a:latin typeface="Arial"/>
              </a:rPr>
              <a:t> </a:t>
            </a:r>
            <a:r>
              <a:rPr sz="1500" b="0" dirty="0" err="1">
                <a:solidFill>
                  <a:srgbClr val="16202A"/>
                </a:solidFill>
                <a:latin typeface="Arial"/>
              </a:rPr>
              <a:t>dafür</a:t>
            </a:r>
            <a:r>
              <a:rPr sz="1500" b="0" dirty="0">
                <a:solidFill>
                  <a:srgbClr val="16202A"/>
                </a:solidFill>
                <a:latin typeface="Arial"/>
              </a:rPr>
              <a:t>, </a:t>
            </a:r>
            <a:r>
              <a:rPr sz="1500" b="0" dirty="0" err="1">
                <a:solidFill>
                  <a:srgbClr val="16202A"/>
                </a:solidFill>
                <a:latin typeface="Arial"/>
              </a:rPr>
              <a:t>dass</a:t>
            </a:r>
            <a:r>
              <a:rPr sz="1500" b="0" dirty="0">
                <a:solidFill>
                  <a:srgbClr val="16202A"/>
                </a:solidFill>
                <a:latin typeface="Arial"/>
              </a:rPr>
              <a:t> leer </a:t>
            </a:r>
            <a:r>
              <a:rPr sz="1500" b="0" dirty="0" err="1">
                <a:solidFill>
                  <a:srgbClr val="16202A"/>
                </a:solidFill>
                <a:latin typeface="Arial"/>
              </a:rPr>
              <a:t>hier</a:t>
            </a:r>
            <a:r>
              <a:rPr sz="1500" b="0" dirty="0">
                <a:solidFill>
                  <a:srgbClr val="16202A"/>
                </a:solidFill>
                <a:latin typeface="Arial"/>
              </a:rPr>
              <a:t> „</a:t>
            </a:r>
            <a:r>
              <a:rPr sz="1500" b="0" dirty="0" err="1">
                <a:solidFill>
                  <a:srgbClr val="16202A"/>
                </a:solidFill>
                <a:latin typeface="Arial"/>
              </a:rPr>
              <a:t>noch</a:t>
            </a:r>
            <a:r>
              <a:rPr sz="1500" b="0" dirty="0">
                <a:solidFill>
                  <a:srgbClr val="16202A"/>
                </a:solidFill>
                <a:latin typeface="Arial"/>
              </a:rPr>
              <a:t> nicht </a:t>
            </a:r>
            <a:r>
              <a:rPr sz="1500" b="0" dirty="0" err="1">
                <a:solidFill>
                  <a:srgbClr val="16202A"/>
                </a:solidFill>
                <a:latin typeface="Arial"/>
              </a:rPr>
              <a:t>festgesetzt</a:t>
            </a:r>
            <a:r>
              <a:rPr sz="1500" b="0" dirty="0">
                <a:solidFill>
                  <a:srgbClr val="16202A"/>
                </a:solidFill>
                <a:latin typeface="Arial"/>
              </a:rPr>
              <a:t>“ </a:t>
            </a:r>
            <a:r>
              <a:rPr sz="1500" b="0" dirty="0" err="1">
                <a:solidFill>
                  <a:srgbClr val="16202A"/>
                </a:solidFill>
                <a:latin typeface="Arial"/>
              </a:rPr>
              <a:t>heißt</a:t>
            </a:r>
            <a:r>
              <a:rPr sz="1500" b="0" dirty="0">
                <a:solidFill>
                  <a:srgbClr val="16202A"/>
                </a:solidFill>
                <a:latin typeface="Arial"/>
              </a:rPr>
              <a:t>. </a:t>
            </a:r>
            <a:r>
              <a:rPr sz="1500" b="0" dirty="0" err="1">
                <a:solidFill>
                  <a:srgbClr val="16202A"/>
                </a:solidFill>
                <a:latin typeface="Arial"/>
              </a:rPr>
              <a:t>Rückforderungen</a:t>
            </a:r>
            <a:r>
              <a:rPr sz="1500" b="0" dirty="0">
                <a:solidFill>
                  <a:srgbClr val="16202A"/>
                </a:solidFill>
                <a:latin typeface="Arial"/>
              </a:rPr>
              <a:t> </a:t>
            </a:r>
            <a:r>
              <a:rPr sz="1500" b="0" dirty="0" err="1">
                <a:solidFill>
                  <a:srgbClr val="16202A"/>
                </a:solidFill>
                <a:latin typeface="Arial"/>
              </a:rPr>
              <a:t>kommen</a:t>
            </a:r>
            <a:r>
              <a:rPr sz="1500" b="0" dirty="0">
                <a:solidFill>
                  <a:srgbClr val="16202A"/>
                </a:solidFill>
                <a:latin typeface="Arial"/>
              </a:rPr>
              <a:t> erst </a:t>
            </a:r>
            <a:r>
              <a:rPr sz="1500" b="0" dirty="0" err="1">
                <a:solidFill>
                  <a:srgbClr val="16202A"/>
                </a:solidFill>
                <a:latin typeface="Arial"/>
              </a:rPr>
              <a:t>nach</a:t>
            </a:r>
            <a:r>
              <a:rPr sz="1500" b="0" dirty="0">
                <a:solidFill>
                  <a:srgbClr val="16202A"/>
                </a:solidFill>
                <a:latin typeface="Arial"/>
              </a:rPr>
              <a:t> dem </a:t>
            </a:r>
            <a:r>
              <a:rPr sz="1500" b="0" dirty="0" err="1">
                <a:solidFill>
                  <a:srgbClr val="16202A"/>
                </a:solidFill>
                <a:latin typeface="Arial"/>
              </a:rPr>
              <a:t>Verwendungsnachweis</a:t>
            </a:r>
            <a:r>
              <a:rPr sz="1500" b="0" dirty="0">
                <a:solidFill>
                  <a:srgbClr val="16202A"/>
                </a:solidFill>
                <a:latin typeface="Arial"/>
              </a:rPr>
              <a:t>, oft Jahre </a:t>
            </a:r>
            <a:r>
              <a:rPr sz="1500" b="0" dirty="0" err="1">
                <a:solidFill>
                  <a:srgbClr val="16202A"/>
                </a:solidFill>
                <a:latin typeface="Arial"/>
              </a:rPr>
              <a:t>später</a:t>
            </a:r>
            <a:r>
              <a:rPr sz="1500" b="0" dirty="0">
                <a:solidFill>
                  <a:srgbClr val="16202A"/>
                </a:solidFill>
                <a:latin typeface="Arial"/>
              </a:rPr>
              <a:t>. Ich </a:t>
            </a:r>
            <a:r>
              <a:rPr sz="1500" b="0" dirty="0" err="1">
                <a:solidFill>
                  <a:srgbClr val="16202A"/>
                </a:solidFill>
                <a:latin typeface="Arial"/>
              </a:rPr>
              <a:t>rechne</a:t>
            </a:r>
            <a:r>
              <a:rPr sz="1500" b="0" dirty="0">
                <a:solidFill>
                  <a:srgbClr val="16202A"/>
                </a:solidFill>
                <a:latin typeface="Arial"/>
              </a:rPr>
              <a:t> </a:t>
            </a:r>
            <a:r>
              <a:rPr sz="1500" b="0" dirty="0" err="1">
                <a:solidFill>
                  <a:srgbClr val="16202A"/>
                </a:solidFill>
                <a:latin typeface="Arial"/>
              </a:rPr>
              <a:t>leere</a:t>
            </a:r>
            <a:r>
              <a:rPr sz="1500" b="0" dirty="0">
                <a:solidFill>
                  <a:srgbClr val="16202A"/>
                </a:solidFill>
                <a:latin typeface="Arial"/>
              </a:rPr>
              <a:t> Felder </a:t>
            </a:r>
            <a:r>
              <a:rPr sz="1500" b="0" dirty="0" err="1">
                <a:solidFill>
                  <a:srgbClr val="16202A"/>
                </a:solidFill>
                <a:latin typeface="Arial"/>
              </a:rPr>
              <a:t>mit</a:t>
            </a:r>
            <a:r>
              <a:rPr sz="1500" b="0" dirty="0">
                <a:solidFill>
                  <a:srgbClr val="16202A"/>
                </a:solidFill>
                <a:latin typeface="Arial"/>
              </a:rPr>
              <a:t> </a:t>
            </a:r>
            <a:r>
              <a:rPr sz="1500" b="0" dirty="0" err="1">
                <a:solidFill>
                  <a:srgbClr val="16202A"/>
                </a:solidFill>
                <a:latin typeface="Arial"/>
              </a:rPr>
              <a:t>fillna</a:t>
            </a:r>
            <a:r>
              <a:rPr sz="1500" b="0" dirty="0">
                <a:solidFill>
                  <a:srgbClr val="16202A"/>
                </a:solidFill>
                <a:latin typeface="Arial"/>
              </a:rPr>
              <a:t>(0) </a:t>
            </a:r>
            <a:r>
              <a:rPr sz="1500" b="0" dirty="0" err="1">
                <a:solidFill>
                  <a:srgbClr val="16202A"/>
                </a:solidFill>
                <a:latin typeface="Arial"/>
              </a:rPr>
              <a:t>als</a:t>
            </a:r>
            <a:r>
              <a:rPr sz="1500" b="0" dirty="0">
                <a:solidFill>
                  <a:srgbClr val="16202A"/>
                </a:solidFill>
                <a:latin typeface="Arial"/>
              </a:rPr>
              <a:t> 0. Die 2,62 </a:t>
            </a:r>
            <a:r>
              <a:rPr sz="1500" b="0" dirty="0" err="1">
                <a:solidFill>
                  <a:srgbClr val="16202A"/>
                </a:solidFill>
                <a:latin typeface="Arial"/>
              </a:rPr>
              <a:t>Mrd</a:t>
            </a:r>
            <a:r>
              <a:rPr sz="1500" b="0" dirty="0">
                <a:solidFill>
                  <a:srgbClr val="16202A"/>
                </a:solidFill>
                <a:latin typeface="Arial"/>
              </a:rPr>
              <a:t> € </a:t>
            </a:r>
            <a:r>
              <a:rPr sz="1500" b="0" dirty="0" err="1">
                <a:solidFill>
                  <a:srgbClr val="16202A"/>
                </a:solidFill>
                <a:latin typeface="Arial"/>
              </a:rPr>
              <a:t>sind</a:t>
            </a:r>
            <a:r>
              <a:rPr sz="1500" b="0" dirty="0">
                <a:solidFill>
                  <a:srgbClr val="16202A"/>
                </a:solidFill>
                <a:latin typeface="Arial"/>
              </a:rPr>
              <a:t> </a:t>
            </a:r>
            <a:r>
              <a:rPr sz="1500" b="0" dirty="0" err="1">
                <a:solidFill>
                  <a:srgbClr val="16202A"/>
                </a:solidFill>
                <a:latin typeface="Arial"/>
              </a:rPr>
              <a:t>damit</a:t>
            </a:r>
            <a:r>
              <a:rPr sz="1500" b="0" dirty="0">
                <a:solidFill>
                  <a:srgbClr val="16202A"/>
                </a:solidFill>
                <a:latin typeface="Arial"/>
              </a:rPr>
              <a:t> </a:t>
            </a:r>
            <a:r>
              <a:rPr sz="1500" b="0" dirty="0" err="1">
                <a:solidFill>
                  <a:srgbClr val="16202A"/>
                </a:solidFill>
                <a:latin typeface="Arial"/>
              </a:rPr>
              <a:t>bewilligte</a:t>
            </a:r>
            <a:r>
              <a:rPr sz="1500" b="0" dirty="0">
                <a:solidFill>
                  <a:srgbClr val="16202A"/>
                </a:solidFill>
                <a:latin typeface="Arial"/>
              </a:rPr>
              <a:t> </a:t>
            </a:r>
            <a:r>
              <a:rPr sz="1500" b="0" dirty="0" err="1">
                <a:solidFill>
                  <a:srgbClr val="16202A"/>
                </a:solidFill>
                <a:latin typeface="Arial"/>
              </a:rPr>
              <a:t>Summen</a:t>
            </a:r>
            <a:r>
              <a:rPr sz="1500" b="0" dirty="0">
                <a:solidFill>
                  <a:srgbClr val="16202A"/>
                </a:solidFill>
                <a:latin typeface="Arial"/>
              </a:rPr>
              <a:t>, </a:t>
            </a:r>
            <a:r>
              <a:rPr sz="1500" b="0" dirty="0" err="1">
                <a:solidFill>
                  <a:srgbClr val="16202A"/>
                </a:solidFill>
                <a:latin typeface="Arial"/>
              </a:rPr>
              <a:t>spätere</a:t>
            </a:r>
            <a:r>
              <a:rPr sz="1500" b="0" dirty="0">
                <a:solidFill>
                  <a:srgbClr val="16202A"/>
                </a:solidFill>
                <a:latin typeface="Arial"/>
              </a:rPr>
              <a:t> </a:t>
            </a:r>
            <a:r>
              <a:rPr sz="1500" b="0" dirty="0" err="1">
                <a:solidFill>
                  <a:srgbClr val="16202A"/>
                </a:solidFill>
                <a:latin typeface="Arial"/>
              </a:rPr>
              <a:t>Rückforderungen</a:t>
            </a:r>
            <a:r>
              <a:rPr sz="1500" b="0" dirty="0">
                <a:solidFill>
                  <a:srgbClr val="16202A"/>
                </a:solidFill>
                <a:latin typeface="Arial"/>
              </a:rPr>
              <a:t> </a:t>
            </a:r>
            <a:r>
              <a:rPr sz="1500" b="0" dirty="0" err="1">
                <a:solidFill>
                  <a:srgbClr val="16202A"/>
                </a:solidFill>
                <a:latin typeface="Arial"/>
              </a:rPr>
              <a:t>fehlen</a:t>
            </a:r>
            <a:r>
              <a:rPr sz="1500" b="0" dirty="0">
                <a:solidFill>
                  <a:srgbClr val="16202A"/>
                </a:solidFill>
                <a:latin typeface="Arial"/>
              </a:rPr>
              <a:t> </a:t>
            </a:r>
            <a:r>
              <a:rPr sz="1500" b="0" dirty="0" err="1">
                <a:solidFill>
                  <a:srgbClr val="16202A"/>
                </a:solidFill>
                <a:latin typeface="Arial"/>
              </a:rPr>
              <a:t>darin</a:t>
            </a:r>
            <a:r>
              <a:rPr sz="1500" b="0" dirty="0">
                <a:solidFill>
                  <a:srgbClr val="16202A"/>
                </a:solidFill>
                <a:latin typeface="Arial"/>
              </a:rPr>
              <a: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a:solidFill>
                  <a:srgbClr val="E6EDF3"/>
                </a:solidFill>
                <a:latin typeface="Consolas"/>
              </a:rPr>
              <a:t>vorgaenge.loc[:, "netto"] = (</a:t>
            </a:r>
          </a:p>
          <a:p>
            <a:pPr algn="l"/>
            <a:r>
              <a:rPr sz="1200">
                <a:solidFill>
                  <a:srgbClr val="E6EDF3"/>
                </a:solidFill>
                <a:latin typeface="Consolas"/>
              </a:rPr>
              <a:t>    vorgaenge.loc[:, "Summe von Zuwendungssumme"]</a:t>
            </a:r>
          </a:p>
          <a:p>
            <a:pPr algn="l"/>
            <a:r>
              <a:rPr sz="1200">
                <a:solidFill>
                  <a:srgbClr val="E6EDF3"/>
                </a:solidFill>
                <a:latin typeface="Consolas"/>
              </a:rPr>
              <a:t>    - vorgaenge.loc[:, "Summe von Rückforderungen"].fillna(0)</a:t>
            </a:r>
          </a:p>
          <a:p>
            <a:pPr algn="l"/>
            <a:r>
              <a:rPr sz="1200">
                <a:solidFill>
                  <a:srgbClr val="E6EDF3"/>
                </a:solidFill>
                <a:latin typeface="Consolas"/>
              </a:rPr>
              <a:t>)</a:t>
            </a:r>
          </a:p>
          <a:p>
            <a:pPr algn="l"/>
            <a:r>
              <a:rPr sz="1200">
                <a:solidFill>
                  <a:srgbClr val="E6EDF3"/>
                </a:solidFill>
                <a:latin typeface="Consolas"/>
              </a:rPr>
              <a:t>vorgaenge.loc[:, "netto"].sum()</a:t>
            </a:r>
          </a:p>
          <a:p>
            <a:pPr algn="l"/>
            <a:r>
              <a:rPr sz="1200">
                <a:solidFill>
                  <a:srgbClr val="E6EDF3"/>
                </a:solidFill>
                <a:latin typeface="Consolas"/>
              </a:rPr>
              <a:t># → 20.998.603.669 €  (21,00 Mrd netto, 10 Jahre)</a:t>
            </a:r>
          </a:p>
          <a:p>
            <a:pPr algn="l"/>
            <a:r>
              <a:rPr sz="1200">
                <a:solidFill>
                  <a:srgbClr val="E6EDF3"/>
                </a:solidFill>
                <a:latin typeface="Consolas"/>
              </a:rPr>
              <a:t>#   brutto 21,09 Mrd, Rückforderungen 93 Mio €</a:t>
            </a:r>
          </a:p>
          <a:p>
            <a:pPr algn="l"/>
            <a:r>
              <a:rPr sz="1200">
                <a:solidFill>
                  <a:srgbClr val="E6EDF3"/>
                </a:solidFill>
                <a:latin typeface="Consolas"/>
              </a:rPr>
              <a:t>#   2025: 0 € Rückforderungen, netto 2,62 Mrd</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Leer je Ebene: Rohzeilen 22,8 %, Vorgänge 30,3 %, 2025-Fälle 94,9 %. Meine Doku sagte anfangs „40 %“, das stimmte auf keiner Ebene (Hürde 5). Nach Erstjahr: 2015–2018 unter 1 % leer, 2022 39 %, 2025 94,9 %. Die 6.670 Rückforderungen (93 Mio €) stammen zu 98 % aus 2015–2022.</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3</a:t>
            </a:r>
          </a:p>
        </p:txBody>
      </p:sp>
      <p:sp>
        <p:nvSpPr>
          <p:cNvPr id="3" name="TextBox 2"/>
          <p:cNvSpPr txBox="1"/>
          <p:nvPr/>
        </p:nvSpPr>
        <p:spPr>
          <a:xfrm>
            <a:off x="640080" y="731520"/>
            <a:ext cx="10911535" cy="541110"/>
          </a:xfrm>
          <a:prstGeom prst="rect">
            <a:avLst/>
          </a:prstGeom>
          <a:noFill/>
        </p:spPr>
        <p:txBody>
          <a:bodyPr wrap="square" lIns="45720" tIns="27432" rIns="45720" bIns="27432" anchor="t">
            <a:spAutoFit/>
          </a:bodyPr>
          <a:lstStyle/>
          <a:p>
            <a:pPr algn="l">
              <a:lnSpc>
                <a:spcPct val="115000"/>
              </a:lnSpc>
            </a:pPr>
            <a:r>
              <a:rPr sz="3000" b="1" dirty="0">
                <a:solidFill>
                  <a:srgbClr val="16202A"/>
                </a:solidFill>
                <a:latin typeface="Arial"/>
              </a:rPr>
              <a:t>Welches Jahr </a:t>
            </a:r>
            <a:r>
              <a:rPr sz="3000" b="1" dirty="0" err="1">
                <a:solidFill>
                  <a:srgbClr val="16202A"/>
                </a:solidFill>
                <a:latin typeface="Arial"/>
              </a:rPr>
              <a:t>zählt</a:t>
            </a:r>
            <a:r>
              <a:rPr sz="3000" b="1" dirty="0">
                <a:solidFill>
                  <a:srgbClr val="16202A"/>
                </a:solidFill>
                <a:latin typeface="Arial"/>
              </a:rPr>
              <a:t> für </a:t>
            </a:r>
            <a:r>
              <a:rPr sz="3000" b="1" dirty="0" err="1">
                <a:solidFill>
                  <a:srgbClr val="16202A"/>
                </a:solidFill>
                <a:latin typeface="Arial"/>
              </a:rPr>
              <a:t>einen</a:t>
            </a:r>
            <a:r>
              <a:rPr sz="3000" b="1" dirty="0">
                <a:solidFill>
                  <a:srgbClr val="16202A"/>
                </a:solidFill>
                <a:latin typeface="Arial"/>
              </a:rPr>
              <a:t> </a:t>
            </a:r>
            <a:r>
              <a:rPr sz="3000" b="1" dirty="0" err="1">
                <a:solidFill>
                  <a:srgbClr val="16202A"/>
                </a:solidFill>
                <a:latin typeface="Arial"/>
              </a:rPr>
              <a:t>Förderfall</a:t>
            </a:r>
            <a:r>
              <a:rPr sz="3000" b="1" dirty="0">
                <a:solidFill>
                  <a:srgbClr val="16202A"/>
                </a:solidFill>
                <a:latin typeface="Arial"/>
              </a:rPr>
              <a: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Ein </a:t>
            </a:r>
            <a:r>
              <a:rPr sz="1500" b="0" dirty="0" err="1">
                <a:solidFill>
                  <a:srgbClr val="16202A"/>
                </a:solidFill>
                <a:latin typeface="Arial"/>
              </a:rPr>
              <a:t>Vorgang</a:t>
            </a:r>
            <a:r>
              <a:rPr sz="1500" b="0" dirty="0">
                <a:solidFill>
                  <a:srgbClr val="16202A"/>
                </a:solidFill>
                <a:latin typeface="Arial"/>
              </a:rPr>
              <a:t> hat </a:t>
            </a:r>
            <a:r>
              <a:rPr sz="1500" b="0" dirty="0" err="1">
                <a:solidFill>
                  <a:srgbClr val="16202A"/>
                </a:solidFill>
                <a:latin typeface="Arial"/>
              </a:rPr>
              <a:t>viele</a:t>
            </a:r>
            <a:r>
              <a:rPr sz="1500" b="0" dirty="0">
                <a:solidFill>
                  <a:srgbClr val="16202A"/>
                </a:solidFill>
                <a:latin typeface="Arial"/>
              </a:rPr>
              <a:t> </a:t>
            </a:r>
            <a:r>
              <a:rPr sz="1500" b="0" dirty="0" err="1">
                <a:solidFill>
                  <a:srgbClr val="16202A"/>
                </a:solidFill>
                <a:latin typeface="Arial"/>
              </a:rPr>
              <a:t>Bescheide</a:t>
            </a:r>
            <a:r>
              <a:rPr sz="1500" b="0" dirty="0">
                <a:solidFill>
                  <a:srgbClr val="16202A"/>
                </a:solidFill>
                <a:latin typeface="Arial"/>
              </a:rPr>
              <a:t> </a:t>
            </a:r>
            <a:r>
              <a:rPr sz="1500" b="0" dirty="0" err="1">
                <a:solidFill>
                  <a:srgbClr val="16202A"/>
                </a:solidFill>
                <a:latin typeface="Arial"/>
              </a:rPr>
              <a:t>über</a:t>
            </a:r>
            <a:r>
              <a:rPr sz="1500" b="0" dirty="0">
                <a:solidFill>
                  <a:srgbClr val="16202A"/>
                </a:solidFill>
                <a:latin typeface="Arial"/>
              </a:rPr>
              <a:t> </a:t>
            </a:r>
            <a:r>
              <a:rPr sz="1500" b="0" dirty="0" err="1">
                <a:solidFill>
                  <a:srgbClr val="16202A"/>
                </a:solidFill>
                <a:latin typeface="Arial"/>
              </a:rPr>
              <a:t>mehrere</a:t>
            </a:r>
            <a:r>
              <a:rPr sz="1500" b="0" dirty="0">
                <a:solidFill>
                  <a:srgbClr val="16202A"/>
                </a:solidFill>
                <a:latin typeface="Arial"/>
              </a:rPr>
              <a:t> Jahre und </a:t>
            </a:r>
            <a:r>
              <a:rPr sz="1500" b="0" dirty="0" err="1">
                <a:solidFill>
                  <a:srgbClr val="16202A"/>
                </a:solidFill>
                <a:latin typeface="Arial"/>
              </a:rPr>
              <a:t>einen</a:t>
            </a:r>
            <a:r>
              <a:rPr sz="1500" b="0" dirty="0">
                <a:solidFill>
                  <a:srgbClr val="16202A"/>
                </a:solidFill>
                <a:latin typeface="Arial"/>
              </a:rPr>
              <a:t> </a:t>
            </a:r>
            <a:r>
              <a:rPr sz="1500" b="0" dirty="0" err="1">
                <a:solidFill>
                  <a:srgbClr val="16202A"/>
                </a:solidFill>
                <a:latin typeface="Arial"/>
              </a:rPr>
              <a:t>Zuwendungszeitraum</a:t>
            </a:r>
            <a:r>
              <a:rPr sz="1500" b="0" dirty="0">
                <a:solidFill>
                  <a:srgbClr val="16202A"/>
                </a:solidFill>
                <a:latin typeface="Arial"/>
              </a:rPr>
              <a:t>, der </a:t>
            </a:r>
            <a:r>
              <a:rPr sz="1500" b="0" dirty="0" err="1">
                <a:solidFill>
                  <a:srgbClr val="16202A"/>
                </a:solidFill>
                <a:latin typeface="Arial"/>
              </a:rPr>
              <a:t>wieder</a:t>
            </a:r>
            <a:r>
              <a:rPr sz="1500" b="0" dirty="0">
                <a:solidFill>
                  <a:srgbClr val="16202A"/>
                </a:solidFill>
                <a:latin typeface="Arial"/>
              </a:rPr>
              <a:t> </a:t>
            </a:r>
            <a:r>
              <a:rPr sz="1500" b="0" dirty="0" err="1">
                <a:solidFill>
                  <a:srgbClr val="16202A"/>
                </a:solidFill>
                <a:latin typeface="Arial"/>
              </a:rPr>
              <a:t>etwas</a:t>
            </a:r>
            <a:r>
              <a:rPr sz="1500" b="0" dirty="0">
                <a:solidFill>
                  <a:srgbClr val="16202A"/>
                </a:solidFill>
                <a:latin typeface="Arial"/>
              </a:rPr>
              <a:t> </a:t>
            </a:r>
            <a:r>
              <a:rPr sz="1500" b="0" dirty="0" err="1">
                <a:solidFill>
                  <a:srgbClr val="16202A"/>
                </a:solidFill>
                <a:latin typeface="Arial"/>
              </a:rPr>
              <a:t>anderes</a:t>
            </a:r>
            <a:r>
              <a:rPr sz="1500" b="0" dirty="0">
                <a:solidFill>
                  <a:srgbClr val="16202A"/>
                </a:solidFill>
                <a:latin typeface="Arial"/>
              </a:rPr>
              <a:t> </a:t>
            </a:r>
            <a:r>
              <a:rPr sz="1500" b="0" dirty="0" err="1">
                <a:solidFill>
                  <a:srgbClr val="16202A"/>
                </a:solidFill>
                <a:latin typeface="Arial"/>
              </a:rPr>
              <a:t>ist</a:t>
            </a:r>
            <a:r>
              <a:rPr sz="1500" b="0" dirty="0">
                <a:solidFill>
                  <a:srgbClr val="16202A"/>
                </a:solidFill>
                <a:latin typeface="Arial"/>
              </a:rPr>
              <a:t>. Nehme ich das Datum des </a:t>
            </a:r>
            <a:r>
              <a:rPr sz="1500" b="0" dirty="0" err="1">
                <a:solidFill>
                  <a:srgbClr val="16202A"/>
                </a:solidFill>
                <a:latin typeface="Arial"/>
              </a:rPr>
              <a:t>letzten</a:t>
            </a:r>
            <a:r>
              <a:rPr sz="1500" b="0" dirty="0">
                <a:solidFill>
                  <a:srgbClr val="16202A"/>
                </a:solidFill>
                <a:latin typeface="Arial"/>
              </a:rPr>
              <a:t> </a:t>
            </a:r>
            <a:r>
              <a:rPr sz="1500" b="0" dirty="0" err="1">
                <a:solidFill>
                  <a:srgbClr val="16202A"/>
                </a:solidFill>
                <a:latin typeface="Arial"/>
              </a:rPr>
              <a:t>Bescheids</a:t>
            </a:r>
            <a:r>
              <a:rPr sz="1500" b="0" dirty="0">
                <a:solidFill>
                  <a:srgbClr val="16202A"/>
                </a:solidFill>
                <a:latin typeface="Arial"/>
              </a:rPr>
              <a:t>, </a:t>
            </a:r>
            <a:r>
              <a:rPr sz="1500" b="0" dirty="0" err="1">
                <a:solidFill>
                  <a:srgbClr val="16202A"/>
                </a:solidFill>
                <a:latin typeface="Arial"/>
              </a:rPr>
              <a:t>landet</a:t>
            </a:r>
            <a:r>
              <a:rPr sz="1500" b="0" dirty="0">
                <a:solidFill>
                  <a:srgbClr val="16202A"/>
                </a:solidFill>
                <a:latin typeface="Arial"/>
              </a:rPr>
              <a:t> </a:t>
            </a:r>
            <a:r>
              <a:rPr sz="1500" b="0" dirty="0" err="1">
                <a:solidFill>
                  <a:srgbClr val="16202A"/>
                </a:solidFill>
                <a:latin typeface="Arial"/>
              </a:rPr>
              <a:t>ein</a:t>
            </a:r>
            <a:r>
              <a:rPr sz="1500" b="0" dirty="0">
                <a:solidFill>
                  <a:srgbClr val="16202A"/>
                </a:solidFill>
                <a:latin typeface="Arial"/>
              </a:rPr>
              <a:t> Fall von 2019 </a:t>
            </a:r>
            <a:r>
              <a:rPr sz="1500" b="0" dirty="0" err="1">
                <a:solidFill>
                  <a:srgbClr val="16202A"/>
                </a:solidFill>
                <a:latin typeface="Arial"/>
              </a:rPr>
              <a:t>mit</a:t>
            </a:r>
            <a:r>
              <a:rPr sz="1500" b="0" dirty="0">
                <a:solidFill>
                  <a:srgbClr val="16202A"/>
                </a:solidFill>
                <a:latin typeface="Arial"/>
              </a:rPr>
              <a:t> </a:t>
            </a:r>
            <a:r>
              <a:rPr sz="1500" b="0" dirty="0" err="1">
                <a:solidFill>
                  <a:srgbClr val="16202A"/>
                </a:solidFill>
                <a:latin typeface="Arial"/>
              </a:rPr>
              <a:t>Änderung</a:t>
            </a:r>
            <a:r>
              <a:rPr sz="1500" b="0" dirty="0">
                <a:solidFill>
                  <a:srgbClr val="16202A"/>
                </a:solidFill>
                <a:latin typeface="Arial"/>
              </a:rPr>
              <a:t> 2025 </a:t>
            </a:r>
            <a:r>
              <a:rPr sz="1500" b="0" dirty="0" err="1">
                <a:solidFill>
                  <a:srgbClr val="16202A"/>
                </a:solidFill>
                <a:latin typeface="Arial"/>
              </a:rPr>
              <a:t>im</a:t>
            </a:r>
            <a:r>
              <a:rPr sz="1500" b="0" dirty="0">
                <a:solidFill>
                  <a:srgbClr val="16202A"/>
                </a:solidFill>
                <a:latin typeface="Arial"/>
              </a:rPr>
              <a:t> </a:t>
            </a:r>
            <a:r>
              <a:rPr sz="1500" b="0" dirty="0" err="1">
                <a:solidFill>
                  <a:srgbClr val="16202A"/>
                </a:solidFill>
                <a:latin typeface="Arial"/>
              </a:rPr>
              <a:t>falschen</a:t>
            </a:r>
            <a:r>
              <a:rPr sz="1500" b="0" dirty="0">
                <a:solidFill>
                  <a:srgbClr val="16202A"/>
                </a:solidFill>
                <a:latin typeface="Arial"/>
              </a:rPr>
              <a:t> Jahr.</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Ein Fall </a:t>
            </a:r>
            <a:r>
              <a:rPr sz="1500" b="0" dirty="0" err="1">
                <a:solidFill>
                  <a:srgbClr val="16202A"/>
                </a:solidFill>
                <a:latin typeface="Arial"/>
              </a:rPr>
              <a:t>zählt</a:t>
            </a:r>
            <a:r>
              <a:rPr sz="1500" b="0" dirty="0">
                <a:solidFill>
                  <a:srgbClr val="16202A"/>
                </a:solidFill>
                <a:latin typeface="Arial"/>
              </a:rPr>
              <a:t> </a:t>
            </a:r>
            <a:r>
              <a:rPr sz="1500" b="0" dirty="0" err="1">
                <a:solidFill>
                  <a:srgbClr val="16202A"/>
                </a:solidFill>
                <a:latin typeface="Arial"/>
              </a:rPr>
              <a:t>mit</a:t>
            </a:r>
            <a:r>
              <a:rPr sz="1500" b="0" dirty="0">
                <a:solidFill>
                  <a:srgbClr val="16202A"/>
                </a:solidFill>
                <a:latin typeface="Arial"/>
              </a:rPr>
              <a:t> </a:t>
            </a:r>
            <a:r>
              <a:rPr sz="1500" b="0" dirty="0" err="1">
                <a:solidFill>
                  <a:srgbClr val="16202A"/>
                </a:solidFill>
                <a:latin typeface="Arial"/>
              </a:rPr>
              <a:t>seinem</a:t>
            </a:r>
            <a:r>
              <a:rPr sz="1500" b="0" dirty="0">
                <a:solidFill>
                  <a:srgbClr val="16202A"/>
                </a:solidFill>
                <a:latin typeface="Arial"/>
              </a:rPr>
              <a:t> </a:t>
            </a:r>
            <a:r>
              <a:rPr sz="1500" b="0" dirty="0" err="1">
                <a:solidFill>
                  <a:srgbClr val="16202A"/>
                </a:solidFill>
                <a:latin typeface="Arial"/>
              </a:rPr>
              <a:t>heutigen</a:t>
            </a:r>
            <a:r>
              <a:rPr sz="1500" b="0" dirty="0">
                <a:solidFill>
                  <a:srgbClr val="16202A"/>
                </a:solidFill>
                <a:latin typeface="Arial"/>
              </a:rPr>
              <a:t> </a:t>
            </a:r>
            <a:r>
              <a:rPr sz="1500" b="0" dirty="0" err="1">
                <a:solidFill>
                  <a:srgbClr val="16202A"/>
                </a:solidFill>
                <a:latin typeface="Arial"/>
              </a:rPr>
              <a:t>Betrag</a:t>
            </a:r>
            <a:r>
              <a:rPr sz="1500" b="0" dirty="0">
                <a:solidFill>
                  <a:srgbClr val="16202A"/>
                </a:solidFill>
                <a:latin typeface="Arial"/>
              </a:rPr>
              <a:t> ins Jahr seines </a:t>
            </a:r>
            <a:r>
              <a:rPr sz="1500" b="0" dirty="0" err="1">
                <a:solidFill>
                  <a:srgbClr val="16202A"/>
                </a:solidFill>
                <a:latin typeface="Arial"/>
              </a:rPr>
              <a:t>ersten</a:t>
            </a:r>
            <a:r>
              <a:rPr sz="1500" b="0" dirty="0">
                <a:solidFill>
                  <a:srgbClr val="16202A"/>
                </a:solidFill>
                <a:latin typeface="Arial"/>
              </a:rPr>
              <a:t> </a:t>
            </a:r>
            <a:r>
              <a:rPr sz="1500" b="0" dirty="0" err="1">
                <a:solidFill>
                  <a:srgbClr val="16202A"/>
                </a:solidFill>
                <a:latin typeface="Arial"/>
              </a:rPr>
              <a:t>Bescheids</a:t>
            </a:r>
            <a:r>
              <a:rPr sz="1500" b="0" dirty="0">
                <a:solidFill>
                  <a:srgbClr val="16202A"/>
                </a:solidFill>
                <a:latin typeface="Arial"/>
              </a:rPr>
              <a:t>. </a:t>
            </a:r>
            <a:r>
              <a:rPr sz="1500" b="0" dirty="0" err="1">
                <a:solidFill>
                  <a:srgbClr val="16202A"/>
                </a:solidFill>
                <a:latin typeface="Arial"/>
              </a:rPr>
              <a:t>Dafür</a:t>
            </a:r>
            <a:r>
              <a:rPr sz="1500" b="0" dirty="0">
                <a:solidFill>
                  <a:srgbClr val="16202A"/>
                </a:solidFill>
                <a:latin typeface="Arial"/>
              </a:rPr>
              <a:t> pro </a:t>
            </a:r>
            <a:r>
              <a:rPr sz="1500" b="0" dirty="0" err="1">
                <a:solidFill>
                  <a:srgbClr val="16202A"/>
                </a:solidFill>
                <a:latin typeface="Arial"/>
              </a:rPr>
              <a:t>Vorgangsnummer</a:t>
            </a:r>
            <a:r>
              <a:rPr sz="1500" b="0" dirty="0">
                <a:solidFill>
                  <a:srgbClr val="16202A"/>
                </a:solidFill>
                <a:latin typeface="Arial"/>
              </a:rPr>
              <a:t> das </a:t>
            </a:r>
            <a:r>
              <a:rPr sz="1500" b="0" dirty="0" err="1">
                <a:solidFill>
                  <a:srgbClr val="16202A"/>
                </a:solidFill>
                <a:latin typeface="Arial"/>
              </a:rPr>
              <a:t>früheste</a:t>
            </a:r>
            <a:r>
              <a:rPr sz="1500" b="0" dirty="0">
                <a:solidFill>
                  <a:srgbClr val="16202A"/>
                </a:solidFill>
                <a:latin typeface="Arial"/>
              </a:rPr>
              <a:t> </a:t>
            </a:r>
            <a:r>
              <a:rPr sz="1500" b="0" dirty="0" err="1">
                <a:solidFill>
                  <a:srgbClr val="16202A"/>
                </a:solidFill>
                <a:latin typeface="Arial"/>
              </a:rPr>
              <a:t>Bescheiddatum</a:t>
            </a:r>
            <a:r>
              <a:rPr sz="1500" b="0" dirty="0">
                <a:solidFill>
                  <a:srgbClr val="16202A"/>
                </a:solidFill>
                <a:latin typeface="Arial"/>
              </a:rPr>
              <a:t> </a:t>
            </a:r>
            <a:r>
              <a:rPr sz="1500" b="0" dirty="0" err="1">
                <a:solidFill>
                  <a:srgbClr val="16202A"/>
                </a:solidFill>
                <a:latin typeface="Arial"/>
              </a:rPr>
              <a:t>suchen</a:t>
            </a:r>
            <a:r>
              <a:rPr sz="1500" b="0" dirty="0">
                <a:solidFill>
                  <a:srgbClr val="16202A"/>
                </a:solidFill>
                <a:latin typeface="Arial"/>
              </a:rPr>
              <a:t> (</a:t>
            </a:r>
            <a:r>
              <a:rPr sz="1500" b="0" dirty="0" err="1">
                <a:solidFill>
                  <a:srgbClr val="16202A"/>
                </a:solidFill>
                <a:latin typeface="Arial"/>
              </a:rPr>
              <a:t>groupby</a:t>
            </a:r>
            <a:r>
              <a:rPr sz="1500" b="0" dirty="0">
                <a:solidFill>
                  <a:srgbClr val="16202A"/>
                </a:solidFill>
                <a:latin typeface="Arial"/>
              </a:rPr>
              <a:t> + min), das Jahr </a:t>
            </a:r>
            <a:r>
              <a:rPr sz="1500" b="0" dirty="0" err="1">
                <a:solidFill>
                  <a:srgbClr val="16202A"/>
                </a:solidFill>
                <a:latin typeface="Arial"/>
              </a:rPr>
              <a:t>ziehen</a:t>
            </a:r>
            <a:r>
              <a:rPr sz="1500" b="0" dirty="0">
                <a:solidFill>
                  <a:srgbClr val="16202A"/>
                </a:solidFill>
                <a:latin typeface="Arial"/>
              </a:rPr>
              <a:t> und per map an </a:t>
            </a:r>
            <a:r>
              <a:rPr sz="1500" b="0" dirty="0" err="1">
                <a:solidFill>
                  <a:srgbClr val="16202A"/>
                </a:solidFill>
                <a:latin typeface="Arial"/>
              </a:rPr>
              <a:t>jeden</a:t>
            </a:r>
            <a:r>
              <a:rPr sz="1500" b="0" dirty="0">
                <a:solidFill>
                  <a:srgbClr val="16202A"/>
                </a:solidFill>
                <a:latin typeface="Arial"/>
              </a:rPr>
              <a:t> </a:t>
            </a:r>
            <a:r>
              <a:rPr sz="1500" b="0" dirty="0" err="1">
                <a:solidFill>
                  <a:srgbClr val="16202A"/>
                </a:solidFill>
                <a:latin typeface="Arial"/>
              </a:rPr>
              <a:t>Vorgang</a:t>
            </a:r>
            <a:r>
              <a:rPr sz="1500" b="0" dirty="0">
                <a:solidFill>
                  <a:srgbClr val="16202A"/>
                </a:solidFill>
                <a:latin typeface="Arial"/>
              </a:rPr>
              <a:t> </a:t>
            </a:r>
            <a:r>
              <a:rPr sz="1500" b="0" dirty="0" err="1">
                <a:solidFill>
                  <a:srgbClr val="16202A"/>
                </a:solidFill>
                <a:latin typeface="Arial"/>
              </a:rPr>
              <a:t>hängen</a:t>
            </a:r>
            <a:r>
              <a:rPr sz="1500" b="0" dirty="0">
                <a:solidFill>
                  <a:srgbClr val="16202A"/>
                </a:solidFill>
                <a:latin typeface="Arial"/>
              </a:rPr>
              <a:t>. </a:t>
            </a:r>
            <a:r>
              <a:rPr sz="1500" b="0" dirty="0" err="1">
                <a:solidFill>
                  <a:srgbClr val="16202A"/>
                </a:solidFill>
                <a:latin typeface="Arial"/>
              </a:rPr>
              <a:t>Ergebnis</a:t>
            </a:r>
            <a:r>
              <a:rPr sz="1500" b="0" dirty="0">
                <a:solidFill>
                  <a:srgbClr val="16202A"/>
                </a:solidFill>
                <a:latin typeface="Arial"/>
              </a:rPr>
              <a:t> für 2025: 3.980 </a:t>
            </a:r>
            <a:r>
              <a:rPr sz="1500" b="0" dirty="0" err="1">
                <a:solidFill>
                  <a:srgbClr val="16202A"/>
                </a:solidFill>
                <a:latin typeface="Arial"/>
              </a:rPr>
              <a:t>Fälle</a:t>
            </a:r>
            <a:r>
              <a:rPr sz="1500" b="0" dirty="0">
                <a:solidFill>
                  <a:srgbClr val="16202A"/>
                </a:solidFill>
                <a:latin typeface="Arial"/>
              </a:rPr>
              <a:t>, 2,62 </a:t>
            </a:r>
            <a:r>
              <a:rPr sz="1500" b="0" dirty="0" err="1">
                <a:solidFill>
                  <a:srgbClr val="16202A"/>
                </a:solidFill>
                <a:latin typeface="Arial"/>
              </a:rPr>
              <a:t>Mrd</a:t>
            </a:r>
            <a:r>
              <a:rPr sz="1500" b="0" dirty="0">
                <a:solidFill>
                  <a:srgbClr val="16202A"/>
                </a:solidFill>
                <a:latin typeface="Arial"/>
              </a:rPr>
              <a:t> €.</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64056"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erstjahr</a:t>
            </a:r>
            <a:r>
              <a:rPr sz="1200" dirty="0">
                <a:solidFill>
                  <a:srgbClr val="E6EDF3"/>
                </a:solidFill>
                <a:latin typeface="Consolas"/>
              </a:rPr>
              <a:t> = (</a:t>
            </a:r>
            <a:r>
              <a:rPr sz="1200" dirty="0" err="1">
                <a:solidFill>
                  <a:srgbClr val="E6EDF3"/>
                </a:solidFill>
                <a:latin typeface="Consolas"/>
              </a:rPr>
              <a:t>df.groupby</a:t>
            </a:r>
            <a:r>
              <a:rPr sz="1200" dirty="0">
                <a:solidFill>
                  <a:srgbClr val="E6EDF3"/>
                </a:solidFill>
                <a:latin typeface="Consolas"/>
              </a:rPr>
              <a:t>("INEZ-Nummer")["</a:t>
            </a:r>
            <a:r>
              <a:rPr sz="1200" dirty="0" err="1">
                <a:solidFill>
                  <a:srgbClr val="E6EDF3"/>
                </a:solidFill>
                <a:latin typeface="Consolas"/>
              </a:rPr>
              <a:t>Bescheiddatum</a:t>
            </a:r>
            <a:r>
              <a:rPr sz="1200" dirty="0">
                <a:solidFill>
                  <a:srgbClr val="E6EDF3"/>
                </a:solidFill>
                <a:latin typeface="Consolas"/>
              </a:rPr>
              <a:t>"]</a:t>
            </a:r>
          </a:p>
          <a:p>
            <a:pPr algn="l"/>
            <a:r>
              <a:rPr sz="1200" dirty="0">
                <a:solidFill>
                  <a:srgbClr val="E6EDF3"/>
                </a:solidFill>
                <a:latin typeface="Consolas"/>
              </a:rPr>
              <a:t>              .min().</a:t>
            </a:r>
            <a:r>
              <a:rPr sz="1200" dirty="0" err="1">
                <a:solidFill>
                  <a:srgbClr val="E6EDF3"/>
                </a:solidFill>
                <a:latin typeface="Consolas"/>
              </a:rPr>
              <a:t>dt.year</a:t>
            </a:r>
            <a:r>
              <a:rPr sz="1200" dirty="0">
                <a:solidFill>
                  <a:srgbClr val="E6EDF3"/>
                </a:solidFill>
                <a:latin typeface="Consolas"/>
              </a:rPr>
              <a:t>)</a:t>
            </a:r>
          </a:p>
          <a:p>
            <a:pPr algn="l"/>
            <a:r>
              <a:rPr sz="1200" dirty="0" err="1">
                <a:solidFill>
                  <a:srgbClr val="E6EDF3"/>
                </a:solidFill>
                <a:latin typeface="Consolas"/>
              </a:rPr>
              <a:t>vorgaenge.loc</a:t>
            </a:r>
            <a:r>
              <a:rPr sz="1200" dirty="0">
                <a:solidFill>
                  <a:srgbClr val="E6EDF3"/>
                </a:solidFill>
                <a:latin typeface="Consolas"/>
              </a:rPr>
              <a:t>[:, "</a:t>
            </a:r>
            <a:r>
              <a:rPr sz="1200" dirty="0" err="1">
                <a:solidFill>
                  <a:srgbClr val="E6EDF3"/>
                </a:solidFill>
                <a:latin typeface="Consolas"/>
              </a:rPr>
              <a:t>erstjahr</a:t>
            </a:r>
            <a:r>
              <a:rPr sz="1200" dirty="0">
                <a:solidFill>
                  <a:srgbClr val="E6EDF3"/>
                </a:solidFill>
                <a:latin typeface="Consolas"/>
              </a:rPr>
              <a:t>"] = (</a:t>
            </a:r>
          </a:p>
          <a:p>
            <a:pPr algn="l"/>
            <a:r>
              <a:rPr sz="1200" dirty="0">
                <a:solidFill>
                  <a:srgbClr val="E6EDF3"/>
                </a:solidFill>
                <a:latin typeface="Consolas"/>
              </a:rPr>
              <a:t>    </a:t>
            </a:r>
            <a:r>
              <a:rPr sz="1200" dirty="0" err="1">
                <a:solidFill>
                  <a:srgbClr val="E6EDF3"/>
                </a:solidFill>
                <a:latin typeface="Consolas"/>
              </a:rPr>
              <a:t>vorgaenge.loc</a:t>
            </a:r>
            <a:r>
              <a:rPr sz="1200" dirty="0">
                <a:solidFill>
                  <a:srgbClr val="E6EDF3"/>
                </a:solidFill>
                <a:latin typeface="Consolas"/>
              </a:rPr>
              <a:t>[:, "INEZ-Nummer"].map(</a:t>
            </a:r>
            <a:r>
              <a:rPr sz="1200" dirty="0" err="1">
                <a:solidFill>
                  <a:srgbClr val="E6EDF3"/>
                </a:solidFill>
                <a:latin typeface="Consolas"/>
              </a:rPr>
              <a:t>erstjahr</a:t>
            </a:r>
            <a:r>
              <a:rPr sz="1200" dirty="0">
                <a:solidFill>
                  <a:srgbClr val="E6EDF3"/>
                </a:solidFill>
                <a:latin typeface="Consolas"/>
              </a:rPr>
              <a:t>))</a:t>
            </a:r>
          </a:p>
          <a:p>
            <a:pPr algn="l"/>
            <a:endParaRPr sz="1200" dirty="0">
              <a:solidFill>
                <a:srgbClr val="E6EDF3"/>
              </a:solidFill>
              <a:latin typeface="Consolas"/>
            </a:endParaRPr>
          </a:p>
          <a:p>
            <a:pPr algn="l"/>
            <a:r>
              <a:rPr sz="1200" dirty="0">
                <a:solidFill>
                  <a:srgbClr val="E6EDF3"/>
                </a:solidFill>
                <a:latin typeface="Consolas"/>
              </a:rPr>
              <a:t>maske_2025 = </a:t>
            </a:r>
            <a:r>
              <a:rPr sz="1200" dirty="0" err="1">
                <a:solidFill>
                  <a:srgbClr val="E6EDF3"/>
                </a:solidFill>
                <a:latin typeface="Consolas"/>
              </a:rPr>
              <a:t>vorgaenge.loc</a:t>
            </a:r>
            <a:r>
              <a:rPr sz="1200" dirty="0">
                <a:solidFill>
                  <a:srgbClr val="E6EDF3"/>
                </a:solidFill>
                <a:latin typeface="Consolas"/>
              </a:rPr>
              <a:t>[:, "</a:t>
            </a:r>
            <a:r>
              <a:rPr sz="1200" dirty="0" err="1">
                <a:solidFill>
                  <a:srgbClr val="E6EDF3"/>
                </a:solidFill>
                <a:latin typeface="Consolas"/>
              </a:rPr>
              <a:t>erstjahr</a:t>
            </a:r>
            <a:r>
              <a:rPr sz="1200" dirty="0">
                <a:solidFill>
                  <a:srgbClr val="E6EDF3"/>
                </a:solidFill>
                <a:latin typeface="Consolas"/>
              </a:rPr>
              <a:t>"] == 2025</a:t>
            </a:r>
          </a:p>
          <a:p>
            <a:pPr algn="l"/>
            <a:r>
              <a:rPr sz="1200" dirty="0" err="1">
                <a:solidFill>
                  <a:srgbClr val="E6EDF3"/>
                </a:solidFill>
                <a:latin typeface="Consolas"/>
              </a:rPr>
              <a:t>jahr</a:t>
            </a:r>
            <a:r>
              <a:rPr sz="1200" dirty="0">
                <a:solidFill>
                  <a:srgbClr val="E6EDF3"/>
                </a:solidFill>
                <a:latin typeface="Consolas"/>
              </a:rPr>
              <a:t> = </a:t>
            </a:r>
            <a:r>
              <a:rPr sz="1200" dirty="0" err="1">
                <a:solidFill>
                  <a:srgbClr val="E6EDF3"/>
                </a:solidFill>
                <a:latin typeface="Consolas"/>
              </a:rPr>
              <a:t>vorgaenge.loc</a:t>
            </a:r>
            <a:r>
              <a:rPr sz="1200" dirty="0">
                <a:solidFill>
                  <a:srgbClr val="E6EDF3"/>
                </a:solidFill>
                <a:latin typeface="Consolas"/>
              </a:rPr>
              <a:t>[maske_2025, :].copy()</a:t>
            </a:r>
          </a:p>
          <a:p>
            <a:pPr algn="l"/>
            <a:r>
              <a:rPr sz="1200" dirty="0">
                <a:solidFill>
                  <a:srgbClr val="E6EDF3"/>
                </a:solidFill>
                <a:latin typeface="Consolas"/>
              </a:rPr>
              <a:t># → 3.980 </a:t>
            </a:r>
            <a:r>
              <a:rPr sz="1200" dirty="0" err="1">
                <a:solidFill>
                  <a:srgbClr val="E6EDF3"/>
                </a:solidFill>
                <a:latin typeface="Consolas"/>
              </a:rPr>
              <a:t>Fälle</a:t>
            </a:r>
            <a:r>
              <a:rPr sz="1200" dirty="0">
                <a:solidFill>
                  <a:srgbClr val="E6EDF3"/>
                </a:solidFill>
                <a:latin typeface="Consolas"/>
              </a:rPr>
              <a:t>, 2.616.008.624,65 €</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Die Formulierung auf der Kachel folgt daraus: „bewilligt 2025“, nie „ausgegeben 2025“. Ob das Geld abgerufen wurde, steht nicht in den Daten. Die Verteilung über die Jahre 2015 bis 2025 habe ich als Plausibilitätsprüfung ausgegeben.</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4</a:t>
            </a:r>
          </a:p>
        </p:txBody>
      </p:sp>
      <p:sp>
        <p:nvSpPr>
          <p:cNvPr id="3" name="TextBox 2"/>
          <p:cNvSpPr txBox="1"/>
          <p:nvPr/>
        </p:nvSpPr>
        <p:spPr>
          <a:xfrm>
            <a:off x="640080" y="731520"/>
            <a:ext cx="10911535" cy="541110"/>
          </a:xfrm>
          <a:prstGeom prst="rect">
            <a:avLst/>
          </a:prstGeom>
          <a:noFill/>
        </p:spPr>
        <p:txBody>
          <a:bodyPr wrap="square" lIns="45720" tIns="27432" rIns="45720" bIns="27432" anchor="t">
            <a:spAutoFit/>
          </a:bodyPr>
          <a:lstStyle/>
          <a:p>
            <a:pPr algn="l">
              <a:lnSpc>
                <a:spcPct val="115000"/>
              </a:lnSpc>
            </a:pPr>
            <a:r>
              <a:rPr lang="de-DE" sz="3000" b="1" dirty="0">
                <a:solidFill>
                  <a:srgbClr val="16202A"/>
                </a:solidFill>
                <a:latin typeface="Arial"/>
              </a:rPr>
              <a:t>fünf</a:t>
            </a:r>
            <a:r>
              <a:rPr sz="3000" b="1" dirty="0">
                <a:solidFill>
                  <a:srgbClr val="16202A"/>
                </a:solidFill>
                <a:latin typeface="Arial"/>
              </a:rPr>
              <a:t> </a:t>
            </a:r>
            <a:r>
              <a:rPr sz="3000" b="1" dirty="0" err="1">
                <a:solidFill>
                  <a:srgbClr val="16202A"/>
                </a:solidFill>
                <a:latin typeface="Arial"/>
              </a:rPr>
              <a:t>Empfänger</a:t>
            </a:r>
            <a:r>
              <a:rPr sz="3000" b="1" dirty="0">
                <a:solidFill>
                  <a:srgbClr val="16202A"/>
                </a:solidFill>
                <a:latin typeface="Arial"/>
              </a:rPr>
              <a:t> </a:t>
            </a:r>
            <a:r>
              <a:rPr sz="3000" b="1" dirty="0" err="1">
                <a:solidFill>
                  <a:srgbClr val="16202A"/>
                </a:solidFill>
                <a:latin typeface="Arial"/>
              </a:rPr>
              <a:t>haben</a:t>
            </a:r>
            <a:r>
              <a:rPr sz="3000" b="1" dirty="0">
                <a:solidFill>
                  <a:srgbClr val="16202A"/>
                </a:solidFill>
                <a:latin typeface="Arial"/>
              </a:rPr>
              <a:t> </a:t>
            </a:r>
            <a:r>
              <a:rPr sz="3000" b="1" dirty="0" err="1">
                <a:solidFill>
                  <a:srgbClr val="16202A"/>
                </a:solidFill>
                <a:latin typeface="Arial"/>
              </a:rPr>
              <a:t>keinen</a:t>
            </a:r>
            <a:r>
              <a:rPr sz="3000" b="1" dirty="0">
                <a:solidFill>
                  <a:srgbClr val="16202A"/>
                </a:solidFill>
                <a:latin typeface="Arial"/>
              </a:rPr>
              <a:t> Namen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094659"/>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In </a:t>
            </a:r>
            <a:r>
              <a:rPr lang="de-DE" sz="1500" b="0" dirty="0">
                <a:solidFill>
                  <a:srgbClr val="16202A"/>
                </a:solidFill>
                <a:latin typeface="Arial"/>
              </a:rPr>
              <a:t>fünf</a:t>
            </a:r>
            <a:r>
              <a:rPr sz="1500" b="0" dirty="0">
                <a:solidFill>
                  <a:srgbClr val="16202A"/>
                </a:solidFill>
                <a:latin typeface="Arial"/>
              </a:rPr>
              <a:t> </a:t>
            </a:r>
            <a:r>
              <a:rPr sz="1500" b="0" dirty="0" err="1">
                <a:solidFill>
                  <a:srgbClr val="16202A"/>
                </a:solidFill>
                <a:latin typeface="Arial"/>
              </a:rPr>
              <a:t>Fällen</a:t>
            </a:r>
            <a:r>
              <a:rPr sz="1500" b="0" dirty="0">
                <a:solidFill>
                  <a:srgbClr val="16202A"/>
                </a:solidFill>
                <a:latin typeface="Arial"/>
              </a:rPr>
              <a:t> </a:t>
            </a:r>
            <a:r>
              <a:rPr sz="1500" b="0" dirty="0" err="1">
                <a:solidFill>
                  <a:srgbClr val="16202A"/>
                </a:solidFill>
                <a:latin typeface="Arial"/>
              </a:rPr>
              <a:t>steht</a:t>
            </a:r>
            <a:r>
              <a:rPr sz="1500" b="0" dirty="0">
                <a:solidFill>
                  <a:srgbClr val="16202A"/>
                </a:solidFill>
                <a:latin typeface="Arial"/>
              </a:rPr>
              <a:t> </a:t>
            </a:r>
            <a:r>
              <a:rPr sz="1500" b="0" dirty="0" err="1">
                <a:solidFill>
                  <a:srgbClr val="16202A"/>
                </a:solidFill>
                <a:latin typeface="Arial"/>
              </a:rPr>
              <a:t>im</a:t>
            </a:r>
            <a:r>
              <a:rPr sz="1500" b="0" dirty="0">
                <a:solidFill>
                  <a:srgbClr val="16202A"/>
                </a:solidFill>
                <a:latin typeface="Arial"/>
              </a:rPr>
              <a:t> Feld „</a:t>
            </a:r>
            <a:r>
              <a:rPr sz="1500" b="0" dirty="0" err="1">
                <a:solidFill>
                  <a:srgbClr val="16202A"/>
                </a:solidFill>
                <a:latin typeface="Arial"/>
              </a:rPr>
              <a:t>Zuwendungsempfänger</a:t>
            </a:r>
            <a:r>
              <a:rPr sz="1500" b="0" dirty="0">
                <a:solidFill>
                  <a:srgbClr val="16202A"/>
                </a:solidFill>
                <a:latin typeface="Arial"/>
              </a:rPr>
              <a:t>“ </a:t>
            </a:r>
            <a:r>
              <a:rPr sz="1500" b="0" dirty="0" err="1">
                <a:solidFill>
                  <a:srgbClr val="16202A"/>
                </a:solidFill>
                <a:latin typeface="Arial"/>
              </a:rPr>
              <a:t>nur</a:t>
            </a:r>
            <a:r>
              <a:rPr sz="1500" b="0" dirty="0">
                <a:solidFill>
                  <a:srgbClr val="16202A"/>
                </a:solidFill>
                <a:latin typeface="Arial"/>
              </a:rPr>
              <a:t> das Wort „</a:t>
            </a:r>
            <a:r>
              <a:rPr sz="1500" b="0" dirty="0" err="1">
                <a:solidFill>
                  <a:srgbClr val="16202A"/>
                </a:solidFill>
                <a:latin typeface="Arial"/>
              </a:rPr>
              <a:t>Vereinsregister</a:t>
            </a:r>
            <a:r>
              <a:rPr sz="1500" b="0" dirty="0">
                <a:solidFill>
                  <a:srgbClr val="16202A"/>
                </a:solidFill>
                <a:latin typeface="Arial"/>
              </a:rPr>
              <a:t>“. </a:t>
            </a:r>
            <a:r>
              <a:rPr sz="1500" b="0" dirty="0" err="1">
                <a:solidFill>
                  <a:srgbClr val="16202A"/>
                </a:solidFill>
                <a:latin typeface="Arial"/>
              </a:rPr>
              <a:t>Unbehandelt</a:t>
            </a:r>
            <a:r>
              <a:rPr sz="1500" b="0" dirty="0">
                <a:solidFill>
                  <a:srgbClr val="16202A"/>
                </a:solidFill>
                <a:latin typeface="Arial"/>
              </a:rPr>
              <a:t> </a:t>
            </a:r>
            <a:r>
              <a:rPr sz="1500" b="0" dirty="0" err="1">
                <a:solidFill>
                  <a:srgbClr val="16202A"/>
                </a:solidFill>
                <a:latin typeface="Arial"/>
              </a:rPr>
              <a:t>verschmelzen</a:t>
            </a:r>
            <a:r>
              <a:rPr sz="1500" b="0" dirty="0">
                <a:solidFill>
                  <a:srgbClr val="16202A"/>
                </a:solidFill>
                <a:latin typeface="Arial"/>
              </a:rPr>
              <a:t> </a:t>
            </a:r>
            <a:r>
              <a:rPr sz="1500" b="0" dirty="0" err="1">
                <a:solidFill>
                  <a:srgbClr val="16202A"/>
                </a:solidFill>
                <a:latin typeface="Arial"/>
              </a:rPr>
              <a:t>beide</a:t>
            </a:r>
            <a:r>
              <a:rPr sz="1500" b="0" dirty="0">
                <a:solidFill>
                  <a:srgbClr val="16202A"/>
                </a:solidFill>
                <a:latin typeface="Arial"/>
              </a:rPr>
              <a:t> </a:t>
            </a:r>
            <a:r>
              <a:rPr sz="1500" b="0" dirty="0" err="1">
                <a:solidFill>
                  <a:srgbClr val="16202A"/>
                </a:solidFill>
                <a:latin typeface="Arial"/>
              </a:rPr>
              <a:t>beim</a:t>
            </a:r>
            <a:r>
              <a:rPr sz="1500" b="0" dirty="0">
                <a:solidFill>
                  <a:srgbClr val="16202A"/>
                </a:solidFill>
                <a:latin typeface="Arial"/>
              </a:rPr>
              <a:t> </a:t>
            </a:r>
            <a:r>
              <a:rPr sz="1500" b="0" dirty="0" err="1">
                <a:solidFill>
                  <a:srgbClr val="16202A"/>
                </a:solidFill>
                <a:latin typeface="Arial"/>
              </a:rPr>
              <a:t>Gruppieren</a:t>
            </a:r>
            <a:r>
              <a:rPr sz="1500" b="0" dirty="0">
                <a:solidFill>
                  <a:srgbClr val="16202A"/>
                </a:solidFill>
                <a:latin typeface="Arial"/>
              </a:rPr>
              <a:t> </a:t>
            </a:r>
            <a:r>
              <a:rPr sz="1500" b="0" dirty="0" err="1">
                <a:solidFill>
                  <a:srgbClr val="16202A"/>
                </a:solidFill>
                <a:latin typeface="Arial"/>
              </a:rPr>
              <a:t>zu</a:t>
            </a:r>
            <a:r>
              <a:rPr sz="1500" b="0" dirty="0">
                <a:solidFill>
                  <a:srgbClr val="16202A"/>
                </a:solidFill>
                <a:latin typeface="Arial"/>
              </a:rPr>
              <a:t> </a:t>
            </a:r>
            <a:r>
              <a:rPr sz="1500" b="0" dirty="0" err="1">
                <a:solidFill>
                  <a:srgbClr val="16202A"/>
                </a:solidFill>
                <a:latin typeface="Arial"/>
              </a:rPr>
              <a:t>einem</a:t>
            </a:r>
            <a:r>
              <a:rPr sz="1500" b="0" dirty="0">
                <a:solidFill>
                  <a:srgbClr val="16202A"/>
                </a:solidFill>
                <a:latin typeface="Arial"/>
              </a:rPr>
              <a:t> </a:t>
            </a:r>
            <a:r>
              <a:rPr sz="1500" b="0" dirty="0" err="1">
                <a:solidFill>
                  <a:srgbClr val="16202A"/>
                </a:solidFill>
                <a:latin typeface="Arial"/>
              </a:rPr>
              <a:t>einzigen</a:t>
            </a:r>
            <a:r>
              <a:rPr sz="1500" b="0" dirty="0">
                <a:solidFill>
                  <a:srgbClr val="16202A"/>
                </a:solidFill>
                <a:latin typeface="Arial"/>
              </a:rPr>
              <a:t> </a:t>
            </a:r>
            <a:r>
              <a:rPr sz="1500" b="0" dirty="0" err="1">
                <a:solidFill>
                  <a:srgbClr val="16202A"/>
                </a:solidFill>
                <a:latin typeface="Arial"/>
              </a:rPr>
              <a:t>Riesenempfänger</a:t>
            </a:r>
            <a:r>
              <a:rPr sz="1500" b="0" dirty="0">
                <a:solidFill>
                  <a:srgbClr val="16202A"/>
                </a:solidFill>
                <a:latin typeface="Arial"/>
              </a:rPr>
              <a:t> </a:t>
            </a:r>
            <a:r>
              <a:rPr sz="1500" b="0" dirty="0" err="1">
                <a:solidFill>
                  <a:srgbClr val="16202A"/>
                </a:solidFill>
                <a:latin typeface="Arial"/>
              </a:rPr>
              <a:t>mit</a:t>
            </a:r>
            <a:r>
              <a:rPr sz="1500" b="0" dirty="0">
                <a:solidFill>
                  <a:srgbClr val="16202A"/>
                </a:solidFill>
                <a:latin typeface="Arial"/>
              </a:rPr>
              <a:t> 9</a:t>
            </a:r>
            <a:r>
              <a:rPr lang="de-DE" sz="1500" b="0" dirty="0">
                <a:solidFill>
                  <a:srgbClr val="16202A"/>
                </a:solidFill>
                <a:latin typeface="Arial"/>
              </a:rPr>
              <a:t>,4</a:t>
            </a:r>
            <a:r>
              <a:rPr sz="1500" b="0" dirty="0">
                <a:solidFill>
                  <a:srgbClr val="16202A"/>
                </a:solidFill>
                <a:latin typeface="Arial"/>
              </a:rPr>
              <a:t> Mio €.</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360116"/>
          </a:xfrm>
          <a:prstGeom prst="rect">
            <a:avLst/>
          </a:prstGeom>
          <a:noFill/>
        </p:spPr>
        <p:txBody>
          <a:bodyPr wrap="square" lIns="45720" tIns="27432" rIns="45720" bIns="27432" anchor="t">
            <a:spAutoFit/>
          </a:bodyPr>
          <a:lstStyle/>
          <a:p>
            <a:pPr>
              <a:lnSpc>
                <a:spcPct val="115000"/>
              </a:lnSpc>
            </a:pPr>
            <a:r>
              <a:rPr lang="de-DE" sz="1500" dirty="0">
                <a:solidFill>
                  <a:srgbClr val="16202A"/>
                </a:solidFill>
                <a:latin typeface="Arial"/>
              </a:rPr>
              <a:t> Ich markiere die Zeilen, in denen als Empfänger nur „Vereinsregister“ steht, und hänge dort die Vorgangsnummer an. So bleiben es zwei getrennte Empfänger. Wer dahintersteht, lässt sich nicht ermitteln. Statt zu raten, habe ich beziffert, wie viel das ausmacht</a:t>
            </a:r>
            <a:r>
              <a:rPr sz="1500" b="0" dirty="0">
                <a:solidFill>
                  <a:srgbClr val="16202A"/>
                </a:solidFill>
                <a:latin typeface="Arial"/>
              </a:rPr>
              <a: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a:solidFill>
                  <a:srgbClr val="E6EDF3"/>
                </a:solidFill>
                <a:latin typeface="Consolas"/>
              </a:rPr>
              <a:t>maske_vr = jahr.loc[:, "Zuwendungsempfänger"] == "Vereinsregister"</a:t>
            </a:r>
          </a:p>
          <a:p>
            <a:pPr algn="l"/>
            <a:r>
              <a:rPr sz="1200">
                <a:solidFill>
                  <a:srgbClr val="E6EDF3"/>
                </a:solidFill>
                <a:latin typeface="Consolas"/>
              </a:rPr>
              <a:t>jahr.loc[maske_vr, ["Zuwendungszweck", "Behörde", "netto"]]</a:t>
            </a:r>
          </a:p>
          <a:p>
            <a:pPr algn="l"/>
            <a:endParaRPr sz="1200">
              <a:solidFill>
                <a:srgbClr val="E6EDF3"/>
              </a:solidFill>
              <a:latin typeface="Consolas"/>
            </a:endParaRPr>
          </a:p>
          <a:p>
            <a:pPr algn="l"/>
            <a:r>
              <a:rPr sz="1200">
                <a:solidFill>
                  <a:srgbClr val="E6EDF3"/>
                </a:solidFill>
                <a:latin typeface="Consolas"/>
              </a:rPr>
              <a:t>jahr.loc[maske_vr, "Zuwendungsempfänger"] = (</a:t>
            </a:r>
          </a:p>
          <a:p>
            <a:pPr algn="l"/>
            <a:r>
              <a:rPr sz="1200">
                <a:solidFill>
                  <a:srgbClr val="E6EDF3"/>
                </a:solidFill>
                <a:latin typeface="Consolas"/>
              </a:rPr>
              <a:t>    "Vereinsregister " + jahr.loc[maske_vr, "INEZ-Nummer"])</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726033"/>
          </a:xfrm>
          <a:prstGeom prst="rect">
            <a:avLst/>
          </a:prstGeom>
          <a:noFill/>
        </p:spPr>
        <p:txBody>
          <a:bodyPr wrap="square" lIns="45720" tIns="27432" rIns="45720" bIns="27432" anchor="t">
            <a:spAutoFit/>
          </a:bodyPr>
          <a:lstStyle/>
          <a:p>
            <a:pPr algn="l">
              <a:lnSpc>
                <a:spcPct val="115000"/>
              </a:lnSpc>
            </a:pPr>
            <a:r>
              <a:rPr sz="1300" b="0" dirty="0">
                <a:solidFill>
                  <a:srgbClr val="55677A"/>
                </a:solidFill>
                <a:latin typeface="Arial"/>
              </a:rPr>
              <a:t>Rang 35 </a:t>
            </a:r>
            <a:r>
              <a:rPr sz="1300" b="0" dirty="0" err="1">
                <a:solidFill>
                  <a:srgbClr val="55677A"/>
                </a:solidFill>
                <a:latin typeface="Arial"/>
              </a:rPr>
              <a:t>mit</a:t>
            </a:r>
            <a:r>
              <a:rPr sz="1300" b="0" dirty="0">
                <a:solidFill>
                  <a:srgbClr val="55677A"/>
                </a:solidFill>
                <a:latin typeface="Arial"/>
              </a:rPr>
              <a:t> 5,5 Mio € (0,21 %) und Rang 48 </a:t>
            </a:r>
            <a:r>
              <a:rPr sz="1300" b="0" dirty="0" err="1">
                <a:solidFill>
                  <a:srgbClr val="55677A"/>
                </a:solidFill>
                <a:latin typeface="Arial"/>
              </a:rPr>
              <a:t>mit</a:t>
            </a:r>
            <a:r>
              <a:rPr sz="1300" b="0" dirty="0">
                <a:solidFill>
                  <a:srgbClr val="55677A"/>
                </a:solidFill>
                <a:latin typeface="Arial"/>
              </a:rPr>
              <a:t> 3,5 Mio € (0,13 %), </a:t>
            </a:r>
            <a:r>
              <a:rPr sz="1300" b="0" dirty="0" err="1">
                <a:solidFill>
                  <a:srgbClr val="55677A"/>
                </a:solidFill>
                <a:latin typeface="Arial"/>
              </a:rPr>
              <a:t>zusammen</a:t>
            </a:r>
            <a:r>
              <a:rPr sz="1300" b="0" dirty="0">
                <a:solidFill>
                  <a:srgbClr val="55677A"/>
                </a:solidFill>
                <a:latin typeface="Arial"/>
              </a:rPr>
              <a:t> 0,3</a:t>
            </a:r>
            <a:r>
              <a:rPr lang="de-DE" sz="1300" b="0">
                <a:solidFill>
                  <a:srgbClr val="55677A"/>
                </a:solidFill>
                <a:latin typeface="Arial"/>
              </a:rPr>
              <a:t>6</a:t>
            </a:r>
            <a:r>
              <a:rPr sz="1300" b="0">
                <a:solidFill>
                  <a:srgbClr val="55677A"/>
                </a:solidFill>
                <a:latin typeface="Arial"/>
              </a:rPr>
              <a:t> % der Summe. </a:t>
            </a:r>
            <a:r>
              <a:rPr sz="1300" b="0" dirty="0">
                <a:solidFill>
                  <a:srgbClr val="55677A"/>
                </a:solidFill>
                <a:latin typeface="Arial"/>
              </a:rPr>
              <a:t>Selbst </a:t>
            </a:r>
            <a:r>
              <a:rPr sz="1300" b="0" dirty="0" err="1">
                <a:solidFill>
                  <a:srgbClr val="55677A"/>
                </a:solidFill>
                <a:latin typeface="Arial"/>
              </a:rPr>
              <a:t>wenn</a:t>
            </a:r>
            <a:r>
              <a:rPr sz="1300" b="0" dirty="0">
                <a:solidFill>
                  <a:srgbClr val="55677A"/>
                </a:solidFill>
                <a:latin typeface="Arial"/>
              </a:rPr>
              <a:t> </a:t>
            </a:r>
            <a:r>
              <a:rPr sz="1300" b="0" dirty="0" err="1">
                <a:solidFill>
                  <a:srgbClr val="55677A"/>
                </a:solidFill>
                <a:latin typeface="Arial"/>
              </a:rPr>
              <a:t>beide</a:t>
            </a:r>
            <a:r>
              <a:rPr sz="1300" b="0" dirty="0">
                <a:solidFill>
                  <a:srgbClr val="55677A"/>
                </a:solidFill>
                <a:latin typeface="Arial"/>
              </a:rPr>
              <a:t> </a:t>
            </a:r>
            <a:r>
              <a:rPr sz="1300" b="0" dirty="0" err="1">
                <a:solidFill>
                  <a:srgbClr val="55677A"/>
                </a:solidFill>
                <a:latin typeface="Arial"/>
              </a:rPr>
              <a:t>städtisch</a:t>
            </a:r>
            <a:r>
              <a:rPr sz="1300" b="0" dirty="0">
                <a:solidFill>
                  <a:srgbClr val="55677A"/>
                </a:solidFill>
                <a:latin typeface="Arial"/>
              </a:rPr>
              <a:t> </a:t>
            </a:r>
            <a:r>
              <a:rPr sz="1300" b="0" dirty="0" err="1">
                <a:solidFill>
                  <a:srgbClr val="55677A"/>
                </a:solidFill>
                <a:latin typeface="Arial"/>
              </a:rPr>
              <a:t>wären</a:t>
            </a:r>
            <a:r>
              <a:rPr sz="1300" b="0" dirty="0">
                <a:solidFill>
                  <a:srgbClr val="55677A"/>
                </a:solidFill>
                <a:latin typeface="Arial"/>
              </a:rPr>
              <a:t>, </a:t>
            </a:r>
            <a:r>
              <a:rPr sz="1300" b="0" dirty="0" err="1">
                <a:solidFill>
                  <a:srgbClr val="55677A"/>
                </a:solidFill>
                <a:latin typeface="Arial"/>
              </a:rPr>
              <a:t>ginge</a:t>
            </a:r>
            <a:r>
              <a:rPr sz="1300" b="0" dirty="0">
                <a:solidFill>
                  <a:srgbClr val="55677A"/>
                </a:solidFill>
                <a:latin typeface="Arial"/>
              </a:rPr>
              <a:t> die </a:t>
            </a:r>
            <a:r>
              <a:rPr sz="1300" b="0" dirty="0" err="1">
                <a:solidFill>
                  <a:srgbClr val="55677A"/>
                </a:solidFill>
                <a:latin typeface="Arial"/>
              </a:rPr>
              <a:t>Kachelzahl</a:t>
            </a:r>
            <a:r>
              <a:rPr sz="1300" b="0" dirty="0">
                <a:solidFill>
                  <a:srgbClr val="55677A"/>
                </a:solidFill>
                <a:latin typeface="Arial"/>
              </a:rPr>
              <a:t> von 80,31 % auf 80,65 %. Das </a:t>
            </a:r>
            <a:r>
              <a:rPr sz="1300" b="0" dirty="0" err="1">
                <a:solidFill>
                  <a:srgbClr val="55677A"/>
                </a:solidFill>
                <a:latin typeface="Arial"/>
              </a:rPr>
              <a:t>Ergebnis</a:t>
            </a:r>
            <a:r>
              <a:rPr sz="1300" b="0" dirty="0">
                <a:solidFill>
                  <a:srgbClr val="55677A"/>
                </a:solidFill>
                <a:latin typeface="Arial"/>
              </a:rPr>
              <a:t> </a:t>
            </a:r>
            <a:r>
              <a:rPr sz="1300" b="0" dirty="0" err="1">
                <a:solidFill>
                  <a:srgbClr val="55677A"/>
                </a:solidFill>
                <a:latin typeface="Arial"/>
              </a:rPr>
              <a:t>trägt</a:t>
            </a:r>
            <a:r>
              <a:rPr sz="1300" b="0" dirty="0">
                <a:solidFill>
                  <a:srgbClr val="55677A"/>
                </a:solidFill>
                <a:latin typeface="Arial"/>
              </a:rPr>
              <a:t> die </a:t>
            </a:r>
            <a:r>
              <a:rPr sz="1300" b="0" dirty="0" err="1">
                <a:solidFill>
                  <a:srgbClr val="55677A"/>
                </a:solidFill>
                <a:latin typeface="Arial"/>
              </a:rPr>
              <a:t>Lücke</a:t>
            </a:r>
            <a:r>
              <a:rPr sz="1300" b="0" dirty="0">
                <a:solidFill>
                  <a:srgbClr val="55677A"/>
                </a:solidFill>
                <a:latin typeface="Arial"/>
              </a:rPr>
              <a:t>.</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5</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Träger steht viermal in den Daten</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87641"/>
          </a:xfrm>
          <a:prstGeom prst="rect">
            <a:avLst/>
          </a:prstGeom>
          <a:noFill/>
        </p:spPr>
        <p:txBody>
          <a:bodyPr wrap="square" lIns="45720" tIns="27432" rIns="45720" bIns="27432" anchor="t">
            <a:spAutoFit/>
          </a:bodyPr>
          <a:lstStyle/>
          <a:p>
            <a:pPr>
              <a:lnSpc>
                <a:spcPct val="115000"/>
              </a:lnSpc>
            </a:pPr>
            <a:r>
              <a:rPr sz="1500" b="0" dirty="0">
                <a:solidFill>
                  <a:srgbClr val="16202A"/>
                </a:solidFill>
                <a:latin typeface="Arial"/>
              </a:rPr>
              <a:t>Ich </a:t>
            </a:r>
            <a:r>
              <a:rPr sz="1500" b="0" dirty="0" err="1">
                <a:solidFill>
                  <a:srgbClr val="16202A"/>
                </a:solidFill>
                <a:latin typeface="Arial"/>
              </a:rPr>
              <a:t>hatte</a:t>
            </a:r>
            <a:r>
              <a:rPr sz="1500" b="0" dirty="0">
                <a:solidFill>
                  <a:srgbClr val="16202A"/>
                </a:solidFill>
                <a:latin typeface="Arial"/>
              </a:rPr>
              <a:t> </a:t>
            </a:r>
            <a:r>
              <a:rPr sz="1500" b="0" dirty="0" err="1">
                <a:solidFill>
                  <a:srgbClr val="16202A"/>
                </a:solidFill>
                <a:latin typeface="Arial"/>
              </a:rPr>
              <a:t>über</a:t>
            </a:r>
            <a:r>
              <a:rPr sz="1500" b="0" dirty="0">
                <a:solidFill>
                  <a:srgbClr val="16202A"/>
                </a:solidFill>
                <a:latin typeface="Arial"/>
              </a:rPr>
              <a:t> </a:t>
            </a:r>
            <a:r>
              <a:rPr sz="1500" b="0" dirty="0" err="1">
                <a:solidFill>
                  <a:srgbClr val="16202A"/>
                </a:solidFill>
                <a:latin typeface="Arial"/>
              </a:rPr>
              <a:t>rohe</a:t>
            </a:r>
            <a:r>
              <a:rPr sz="1500" b="0" dirty="0">
                <a:solidFill>
                  <a:srgbClr val="16202A"/>
                </a:solidFill>
                <a:latin typeface="Arial"/>
              </a:rPr>
              <a:t> Namen </a:t>
            </a:r>
            <a:r>
              <a:rPr sz="1500" b="0" dirty="0" err="1">
                <a:solidFill>
                  <a:srgbClr val="16202A"/>
                </a:solidFill>
                <a:latin typeface="Arial"/>
              </a:rPr>
              <a:t>gruppiert</a:t>
            </a:r>
            <a:r>
              <a:rPr sz="1500" b="0" dirty="0">
                <a:solidFill>
                  <a:srgbClr val="16202A"/>
                </a:solidFill>
                <a:latin typeface="Arial"/>
              </a:rPr>
              <a:t>. Der Träger Basis &amp; Woge stand </a:t>
            </a:r>
            <a:r>
              <a:rPr sz="1500" b="0" dirty="0" err="1">
                <a:solidFill>
                  <a:srgbClr val="16202A"/>
                </a:solidFill>
                <a:latin typeface="Arial"/>
              </a:rPr>
              <a:t>unter</a:t>
            </a:r>
            <a:r>
              <a:rPr sz="1500" b="0" dirty="0">
                <a:solidFill>
                  <a:srgbClr val="16202A"/>
                </a:solidFill>
                <a:latin typeface="Arial"/>
              </a:rPr>
              <a:t> vier </a:t>
            </a:r>
            <a:r>
              <a:rPr sz="1500" b="0" dirty="0" err="1">
                <a:solidFill>
                  <a:srgbClr val="16202A"/>
                </a:solidFill>
                <a:latin typeface="Arial"/>
              </a:rPr>
              <a:t>Schreibweisen</a:t>
            </a:r>
            <a:r>
              <a:rPr sz="1500" b="0" dirty="0">
                <a:solidFill>
                  <a:srgbClr val="16202A"/>
                </a:solidFill>
                <a:latin typeface="Arial"/>
              </a:rPr>
              <a:t> (</a:t>
            </a:r>
            <a:r>
              <a:rPr sz="1500" b="0" dirty="0" err="1">
                <a:solidFill>
                  <a:srgbClr val="16202A"/>
                </a:solidFill>
                <a:latin typeface="Arial"/>
              </a:rPr>
              <a:t>Groß</a:t>
            </a:r>
            <a:r>
              <a:rPr sz="1500" b="0" dirty="0">
                <a:solidFill>
                  <a:srgbClr val="16202A"/>
                </a:solidFill>
                <a:latin typeface="Arial"/>
              </a:rPr>
              <a:t>-/</a:t>
            </a:r>
            <a:r>
              <a:rPr sz="1500" b="0" dirty="0" err="1">
                <a:solidFill>
                  <a:srgbClr val="16202A"/>
                </a:solidFill>
                <a:latin typeface="Arial"/>
              </a:rPr>
              <a:t>Kleinschreibung</a:t>
            </a:r>
            <a:r>
              <a:rPr sz="1500" b="0" dirty="0">
                <a:solidFill>
                  <a:srgbClr val="16202A"/>
                </a:solidFill>
                <a:latin typeface="Arial"/>
              </a:rPr>
              <a:t>, </a:t>
            </a:r>
            <a:r>
              <a:rPr sz="1500" b="0" dirty="0" err="1">
                <a:solidFill>
                  <a:srgbClr val="16202A"/>
                </a:solidFill>
                <a:latin typeface="Arial"/>
              </a:rPr>
              <a:t>ein</a:t>
            </a:r>
            <a:r>
              <a:rPr sz="1500" b="0" dirty="0">
                <a:solidFill>
                  <a:srgbClr val="16202A"/>
                </a:solidFill>
                <a:latin typeface="Arial"/>
              </a:rPr>
              <a:t> </a:t>
            </a:r>
            <a:r>
              <a:rPr sz="1500" b="0" dirty="0" err="1">
                <a:solidFill>
                  <a:srgbClr val="16202A"/>
                </a:solidFill>
                <a:latin typeface="Arial"/>
              </a:rPr>
              <a:t>Leerzeichen</a:t>
            </a:r>
            <a:r>
              <a:rPr sz="1500" b="0" dirty="0">
                <a:solidFill>
                  <a:srgbClr val="16202A"/>
                </a:solidFill>
                <a:latin typeface="Arial"/>
              </a:rPr>
              <a:t>, </a:t>
            </a:r>
            <a:r>
              <a:rPr sz="1500" b="0" dirty="0" err="1">
                <a:solidFill>
                  <a:srgbClr val="16202A"/>
                </a:solidFill>
                <a:latin typeface="Arial"/>
              </a:rPr>
              <a:t>ein</a:t>
            </a:r>
            <a:r>
              <a:rPr sz="1500" b="0" dirty="0">
                <a:solidFill>
                  <a:srgbClr val="16202A"/>
                </a:solidFill>
                <a:latin typeface="Arial"/>
              </a:rPr>
              <a:t> </a:t>
            </a:r>
            <a:r>
              <a:rPr sz="1500" b="0" dirty="0" err="1">
                <a:solidFill>
                  <a:srgbClr val="16202A"/>
                </a:solidFill>
                <a:latin typeface="Arial"/>
              </a:rPr>
              <a:t>Punkt</a:t>
            </a:r>
            <a:r>
              <a:rPr sz="1500" b="0" dirty="0">
                <a:solidFill>
                  <a:srgbClr val="16202A"/>
                </a:solidFill>
                <a:latin typeface="Arial"/>
              </a:rPr>
              <a:t>) und </a:t>
            </a:r>
            <a:r>
              <a:rPr sz="1500" b="0" dirty="0" err="1">
                <a:solidFill>
                  <a:srgbClr val="16202A"/>
                </a:solidFill>
                <a:latin typeface="Arial"/>
              </a:rPr>
              <a:t>wurde</a:t>
            </a:r>
            <a:r>
              <a:rPr sz="1500" b="0" dirty="0">
                <a:solidFill>
                  <a:srgbClr val="16202A"/>
                </a:solidFill>
                <a:latin typeface="Arial"/>
              </a:rPr>
              <a:t> </a:t>
            </a:r>
            <a:r>
              <a:rPr sz="1500" b="0" dirty="0" err="1">
                <a:solidFill>
                  <a:srgbClr val="16202A"/>
                </a:solidFill>
                <a:latin typeface="Arial"/>
              </a:rPr>
              <a:t>viermal</a:t>
            </a:r>
            <a:r>
              <a:rPr sz="1500" b="0" dirty="0">
                <a:solidFill>
                  <a:srgbClr val="16202A"/>
                </a:solidFill>
                <a:latin typeface="Arial"/>
              </a:rPr>
              <a:t> </a:t>
            </a:r>
            <a:r>
              <a:rPr sz="1500" b="0" dirty="0" err="1">
                <a:solidFill>
                  <a:srgbClr val="16202A"/>
                </a:solidFill>
                <a:latin typeface="Arial"/>
              </a:rPr>
              <a:t>gezählt</a:t>
            </a:r>
            <a:r>
              <a:rPr sz="1500" b="0" dirty="0">
                <a:solidFill>
                  <a:srgbClr val="16202A"/>
                </a:solidFill>
                <a:latin typeface="Arial"/>
              </a:rPr>
              <a:t>. Das </a:t>
            </a:r>
            <a:r>
              <a:rPr sz="1500" b="0" dirty="0" err="1">
                <a:solidFill>
                  <a:srgbClr val="16202A"/>
                </a:solidFill>
                <a:latin typeface="Arial"/>
              </a:rPr>
              <a:t>Ergebnis</a:t>
            </a:r>
            <a:r>
              <a:rPr sz="1500" b="0" dirty="0">
                <a:solidFill>
                  <a:srgbClr val="16202A"/>
                </a:solidFill>
                <a:latin typeface="Arial"/>
              </a:rPr>
              <a:t> </a:t>
            </a:r>
            <a:r>
              <a:rPr sz="1500" b="0" dirty="0" err="1">
                <a:solidFill>
                  <a:srgbClr val="16202A"/>
                </a:solidFill>
                <a:latin typeface="Arial"/>
              </a:rPr>
              <a:t>sah</a:t>
            </a:r>
            <a:r>
              <a:rPr sz="1500" b="0" dirty="0">
                <a:solidFill>
                  <a:srgbClr val="16202A"/>
                </a:solidFill>
                <a:latin typeface="Arial"/>
              </a:rPr>
              <a:t> </a:t>
            </a:r>
            <a:r>
              <a:rPr sz="1500" b="0" dirty="0" err="1">
                <a:solidFill>
                  <a:srgbClr val="16202A"/>
                </a:solidFill>
                <a:latin typeface="Arial"/>
              </a:rPr>
              <a:t>fertig</a:t>
            </a:r>
            <a:r>
              <a:rPr sz="1500" b="0" dirty="0">
                <a:solidFill>
                  <a:srgbClr val="16202A"/>
                </a:solidFill>
                <a:latin typeface="Arial"/>
              </a:rPr>
              <a:t> </a:t>
            </a:r>
            <a:r>
              <a:rPr sz="1500" b="0" dirty="0" err="1">
                <a:solidFill>
                  <a:srgbClr val="16202A"/>
                </a:solidFill>
                <a:latin typeface="Arial"/>
              </a:rPr>
              <a:t>aus</a:t>
            </a:r>
            <a:r>
              <a:rPr sz="1500" b="0" dirty="0">
                <a:solidFill>
                  <a:srgbClr val="16202A"/>
                </a:solidFill>
                <a:latin typeface="Arial"/>
              </a:rPr>
              <a:t> und war es nicht.</a:t>
            </a:r>
            <a:r>
              <a:rPr lang="de-DE" sz="1500" dirty="0">
                <a:solidFill>
                  <a:srgbClr val="16202A"/>
                </a:solidFill>
                <a:latin typeface="Arial"/>
              </a:rPr>
              <a:t> </a:t>
            </a:r>
            <a:r>
              <a:rPr lang="de-DE" sz="900" dirty="0">
                <a:solidFill>
                  <a:srgbClr val="16202A"/>
                </a:solidFill>
                <a:latin typeface="Arial"/>
              </a:rPr>
              <a:t>(Die INEZ-Nummer bündelt Bescheide zu einem Fall. Der Name bündelt Fälle zu einem Träger. Für das erste gibt es eine saubere Nummer, für das zweite nur einen Freitext, keine ID, den Freitext musste </a:t>
            </a:r>
            <a:r>
              <a:rPr lang="de-DE" sz="900">
                <a:solidFill>
                  <a:srgbClr val="16202A"/>
                </a:solidFill>
                <a:latin typeface="Arial"/>
              </a:rPr>
              <a:t>ich vereinheitlichen.)</a:t>
            </a:r>
            <a:endParaRPr sz="900" b="0" dirty="0">
              <a:solidFill>
                <a:srgbClr val="16202A"/>
              </a:solidFill>
              <a:latin typeface="Arial"/>
            </a:endParaRP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Vor dem </a:t>
            </a:r>
            <a:r>
              <a:rPr sz="1500" b="0" dirty="0" err="1">
                <a:solidFill>
                  <a:srgbClr val="16202A"/>
                </a:solidFill>
                <a:latin typeface="Arial"/>
              </a:rPr>
              <a:t>Gruppieren</a:t>
            </a:r>
            <a:r>
              <a:rPr sz="1500" b="0" dirty="0">
                <a:solidFill>
                  <a:srgbClr val="16202A"/>
                </a:solidFill>
                <a:latin typeface="Arial"/>
              </a:rPr>
              <a:t> </a:t>
            </a:r>
            <a:r>
              <a:rPr sz="1500" b="0" dirty="0" err="1">
                <a:solidFill>
                  <a:srgbClr val="16202A"/>
                </a:solidFill>
                <a:latin typeface="Arial"/>
              </a:rPr>
              <a:t>bekommt</a:t>
            </a:r>
            <a:r>
              <a:rPr sz="1500" b="0" dirty="0">
                <a:solidFill>
                  <a:srgbClr val="16202A"/>
                </a:solidFill>
                <a:latin typeface="Arial"/>
              </a:rPr>
              <a:t> </a:t>
            </a:r>
            <a:r>
              <a:rPr sz="1500" b="0" dirty="0" err="1">
                <a:solidFill>
                  <a:srgbClr val="16202A"/>
                </a:solidFill>
                <a:latin typeface="Arial"/>
              </a:rPr>
              <a:t>jede</a:t>
            </a:r>
            <a:r>
              <a:rPr sz="1500" b="0" dirty="0">
                <a:solidFill>
                  <a:srgbClr val="16202A"/>
                </a:solidFill>
                <a:latin typeface="Arial"/>
              </a:rPr>
              <a:t> Zeile </a:t>
            </a:r>
            <a:r>
              <a:rPr sz="1500" b="0" dirty="0" err="1">
                <a:solidFill>
                  <a:srgbClr val="16202A"/>
                </a:solidFill>
                <a:latin typeface="Arial"/>
              </a:rPr>
              <a:t>einen</a:t>
            </a:r>
            <a:r>
              <a:rPr sz="1500" b="0" dirty="0">
                <a:solidFill>
                  <a:srgbClr val="16202A"/>
                </a:solidFill>
                <a:latin typeface="Arial"/>
              </a:rPr>
              <a:t> </a:t>
            </a:r>
            <a:r>
              <a:rPr sz="1500" b="0" dirty="0" err="1">
                <a:solidFill>
                  <a:srgbClr val="16202A"/>
                </a:solidFill>
                <a:latin typeface="Arial"/>
              </a:rPr>
              <a:t>Vergleichsschlüssel</a:t>
            </a:r>
            <a:r>
              <a:rPr sz="1500" b="0" dirty="0">
                <a:solidFill>
                  <a:srgbClr val="16202A"/>
                </a:solidFill>
                <a:latin typeface="Arial"/>
              </a:rPr>
              <a:t>: </a:t>
            </a:r>
            <a:r>
              <a:rPr sz="1500" b="0" dirty="0" err="1">
                <a:solidFill>
                  <a:srgbClr val="16202A"/>
                </a:solidFill>
                <a:latin typeface="Arial"/>
              </a:rPr>
              <a:t>alles</a:t>
            </a:r>
            <a:r>
              <a:rPr sz="1500" b="0" dirty="0">
                <a:solidFill>
                  <a:srgbClr val="16202A"/>
                </a:solidFill>
                <a:latin typeface="Arial"/>
              </a:rPr>
              <a:t> </a:t>
            </a:r>
            <a:r>
              <a:rPr sz="1500" b="0" dirty="0" err="1">
                <a:solidFill>
                  <a:srgbClr val="16202A"/>
                </a:solidFill>
                <a:latin typeface="Arial"/>
              </a:rPr>
              <a:t>klein</a:t>
            </a:r>
            <a:r>
              <a:rPr sz="1500" b="0" dirty="0">
                <a:solidFill>
                  <a:srgbClr val="16202A"/>
                </a:solidFill>
                <a:latin typeface="Arial"/>
              </a:rPr>
              <a:t>, </a:t>
            </a:r>
            <a:r>
              <a:rPr sz="1500" b="0" dirty="0" err="1">
                <a:solidFill>
                  <a:srgbClr val="16202A"/>
                </a:solidFill>
                <a:latin typeface="Arial"/>
              </a:rPr>
              <a:t>alles</a:t>
            </a:r>
            <a:r>
              <a:rPr sz="1500" b="0" dirty="0">
                <a:solidFill>
                  <a:srgbClr val="16202A"/>
                </a:solidFill>
                <a:latin typeface="Arial"/>
              </a:rPr>
              <a:t> </a:t>
            </a:r>
            <a:r>
              <a:rPr sz="1500" b="0" dirty="0" err="1">
                <a:solidFill>
                  <a:srgbClr val="16202A"/>
                </a:solidFill>
                <a:latin typeface="Arial"/>
              </a:rPr>
              <a:t>außer</a:t>
            </a:r>
            <a:r>
              <a:rPr sz="1500" b="0" dirty="0">
                <a:solidFill>
                  <a:srgbClr val="16202A"/>
                </a:solidFill>
                <a:latin typeface="Arial"/>
              </a:rPr>
              <a:t> </a:t>
            </a:r>
            <a:r>
              <a:rPr sz="1500" b="0" dirty="0" err="1">
                <a:solidFill>
                  <a:srgbClr val="16202A"/>
                </a:solidFill>
                <a:latin typeface="Arial"/>
              </a:rPr>
              <a:t>Buchstaben</a:t>
            </a:r>
            <a:r>
              <a:rPr sz="1500" b="0" dirty="0">
                <a:solidFill>
                  <a:srgbClr val="16202A"/>
                </a:solidFill>
                <a:latin typeface="Arial"/>
              </a:rPr>
              <a:t> und </a:t>
            </a:r>
            <a:r>
              <a:rPr sz="1500" b="0" dirty="0" err="1">
                <a:solidFill>
                  <a:srgbClr val="16202A"/>
                </a:solidFill>
                <a:latin typeface="Arial"/>
              </a:rPr>
              <a:t>Ziffern</a:t>
            </a:r>
            <a:r>
              <a:rPr sz="1500" b="0" dirty="0">
                <a:solidFill>
                  <a:srgbClr val="16202A"/>
                </a:solidFill>
                <a:latin typeface="Arial"/>
              </a:rPr>
              <a:t> </a:t>
            </a:r>
            <a:r>
              <a:rPr sz="1500" b="0" dirty="0" err="1">
                <a:solidFill>
                  <a:srgbClr val="16202A"/>
                </a:solidFill>
                <a:latin typeface="Arial"/>
              </a:rPr>
              <a:t>entfernt</a:t>
            </a:r>
            <a:r>
              <a:rPr sz="1500" b="0" dirty="0">
                <a:solidFill>
                  <a:srgbClr val="16202A"/>
                </a:solidFill>
                <a:latin typeface="Arial"/>
              </a:rPr>
              <a:t>. </a:t>
            </a:r>
            <a:r>
              <a:rPr sz="1500" b="0" dirty="0" err="1">
                <a:solidFill>
                  <a:srgbClr val="16202A"/>
                </a:solidFill>
                <a:latin typeface="Arial"/>
              </a:rPr>
              <a:t>Gruppiert</a:t>
            </a:r>
            <a:r>
              <a:rPr sz="1500" b="0" dirty="0">
                <a:solidFill>
                  <a:srgbClr val="16202A"/>
                </a:solidFill>
                <a:latin typeface="Arial"/>
              </a:rPr>
              <a:t> </a:t>
            </a:r>
            <a:r>
              <a:rPr sz="1500" b="0" dirty="0" err="1">
                <a:solidFill>
                  <a:srgbClr val="16202A"/>
                </a:solidFill>
                <a:latin typeface="Arial"/>
              </a:rPr>
              <a:t>wird</a:t>
            </a:r>
            <a:r>
              <a:rPr sz="1500" b="0" dirty="0">
                <a:solidFill>
                  <a:srgbClr val="16202A"/>
                </a:solidFill>
                <a:latin typeface="Arial"/>
              </a:rPr>
              <a:t> </a:t>
            </a:r>
            <a:r>
              <a:rPr sz="1500" b="0" dirty="0" err="1">
                <a:solidFill>
                  <a:srgbClr val="16202A"/>
                </a:solidFill>
                <a:latin typeface="Arial"/>
              </a:rPr>
              <a:t>über</a:t>
            </a:r>
            <a:r>
              <a:rPr sz="1500" b="0" dirty="0">
                <a:solidFill>
                  <a:srgbClr val="16202A"/>
                </a:solidFill>
                <a:latin typeface="Arial"/>
              </a:rPr>
              <a:t> den </a:t>
            </a:r>
            <a:r>
              <a:rPr sz="1500" b="0" dirty="0" err="1">
                <a:solidFill>
                  <a:srgbClr val="16202A"/>
                </a:solidFill>
                <a:latin typeface="Arial"/>
              </a:rPr>
              <a:t>Schlüssel</a:t>
            </a:r>
            <a:r>
              <a:rPr sz="1500" b="0" dirty="0">
                <a:solidFill>
                  <a:srgbClr val="16202A"/>
                </a:solidFill>
                <a:latin typeface="Arial"/>
              </a:rPr>
              <a:t>. Als </a:t>
            </a:r>
            <a:r>
              <a:rPr sz="1500" b="0" dirty="0" err="1">
                <a:solidFill>
                  <a:srgbClr val="16202A"/>
                </a:solidFill>
                <a:latin typeface="Arial"/>
              </a:rPr>
              <a:t>Anzeigename</a:t>
            </a:r>
            <a:r>
              <a:rPr sz="1500" b="0" dirty="0">
                <a:solidFill>
                  <a:srgbClr val="16202A"/>
                </a:solidFill>
                <a:latin typeface="Arial"/>
              </a:rPr>
              <a:t> </a:t>
            </a:r>
            <a:r>
              <a:rPr sz="1500" b="0" dirty="0" err="1">
                <a:solidFill>
                  <a:srgbClr val="16202A"/>
                </a:solidFill>
                <a:latin typeface="Arial"/>
              </a:rPr>
              <a:t>gewinnt</a:t>
            </a:r>
            <a:r>
              <a:rPr sz="1500" b="0" dirty="0">
                <a:solidFill>
                  <a:srgbClr val="16202A"/>
                </a:solidFill>
                <a:latin typeface="Arial"/>
              </a:rPr>
              <a:t> die </a:t>
            </a:r>
            <a:r>
              <a:rPr sz="1500" b="0" dirty="0" err="1">
                <a:solidFill>
                  <a:srgbClr val="16202A"/>
                </a:solidFill>
                <a:latin typeface="Arial"/>
              </a:rPr>
              <a:t>Schreibweise</a:t>
            </a:r>
            <a:r>
              <a:rPr sz="1500" b="0" dirty="0">
                <a:solidFill>
                  <a:srgbClr val="16202A"/>
                </a:solidFill>
                <a:latin typeface="Arial"/>
              </a:rPr>
              <a:t> </a:t>
            </a:r>
            <a:r>
              <a:rPr sz="1500" b="0" dirty="0" err="1">
                <a:solidFill>
                  <a:srgbClr val="16202A"/>
                </a:solidFill>
                <a:latin typeface="Arial"/>
              </a:rPr>
              <a:t>mit</a:t>
            </a:r>
            <a:r>
              <a:rPr sz="1500" b="0" dirty="0">
                <a:solidFill>
                  <a:srgbClr val="16202A"/>
                </a:solidFill>
                <a:latin typeface="Arial"/>
              </a:rPr>
              <a:t> der </a:t>
            </a:r>
            <a:r>
              <a:rPr sz="1500" b="0" dirty="0" err="1">
                <a:solidFill>
                  <a:srgbClr val="16202A"/>
                </a:solidFill>
                <a:latin typeface="Arial"/>
              </a:rPr>
              <a:t>höchsten</a:t>
            </a:r>
            <a:r>
              <a:rPr sz="1500" b="0" dirty="0">
                <a:solidFill>
                  <a:srgbClr val="16202A"/>
                </a:solidFill>
                <a:latin typeface="Arial"/>
              </a:rPr>
              <a:t> </a:t>
            </a:r>
            <a:r>
              <a:rPr sz="1500" b="0" dirty="0" err="1">
                <a:solidFill>
                  <a:srgbClr val="16202A"/>
                </a:solidFill>
                <a:latin typeface="Arial"/>
              </a:rPr>
              <a:t>Fördersumme</a:t>
            </a:r>
            <a:r>
              <a:rPr sz="1500" b="0" dirty="0">
                <a:solidFill>
                  <a:srgbClr val="16202A"/>
                </a:solidFill>
                <a:latin typeface="Arial"/>
              </a:rPr>
              <a: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jahr.loc</a:t>
            </a:r>
            <a:r>
              <a:rPr sz="1200" dirty="0">
                <a:solidFill>
                  <a:srgbClr val="E6EDF3"/>
                </a:solidFill>
                <a:latin typeface="Consolas"/>
              </a:rPr>
              <a:t>[:, "</a:t>
            </a:r>
            <a:r>
              <a:rPr sz="1200" dirty="0" err="1">
                <a:solidFill>
                  <a:srgbClr val="E6EDF3"/>
                </a:solidFill>
                <a:latin typeface="Consolas"/>
              </a:rPr>
              <a:t>empf_schluessel</a:t>
            </a:r>
            <a:r>
              <a:rPr sz="1200" dirty="0">
                <a:solidFill>
                  <a:srgbClr val="E6EDF3"/>
                </a:solidFill>
                <a:latin typeface="Consolas"/>
              </a:rPr>
              <a:t>"] = (</a:t>
            </a:r>
          </a:p>
          <a:p>
            <a:pPr algn="l"/>
            <a:r>
              <a:rPr sz="1200" dirty="0">
                <a:solidFill>
                  <a:srgbClr val="E6EDF3"/>
                </a:solidFill>
                <a:latin typeface="Consolas"/>
              </a:rPr>
              <a:t>    </a:t>
            </a:r>
            <a:r>
              <a:rPr sz="1200" dirty="0" err="1">
                <a:solidFill>
                  <a:srgbClr val="E6EDF3"/>
                </a:solidFill>
                <a:latin typeface="Consolas"/>
              </a:rPr>
              <a:t>jahr.loc</a:t>
            </a:r>
            <a:r>
              <a:rPr sz="1200" dirty="0">
                <a:solidFill>
                  <a:srgbClr val="E6EDF3"/>
                </a:solidFill>
                <a:latin typeface="Consolas"/>
              </a:rPr>
              <a:t>[:, "</a:t>
            </a:r>
            <a:r>
              <a:rPr sz="1200" dirty="0" err="1">
                <a:solidFill>
                  <a:srgbClr val="E6EDF3"/>
                </a:solidFill>
                <a:latin typeface="Consolas"/>
              </a:rPr>
              <a:t>Zuwendungsempfänger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str.lower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str.replace</a:t>
            </a:r>
            <a:r>
              <a:rPr sz="1200" dirty="0">
                <a:solidFill>
                  <a:srgbClr val="E6EDF3"/>
                </a:solidFill>
                <a:latin typeface="Consolas"/>
              </a:rPr>
              <a:t>(r"[^a-z0-9]", "", regex=True))</a:t>
            </a:r>
          </a:p>
          <a:p>
            <a:pPr algn="l"/>
            <a:endParaRPr sz="1200" dirty="0">
              <a:solidFill>
                <a:srgbClr val="E6EDF3"/>
              </a:solidFill>
              <a:latin typeface="Consolas"/>
            </a:endParaRPr>
          </a:p>
          <a:p>
            <a:pPr algn="l"/>
            <a:r>
              <a:rPr sz="1200" dirty="0" err="1">
                <a:solidFill>
                  <a:srgbClr val="E6EDF3"/>
                </a:solidFill>
                <a:latin typeface="Consolas"/>
              </a:rPr>
              <a:t>empfaenger</a:t>
            </a:r>
            <a:r>
              <a:rPr sz="1200" dirty="0">
                <a:solidFill>
                  <a:srgbClr val="E6EDF3"/>
                </a:solidFill>
                <a:latin typeface="Consolas"/>
              </a:rPr>
              <a:t> = (</a:t>
            </a:r>
            <a:r>
              <a:rPr sz="1200" dirty="0" err="1">
                <a:solidFill>
                  <a:srgbClr val="E6EDF3"/>
                </a:solidFill>
                <a:latin typeface="Consolas"/>
              </a:rPr>
              <a:t>jahr.groupby</a:t>
            </a:r>
            <a:r>
              <a:rPr sz="1200" dirty="0">
                <a:solidFill>
                  <a:srgbClr val="E6EDF3"/>
                </a:solidFill>
                <a:latin typeface="Consolas"/>
              </a:rPr>
              <a:t>("</a:t>
            </a:r>
            <a:r>
              <a:rPr sz="1200" dirty="0" err="1">
                <a:solidFill>
                  <a:srgbClr val="E6EDF3"/>
                </a:solidFill>
                <a:latin typeface="Consolas"/>
              </a:rPr>
              <a:t>empf_schluessel</a:t>
            </a:r>
            <a:r>
              <a:rPr sz="1200" dirty="0">
                <a:solidFill>
                  <a:srgbClr val="E6EDF3"/>
                </a:solidFill>
                <a:latin typeface="Consolas"/>
              </a:rPr>
              <a:t>")["</a:t>
            </a:r>
            <a:r>
              <a:rPr sz="1200" dirty="0" err="1">
                <a:solidFill>
                  <a:srgbClr val="E6EDF3"/>
                </a:solidFill>
                <a:latin typeface="Consolas"/>
              </a:rPr>
              <a:t>netto</a:t>
            </a:r>
            <a:r>
              <a:rPr sz="1200" dirty="0">
                <a:solidFill>
                  <a:srgbClr val="E6EDF3"/>
                </a:solidFill>
                <a:latin typeface="Consolas"/>
              </a:rPr>
              <a:t>"]</a:t>
            </a:r>
          </a:p>
          <a:p>
            <a:pPr algn="l"/>
            <a:r>
              <a:rPr sz="1200" dirty="0">
                <a:solidFill>
                  <a:srgbClr val="E6EDF3"/>
                </a:solidFill>
                <a:latin typeface="Consolas"/>
              </a:rPr>
              <a:t>                  .sum().</a:t>
            </a:r>
            <a:r>
              <a:rPr sz="1200" dirty="0" err="1">
                <a:solidFill>
                  <a:srgbClr val="E6EDF3"/>
                </a:solidFill>
                <a:latin typeface="Consolas"/>
              </a:rPr>
              <a:t>sort_values</a:t>
            </a:r>
            <a:r>
              <a:rPr sz="1200" dirty="0">
                <a:solidFill>
                  <a:srgbClr val="E6EDF3"/>
                </a:solidFill>
                <a:latin typeface="Consolas"/>
              </a:rPr>
              <a:t>(ascending=False))</a:t>
            </a:r>
          </a:p>
          <a:p>
            <a:pPr algn="l"/>
            <a:r>
              <a:rPr sz="1200" dirty="0">
                <a:solidFill>
                  <a:srgbClr val="E6EDF3"/>
                </a:solidFill>
                <a:latin typeface="Consolas"/>
              </a:rPr>
              <a:t># 1.974 → 1.913 </a:t>
            </a:r>
            <a:r>
              <a:rPr sz="1200" dirty="0" err="1">
                <a:solidFill>
                  <a:srgbClr val="E6EDF3"/>
                </a:solidFill>
                <a:latin typeface="Consolas"/>
              </a:rPr>
              <a:t>Empfänger</a:t>
            </a:r>
            <a:endParaRPr sz="1200" dirty="0">
              <a:solidFill>
                <a:srgbClr val="E6EDF3"/>
              </a:solidFill>
              <a:latin typeface="Consolas"/>
            </a:endParaRP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Test mit duplicated(keep=False) auf dem Schlüssel: 114 Namen in 53 Gruppen, alle echt. Die Gesamtanteile blieben gleich, weil das Geld nur innerhalb der freien Gruppe umverteilt wurde. Die Rangfolge dort änderte sich deutlich. Nach dem Umbau: 0 Dubletten, alle 50 Träger der Liste gefunden.</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HÜRDE 6</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„Städtisch“ steht in keiner Spalte</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74519"/>
            <a:ext cx="4937760" cy="274320"/>
          </a:xfrm>
          <a:prstGeom prst="rect">
            <a:avLst/>
          </a:prstGeom>
          <a:noFill/>
        </p:spPr>
        <p:txBody>
          <a:bodyPr wrap="square" lIns="45720" tIns="27432" rIns="45720" bIns="27432" anchor="t">
            <a:spAutoFit/>
          </a:bodyPr>
          <a:lstStyle/>
          <a:p>
            <a:pPr algn="l">
              <a:lnSpc>
                <a:spcPct val="115000"/>
              </a:lnSpc>
            </a:pPr>
            <a:r>
              <a:rPr sz="1100" b="1">
                <a:solidFill>
                  <a:srgbClr val="C83E2D"/>
                </a:solidFill>
                <a:latin typeface="Arial"/>
              </a:rPr>
              <a:t>DAS PROBLEM</a:t>
            </a:r>
          </a:p>
        </p:txBody>
      </p:sp>
      <p:sp>
        <p:nvSpPr>
          <p:cNvPr id="6" name="TextBox 5"/>
          <p:cNvSpPr txBox="1"/>
          <p:nvPr/>
        </p:nvSpPr>
        <p:spPr>
          <a:xfrm>
            <a:off x="640080" y="2148840"/>
            <a:ext cx="4937760" cy="1645920"/>
          </a:xfrm>
          <a:prstGeom prst="rect">
            <a:avLst/>
          </a:prstGeom>
          <a:noFill/>
        </p:spPr>
        <p:txBody>
          <a:bodyPr wrap="square" lIns="45720" tIns="27432" rIns="45720" bIns="27432" anchor="t">
            <a:spAutoFit/>
          </a:bodyPr>
          <a:lstStyle/>
          <a:p>
            <a:pPr algn="l">
              <a:lnSpc>
                <a:spcPct val="115000"/>
              </a:lnSpc>
            </a:pPr>
            <a:r>
              <a:rPr sz="1500" b="0" dirty="0">
                <a:solidFill>
                  <a:srgbClr val="16202A"/>
                </a:solidFill>
                <a:latin typeface="Arial"/>
              </a:rPr>
              <a:t>Neun der </a:t>
            </a:r>
            <a:r>
              <a:rPr sz="1500" b="0" dirty="0" err="1">
                <a:solidFill>
                  <a:srgbClr val="16202A"/>
                </a:solidFill>
                <a:latin typeface="Arial"/>
              </a:rPr>
              <a:t>zehn</a:t>
            </a:r>
            <a:r>
              <a:rPr sz="1500" b="0" dirty="0">
                <a:solidFill>
                  <a:srgbClr val="16202A"/>
                </a:solidFill>
                <a:latin typeface="Arial"/>
              </a:rPr>
              <a:t> </a:t>
            </a:r>
            <a:r>
              <a:rPr sz="1500" b="0" dirty="0" err="1">
                <a:solidFill>
                  <a:srgbClr val="16202A"/>
                </a:solidFill>
                <a:latin typeface="Arial"/>
              </a:rPr>
              <a:t>größten</a:t>
            </a:r>
            <a:r>
              <a:rPr sz="1500" b="0" dirty="0">
                <a:solidFill>
                  <a:srgbClr val="16202A"/>
                </a:solidFill>
                <a:latin typeface="Arial"/>
              </a:rPr>
              <a:t> </a:t>
            </a:r>
            <a:r>
              <a:rPr sz="1500" b="0" dirty="0" err="1">
                <a:solidFill>
                  <a:srgbClr val="16202A"/>
                </a:solidFill>
                <a:latin typeface="Arial"/>
              </a:rPr>
              <a:t>Empfänger</a:t>
            </a:r>
            <a:r>
              <a:rPr sz="1500" b="0" dirty="0">
                <a:solidFill>
                  <a:srgbClr val="16202A"/>
                </a:solidFill>
                <a:latin typeface="Arial"/>
              </a:rPr>
              <a:t> </a:t>
            </a:r>
            <a:r>
              <a:rPr sz="1500" b="0" dirty="0" err="1">
                <a:solidFill>
                  <a:srgbClr val="16202A"/>
                </a:solidFill>
                <a:latin typeface="Arial"/>
              </a:rPr>
              <a:t>sind</a:t>
            </a:r>
            <a:r>
              <a:rPr sz="1500" b="0" dirty="0">
                <a:solidFill>
                  <a:srgbClr val="16202A"/>
                </a:solidFill>
                <a:latin typeface="Arial"/>
              </a:rPr>
              <a:t> </a:t>
            </a:r>
            <a:r>
              <a:rPr sz="1500" b="0" dirty="0" err="1">
                <a:solidFill>
                  <a:srgbClr val="16202A"/>
                </a:solidFill>
                <a:latin typeface="Arial"/>
              </a:rPr>
              <a:t>städtische</a:t>
            </a:r>
            <a:r>
              <a:rPr sz="1500" b="0" dirty="0">
                <a:solidFill>
                  <a:srgbClr val="16202A"/>
                </a:solidFill>
                <a:latin typeface="Arial"/>
              </a:rPr>
              <a:t> </a:t>
            </a:r>
            <a:r>
              <a:rPr sz="1500" b="0" dirty="0" err="1">
                <a:solidFill>
                  <a:srgbClr val="16202A"/>
                </a:solidFill>
                <a:latin typeface="Arial"/>
              </a:rPr>
              <a:t>Unternehmen</a:t>
            </a:r>
            <a:r>
              <a:rPr sz="1500" b="0" dirty="0">
                <a:solidFill>
                  <a:srgbClr val="16202A"/>
                </a:solidFill>
                <a:latin typeface="Arial"/>
              </a:rPr>
              <a:t> und </a:t>
            </a:r>
            <a:r>
              <a:rPr sz="1500" b="0" dirty="0" err="1">
                <a:solidFill>
                  <a:srgbClr val="16202A"/>
                </a:solidFill>
                <a:latin typeface="Arial"/>
              </a:rPr>
              <a:t>Anstalten</a:t>
            </a:r>
            <a:r>
              <a:rPr sz="1500" b="0" dirty="0">
                <a:solidFill>
                  <a:srgbClr val="16202A"/>
                </a:solidFill>
                <a:latin typeface="Arial"/>
              </a:rPr>
              <a:t>. Um die Frage „</a:t>
            </a:r>
            <a:r>
              <a:rPr sz="1500" b="0" dirty="0" err="1">
                <a:solidFill>
                  <a:srgbClr val="16202A"/>
                </a:solidFill>
                <a:latin typeface="Arial"/>
              </a:rPr>
              <a:t>wie</a:t>
            </a:r>
            <a:r>
              <a:rPr sz="1500" b="0" dirty="0">
                <a:solidFill>
                  <a:srgbClr val="16202A"/>
                </a:solidFill>
                <a:latin typeface="Arial"/>
              </a:rPr>
              <a:t> </a:t>
            </a:r>
            <a:r>
              <a:rPr sz="1500" b="0" dirty="0" err="1">
                <a:solidFill>
                  <a:srgbClr val="16202A"/>
                </a:solidFill>
                <a:latin typeface="Arial"/>
              </a:rPr>
              <a:t>verteilt</a:t>
            </a:r>
            <a:r>
              <a:rPr sz="1500" b="0" dirty="0">
                <a:solidFill>
                  <a:srgbClr val="16202A"/>
                </a:solidFill>
                <a:latin typeface="Arial"/>
              </a:rPr>
              <a:t> </a:t>
            </a:r>
            <a:r>
              <a:rPr sz="1500" b="0" dirty="0" err="1">
                <a:solidFill>
                  <a:srgbClr val="16202A"/>
                </a:solidFill>
                <a:latin typeface="Arial"/>
              </a:rPr>
              <a:t>sich</a:t>
            </a:r>
            <a:r>
              <a:rPr sz="1500" b="0" dirty="0">
                <a:solidFill>
                  <a:srgbClr val="16202A"/>
                </a:solidFill>
                <a:latin typeface="Arial"/>
              </a:rPr>
              <a:t> das Geld </a:t>
            </a:r>
            <a:r>
              <a:rPr sz="1500" b="0" dirty="0" err="1">
                <a:solidFill>
                  <a:srgbClr val="16202A"/>
                </a:solidFill>
                <a:latin typeface="Arial"/>
              </a:rPr>
              <a:t>unter</a:t>
            </a:r>
            <a:r>
              <a:rPr sz="1500" b="0" dirty="0">
                <a:solidFill>
                  <a:srgbClr val="16202A"/>
                </a:solidFill>
                <a:latin typeface="Arial"/>
              </a:rPr>
              <a:t> den </a:t>
            </a:r>
            <a:r>
              <a:rPr sz="1500" b="0" dirty="0" err="1">
                <a:solidFill>
                  <a:srgbClr val="16202A"/>
                </a:solidFill>
                <a:latin typeface="Arial"/>
              </a:rPr>
              <a:t>anderen</a:t>
            </a:r>
            <a:r>
              <a:rPr sz="1500" b="0" dirty="0">
                <a:solidFill>
                  <a:srgbClr val="16202A"/>
                </a:solidFill>
                <a:latin typeface="Arial"/>
              </a:rPr>
              <a:t>?“ </a:t>
            </a:r>
            <a:r>
              <a:rPr sz="1500" b="0" dirty="0" err="1">
                <a:solidFill>
                  <a:srgbClr val="16202A"/>
                </a:solidFill>
                <a:latin typeface="Arial"/>
              </a:rPr>
              <a:t>zu</a:t>
            </a:r>
            <a:r>
              <a:rPr sz="1500" b="0" dirty="0">
                <a:solidFill>
                  <a:srgbClr val="16202A"/>
                </a:solidFill>
                <a:latin typeface="Arial"/>
              </a:rPr>
              <a:t> </a:t>
            </a:r>
            <a:r>
              <a:rPr sz="1500" b="0" dirty="0" err="1">
                <a:solidFill>
                  <a:srgbClr val="16202A"/>
                </a:solidFill>
                <a:latin typeface="Arial"/>
              </a:rPr>
              <a:t>beantworten</a:t>
            </a:r>
            <a:r>
              <a:rPr sz="1500" b="0" dirty="0">
                <a:solidFill>
                  <a:srgbClr val="16202A"/>
                </a:solidFill>
                <a:latin typeface="Arial"/>
              </a:rPr>
              <a:t>, </a:t>
            </a:r>
            <a:r>
              <a:rPr sz="1500" b="0" dirty="0" err="1">
                <a:solidFill>
                  <a:srgbClr val="16202A"/>
                </a:solidFill>
                <a:latin typeface="Arial"/>
              </a:rPr>
              <a:t>brauche</a:t>
            </a:r>
            <a:r>
              <a:rPr sz="1500" b="0" dirty="0">
                <a:solidFill>
                  <a:srgbClr val="16202A"/>
                </a:solidFill>
                <a:latin typeface="Arial"/>
              </a:rPr>
              <a:t> ich </a:t>
            </a:r>
            <a:r>
              <a:rPr sz="1500" b="0" dirty="0" err="1">
                <a:solidFill>
                  <a:srgbClr val="16202A"/>
                </a:solidFill>
                <a:latin typeface="Arial"/>
              </a:rPr>
              <a:t>eine</a:t>
            </a:r>
            <a:r>
              <a:rPr sz="1500" b="0" dirty="0">
                <a:solidFill>
                  <a:srgbClr val="16202A"/>
                </a:solidFill>
                <a:latin typeface="Arial"/>
              </a:rPr>
              <a:t> </a:t>
            </a:r>
            <a:r>
              <a:rPr sz="1500" b="0" dirty="0" err="1">
                <a:solidFill>
                  <a:srgbClr val="16202A"/>
                </a:solidFill>
                <a:latin typeface="Arial"/>
              </a:rPr>
              <a:t>Einordnung</a:t>
            </a:r>
            <a:r>
              <a:rPr sz="1500" b="0" dirty="0">
                <a:solidFill>
                  <a:srgbClr val="16202A"/>
                </a:solidFill>
                <a:latin typeface="Arial"/>
              </a:rPr>
              <a:t>, die es in den </a:t>
            </a:r>
            <a:r>
              <a:rPr sz="1500" b="0" dirty="0" err="1">
                <a:solidFill>
                  <a:srgbClr val="16202A"/>
                </a:solidFill>
                <a:latin typeface="Arial"/>
              </a:rPr>
              <a:t>Daten</a:t>
            </a:r>
            <a:r>
              <a:rPr sz="1500" b="0" dirty="0">
                <a:solidFill>
                  <a:srgbClr val="16202A"/>
                </a:solidFill>
                <a:latin typeface="Arial"/>
              </a:rPr>
              <a:t> nicht </a:t>
            </a:r>
            <a:r>
              <a:rPr sz="1500" b="0" dirty="0" err="1">
                <a:solidFill>
                  <a:srgbClr val="16202A"/>
                </a:solidFill>
                <a:latin typeface="Arial"/>
              </a:rPr>
              <a:t>gibt</a:t>
            </a:r>
            <a:r>
              <a:rPr sz="1500" b="0" dirty="0">
                <a:solidFill>
                  <a:srgbClr val="16202A"/>
                </a:solidFill>
                <a:latin typeface="Arial"/>
              </a:rPr>
              <a:t>. Und die </a:t>
            </a:r>
            <a:r>
              <a:rPr sz="1500" b="0" dirty="0" err="1">
                <a:solidFill>
                  <a:srgbClr val="16202A"/>
                </a:solidFill>
                <a:latin typeface="Arial"/>
              </a:rPr>
              <a:t>Rechtsform</a:t>
            </a:r>
            <a:r>
              <a:rPr sz="1500" b="0" dirty="0">
                <a:solidFill>
                  <a:srgbClr val="16202A"/>
                </a:solidFill>
                <a:latin typeface="Arial"/>
              </a:rPr>
              <a:t> </a:t>
            </a:r>
            <a:r>
              <a:rPr sz="1500" b="0" dirty="0" err="1">
                <a:solidFill>
                  <a:srgbClr val="16202A"/>
                </a:solidFill>
                <a:latin typeface="Arial"/>
              </a:rPr>
              <a:t>verrät</a:t>
            </a:r>
            <a:r>
              <a:rPr sz="1500" b="0" dirty="0">
                <a:solidFill>
                  <a:srgbClr val="16202A"/>
                </a:solidFill>
                <a:latin typeface="Arial"/>
              </a:rPr>
              <a:t> </a:t>
            </a:r>
            <a:r>
              <a:rPr sz="1500" b="0" dirty="0" err="1">
                <a:solidFill>
                  <a:srgbClr val="16202A"/>
                </a:solidFill>
                <a:latin typeface="Arial"/>
              </a:rPr>
              <a:t>sie</a:t>
            </a:r>
            <a:r>
              <a:rPr sz="1500" b="0" dirty="0">
                <a:solidFill>
                  <a:srgbClr val="16202A"/>
                </a:solidFill>
                <a:latin typeface="Arial"/>
              </a:rPr>
              <a:t> nicht: Eine GmbH </a:t>
            </a:r>
            <a:r>
              <a:rPr sz="1500" b="0" dirty="0" err="1">
                <a:solidFill>
                  <a:srgbClr val="16202A"/>
                </a:solidFill>
                <a:latin typeface="Arial"/>
              </a:rPr>
              <a:t>sagt</a:t>
            </a:r>
            <a:r>
              <a:rPr sz="1500" b="0" dirty="0">
                <a:solidFill>
                  <a:srgbClr val="16202A"/>
                </a:solidFill>
                <a:latin typeface="Arial"/>
              </a:rPr>
              <a:t> </a:t>
            </a:r>
            <a:r>
              <a:rPr sz="1500" b="0" dirty="0" err="1">
                <a:solidFill>
                  <a:srgbClr val="16202A"/>
                </a:solidFill>
                <a:latin typeface="Arial"/>
              </a:rPr>
              <a:t>nichts</a:t>
            </a:r>
            <a:r>
              <a:rPr sz="1500" b="0" dirty="0">
                <a:solidFill>
                  <a:srgbClr val="16202A"/>
                </a:solidFill>
                <a:latin typeface="Arial"/>
              </a:rPr>
              <a:t> </a:t>
            </a:r>
            <a:r>
              <a:rPr sz="1500" b="0" dirty="0" err="1">
                <a:solidFill>
                  <a:srgbClr val="16202A"/>
                </a:solidFill>
                <a:latin typeface="Arial"/>
              </a:rPr>
              <a:t>darüber</a:t>
            </a:r>
            <a:r>
              <a:rPr sz="1500" b="0" dirty="0">
                <a:solidFill>
                  <a:srgbClr val="16202A"/>
                </a:solidFill>
                <a:latin typeface="Arial"/>
              </a:rPr>
              <a:t>, </a:t>
            </a:r>
            <a:r>
              <a:rPr sz="1500" b="0" dirty="0" err="1">
                <a:solidFill>
                  <a:srgbClr val="16202A"/>
                </a:solidFill>
                <a:latin typeface="Arial"/>
              </a:rPr>
              <a:t>wem</a:t>
            </a:r>
            <a:r>
              <a:rPr sz="1500" b="0" dirty="0">
                <a:solidFill>
                  <a:srgbClr val="16202A"/>
                </a:solidFill>
                <a:latin typeface="Arial"/>
              </a:rPr>
              <a:t> </a:t>
            </a:r>
            <a:r>
              <a:rPr sz="1500" b="0" dirty="0" err="1">
                <a:solidFill>
                  <a:srgbClr val="16202A"/>
                </a:solidFill>
                <a:latin typeface="Arial"/>
              </a:rPr>
              <a:t>sie</a:t>
            </a:r>
            <a:r>
              <a:rPr sz="1500" b="0" dirty="0">
                <a:solidFill>
                  <a:srgbClr val="16202A"/>
                </a:solidFill>
                <a:latin typeface="Arial"/>
              </a:rPr>
              <a:t> </a:t>
            </a:r>
            <a:r>
              <a:rPr sz="1500" b="0" dirty="0" err="1">
                <a:solidFill>
                  <a:srgbClr val="16202A"/>
                </a:solidFill>
                <a:latin typeface="Arial"/>
              </a:rPr>
              <a:t>gehört</a:t>
            </a:r>
            <a:r>
              <a:rPr sz="1500" b="0" dirty="0">
                <a:solidFill>
                  <a:srgbClr val="16202A"/>
                </a:solidFill>
                <a:latin typeface="Arial"/>
              </a:rPr>
              <a:t>.</a:t>
            </a:r>
          </a:p>
        </p:txBody>
      </p:sp>
      <p:sp>
        <p:nvSpPr>
          <p:cNvPr id="7" name="TextBox 6"/>
          <p:cNvSpPr txBox="1"/>
          <p:nvPr/>
        </p:nvSpPr>
        <p:spPr>
          <a:xfrm>
            <a:off x="640080" y="3886200"/>
            <a:ext cx="4937760" cy="274320"/>
          </a:xfrm>
          <a:prstGeom prst="rect">
            <a:avLst/>
          </a:prstGeom>
          <a:noFill/>
        </p:spPr>
        <p:txBody>
          <a:bodyPr wrap="square" lIns="45720" tIns="27432" rIns="45720" bIns="27432" anchor="t">
            <a:spAutoFit/>
          </a:bodyPr>
          <a:lstStyle/>
          <a:p>
            <a:pPr algn="l">
              <a:lnSpc>
                <a:spcPct val="115000"/>
              </a:lnSpc>
            </a:pPr>
            <a:r>
              <a:rPr sz="1100" b="1">
                <a:solidFill>
                  <a:srgbClr val="0A5C6E"/>
                </a:solidFill>
                <a:latin typeface="Arial"/>
              </a:rPr>
              <a:t>MEINE LÖSUNG</a:t>
            </a:r>
          </a:p>
        </p:txBody>
      </p:sp>
      <p:sp>
        <p:nvSpPr>
          <p:cNvPr id="8" name="TextBox 7"/>
          <p:cNvSpPr txBox="1"/>
          <p:nvPr/>
        </p:nvSpPr>
        <p:spPr>
          <a:xfrm>
            <a:off x="640080" y="4160520"/>
            <a:ext cx="4937760" cy="1828800"/>
          </a:xfrm>
          <a:prstGeom prst="rect">
            <a:avLst/>
          </a:prstGeom>
          <a:noFill/>
        </p:spPr>
        <p:txBody>
          <a:bodyPr wrap="square" lIns="45720" tIns="27432" rIns="45720" bIns="27432" anchor="t">
            <a:spAutoFit/>
          </a:bodyPr>
          <a:lstStyle/>
          <a:p>
            <a:pPr algn="l">
              <a:lnSpc>
                <a:spcPct val="115000"/>
              </a:lnSpc>
            </a:pPr>
            <a:r>
              <a:rPr sz="1500" b="0">
                <a:solidFill>
                  <a:srgbClr val="16202A"/>
                </a:solidFill>
                <a:latin typeface="Arial"/>
              </a:rPr>
              <a:t>Eine Regel in einem Satz, dann die 50 größten Empfänger von Hand geprüft und in einer CSV abgelegt: Name, Trägerschaft, Rechtsform, Art des Nachweises, Notiz. Das Notebook liest die Datei ein und ordnet zu. Alle nicht geprüften Empfänger gelten als „nicht als städtisch belegt“.</a:t>
            </a:r>
          </a:p>
        </p:txBody>
      </p:sp>
      <p:sp>
        <p:nvSpPr>
          <p:cNvPr id="9" name="TextBox 8"/>
          <p:cNvSpPr txBox="1"/>
          <p:nvPr/>
        </p:nvSpPr>
        <p:spPr>
          <a:xfrm>
            <a:off x="5943600" y="1874519"/>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SO SIEHT DAS IM CODE AUS</a:t>
            </a:r>
          </a:p>
        </p:txBody>
      </p:sp>
      <p:sp>
        <p:nvSpPr>
          <p:cNvPr id="10" name="Rectangle 9"/>
          <p:cNvSpPr/>
          <p:nvPr/>
        </p:nvSpPr>
        <p:spPr>
          <a:xfrm>
            <a:off x="5943600" y="2148840"/>
            <a:ext cx="5608015" cy="22860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200" dirty="0" err="1">
                <a:solidFill>
                  <a:srgbClr val="E6EDF3"/>
                </a:solidFill>
                <a:latin typeface="Consolas"/>
              </a:rPr>
              <a:t>traeger_df</a:t>
            </a:r>
            <a:r>
              <a:rPr sz="1200" dirty="0">
                <a:solidFill>
                  <a:srgbClr val="E6EDF3"/>
                </a:solidFill>
                <a:latin typeface="Consolas"/>
              </a:rPr>
              <a:t> = </a:t>
            </a:r>
            <a:r>
              <a:rPr sz="1200" dirty="0" err="1">
                <a:solidFill>
                  <a:srgbClr val="E6EDF3"/>
                </a:solidFill>
                <a:latin typeface="Consolas"/>
              </a:rPr>
              <a:t>pd.read_csv</a:t>
            </a:r>
            <a:r>
              <a:rPr sz="1200" dirty="0">
                <a:solidFill>
                  <a:srgbClr val="E6EDF3"/>
                </a:solidFill>
                <a:latin typeface="Consolas"/>
              </a:rPr>
              <a:t>("../data/traeger_top50.csv",</a:t>
            </a:r>
          </a:p>
          <a:p>
            <a:pPr algn="l"/>
            <a:r>
              <a:rPr sz="1200" dirty="0">
                <a:solidFill>
                  <a:srgbClr val="E6EDF3"/>
                </a:solidFill>
                <a:latin typeface="Consolas"/>
              </a:rPr>
              <a:t>                         </a:t>
            </a:r>
            <a:r>
              <a:rPr sz="1200" dirty="0" err="1">
                <a:solidFill>
                  <a:srgbClr val="E6EDF3"/>
                </a:solidFill>
                <a:latin typeface="Consolas"/>
              </a:rPr>
              <a:t>sep</a:t>
            </a:r>
            <a:r>
              <a:rPr sz="1200" dirty="0">
                <a:solidFill>
                  <a:srgbClr val="E6EDF3"/>
                </a:solidFill>
                <a:latin typeface="Consolas"/>
              </a:rPr>
              <a:t>=";", encoding="utf-8-sig")</a:t>
            </a:r>
          </a:p>
          <a:p>
            <a:pPr algn="l"/>
            <a:r>
              <a:rPr sz="1200" dirty="0" err="1">
                <a:solidFill>
                  <a:srgbClr val="E6EDF3"/>
                </a:solidFill>
                <a:latin typeface="Consolas"/>
              </a:rPr>
              <a:t>traeger</a:t>
            </a:r>
            <a:r>
              <a:rPr sz="1200" dirty="0">
                <a:solidFill>
                  <a:srgbClr val="E6EDF3"/>
                </a:solidFill>
                <a:latin typeface="Consolas"/>
              </a:rPr>
              <a:t> = (</a:t>
            </a:r>
            <a:r>
              <a:rPr sz="1200" dirty="0" err="1">
                <a:solidFill>
                  <a:srgbClr val="E6EDF3"/>
                </a:solidFill>
                <a:latin typeface="Consolas"/>
              </a:rPr>
              <a:t>traeger_df.set_index</a:t>
            </a:r>
            <a:r>
              <a:rPr sz="1200" dirty="0">
                <a:solidFill>
                  <a:srgbClr val="E6EDF3"/>
                </a:solidFill>
                <a:latin typeface="Consolas"/>
              </a:rPr>
              <a:t>("</a:t>
            </a:r>
            <a:r>
              <a:rPr sz="1200" dirty="0" err="1">
                <a:solidFill>
                  <a:srgbClr val="E6EDF3"/>
                </a:solidFill>
                <a:latin typeface="Consolas"/>
              </a:rPr>
              <a:t>empfaenger</a:t>
            </a:r>
            <a:r>
              <a:rPr sz="1200" dirty="0">
                <a:solidFill>
                  <a:srgbClr val="E6EDF3"/>
                </a:solidFill>
                <a:latin typeface="Consolas"/>
              </a:rPr>
              <a:t>")</a:t>
            </a:r>
          </a:p>
          <a:p>
            <a:pPr algn="l"/>
            <a:r>
              <a:rPr sz="1200" dirty="0">
                <a:solidFill>
                  <a:srgbClr val="E6EDF3"/>
                </a:solidFill>
                <a:latin typeface="Consolas"/>
              </a:rPr>
              <a:t>                     .loc[:, "</a:t>
            </a:r>
            <a:r>
              <a:rPr sz="1200" dirty="0" err="1">
                <a:solidFill>
                  <a:srgbClr val="E6EDF3"/>
                </a:solidFill>
                <a:latin typeface="Consolas"/>
              </a:rPr>
              <a:t>traegerschaft</a:t>
            </a:r>
            <a:r>
              <a:rPr sz="1200" dirty="0">
                <a:solidFill>
                  <a:srgbClr val="E6EDF3"/>
                </a:solidFill>
                <a:latin typeface="Consolas"/>
              </a:rPr>
              <a:t>"].</a:t>
            </a:r>
            <a:r>
              <a:rPr sz="1200" dirty="0" err="1">
                <a:solidFill>
                  <a:srgbClr val="E6EDF3"/>
                </a:solidFill>
                <a:latin typeface="Consolas"/>
              </a:rPr>
              <a:t>to_dict</a:t>
            </a:r>
            <a:r>
              <a:rPr sz="1200" dirty="0">
                <a:solidFill>
                  <a:srgbClr val="E6EDF3"/>
                </a:solidFill>
                <a:latin typeface="Consolas"/>
              </a:rPr>
              <a:t>())</a:t>
            </a:r>
          </a:p>
          <a:p>
            <a:pPr algn="l"/>
            <a:endParaRPr sz="1200" dirty="0">
              <a:solidFill>
                <a:srgbClr val="E6EDF3"/>
              </a:solidFill>
              <a:latin typeface="Consolas"/>
            </a:endParaRPr>
          </a:p>
          <a:p>
            <a:pPr algn="l"/>
            <a:r>
              <a:rPr sz="1200" dirty="0" err="1">
                <a:solidFill>
                  <a:srgbClr val="E6EDF3"/>
                </a:solidFill>
                <a:latin typeface="Consolas"/>
              </a:rPr>
              <a:t>kategorie</a:t>
            </a:r>
            <a:r>
              <a:rPr sz="1200" dirty="0">
                <a:solidFill>
                  <a:srgbClr val="E6EDF3"/>
                </a:solidFill>
                <a:latin typeface="Consolas"/>
              </a:rPr>
              <a:t> = (</a:t>
            </a:r>
            <a:r>
              <a:rPr sz="1200" dirty="0" err="1">
                <a:solidFill>
                  <a:srgbClr val="E6EDF3"/>
                </a:solidFill>
                <a:latin typeface="Consolas"/>
              </a:rPr>
              <a:t>empfaenger.index.map</a:t>
            </a:r>
            <a:r>
              <a:rPr sz="1200" dirty="0">
                <a:solidFill>
                  <a:srgbClr val="E6EDF3"/>
                </a:solidFill>
                <a:latin typeface="Consolas"/>
              </a:rPr>
              <a:t>(</a:t>
            </a:r>
            <a:r>
              <a:rPr sz="1200" dirty="0" err="1">
                <a:solidFill>
                  <a:srgbClr val="E6EDF3"/>
                </a:solidFill>
                <a:latin typeface="Consolas"/>
              </a:rPr>
              <a:t>traeger</a:t>
            </a:r>
            <a:r>
              <a:rPr sz="1200" dirty="0">
                <a:solidFill>
                  <a:srgbClr val="E6EDF3"/>
                </a:solidFill>
                <a:latin typeface="Consolas"/>
              </a:rPr>
              <a:t>)</a:t>
            </a:r>
          </a:p>
          <a:p>
            <a:pPr algn="l"/>
            <a:r>
              <a:rPr sz="1200" dirty="0">
                <a:solidFill>
                  <a:srgbClr val="E6EDF3"/>
                </a:solidFill>
                <a:latin typeface="Consolas"/>
              </a:rPr>
              <a:t>                       .</a:t>
            </a:r>
            <a:r>
              <a:rPr sz="1200" dirty="0" err="1">
                <a:solidFill>
                  <a:srgbClr val="E6EDF3"/>
                </a:solidFill>
                <a:latin typeface="Consolas"/>
              </a:rPr>
              <a:t>fillna</a:t>
            </a:r>
            <a:r>
              <a:rPr sz="1200" dirty="0">
                <a:solidFill>
                  <a:srgbClr val="E6EDF3"/>
                </a:solidFill>
                <a:latin typeface="Consolas"/>
              </a:rPr>
              <a:t>("</a:t>
            </a:r>
            <a:r>
              <a:rPr sz="1200" dirty="0" err="1">
                <a:solidFill>
                  <a:srgbClr val="E6EDF3"/>
                </a:solidFill>
                <a:latin typeface="Consolas"/>
              </a:rPr>
              <a:t>nicht_staedtisch</a:t>
            </a:r>
            <a:r>
              <a:rPr sz="1200" dirty="0">
                <a:solidFill>
                  <a:srgbClr val="E6EDF3"/>
                </a:solidFill>
                <a:latin typeface="Consolas"/>
              </a:rPr>
              <a:t>"))</a:t>
            </a:r>
          </a:p>
          <a:p>
            <a:pPr algn="l"/>
            <a:r>
              <a:rPr sz="1200" dirty="0" err="1">
                <a:solidFill>
                  <a:srgbClr val="E6EDF3"/>
                </a:solidFill>
                <a:latin typeface="Consolas"/>
              </a:rPr>
              <a:t>nach_kategorie</a:t>
            </a:r>
            <a:r>
              <a:rPr sz="1200" dirty="0">
                <a:solidFill>
                  <a:srgbClr val="E6EDF3"/>
                </a:solidFill>
                <a:latin typeface="Consolas"/>
              </a:rPr>
              <a:t> = </a:t>
            </a:r>
            <a:r>
              <a:rPr sz="1200" dirty="0" err="1">
                <a:solidFill>
                  <a:srgbClr val="E6EDF3"/>
                </a:solidFill>
                <a:latin typeface="Consolas"/>
              </a:rPr>
              <a:t>empfaenger.groupby</a:t>
            </a:r>
            <a:r>
              <a:rPr sz="1200" dirty="0">
                <a:solidFill>
                  <a:srgbClr val="E6EDF3"/>
                </a:solidFill>
                <a:latin typeface="Consolas"/>
              </a:rPr>
              <a:t>(</a:t>
            </a:r>
            <a:r>
              <a:rPr sz="1200" dirty="0" err="1">
                <a:solidFill>
                  <a:srgbClr val="E6EDF3"/>
                </a:solidFill>
                <a:latin typeface="Consolas"/>
              </a:rPr>
              <a:t>kategorie</a:t>
            </a:r>
            <a:r>
              <a:rPr sz="1200" dirty="0">
                <a:solidFill>
                  <a:srgbClr val="E6EDF3"/>
                </a:solidFill>
                <a:latin typeface="Consolas"/>
              </a:rPr>
              <a:t>).sum()</a:t>
            </a:r>
          </a:p>
          <a:p>
            <a:pPr algn="l"/>
            <a:r>
              <a:rPr sz="1200" dirty="0" err="1">
                <a:solidFill>
                  <a:srgbClr val="E6EDF3"/>
                </a:solidFill>
                <a:latin typeface="Consolas"/>
              </a:rPr>
              <a:t>nach_kategorie</a:t>
            </a:r>
            <a:r>
              <a:rPr sz="1200" dirty="0">
                <a:solidFill>
                  <a:srgbClr val="E6EDF3"/>
                </a:solidFill>
                <a:latin typeface="Consolas"/>
              </a:rPr>
              <a:t> / </a:t>
            </a:r>
            <a:r>
              <a:rPr sz="1200" dirty="0" err="1">
                <a:solidFill>
                  <a:srgbClr val="E6EDF3"/>
                </a:solidFill>
                <a:latin typeface="Consolas"/>
              </a:rPr>
              <a:t>nach_kategorie.sum</a:t>
            </a:r>
            <a:r>
              <a:rPr sz="1200" dirty="0">
                <a:solidFill>
                  <a:srgbClr val="E6EDF3"/>
                </a:solidFill>
                <a:latin typeface="Consolas"/>
              </a:rPr>
              <a:t>() * 100</a:t>
            </a:r>
          </a:p>
        </p:txBody>
      </p:sp>
      <p:sp>
        <p:nvSpPr>
          <p:cNvPr id="11" name="TextBox 10"/>
          <p:cNvSpPr txBox="1"/>
          <p:nvPr/>
        </p:nvSpPr>
        <p:spPr>
          <a:xfrm>
            <a:off x="5943600" y="4572000"/>
            <a:ext cx="560801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PRÜFUNG DAZU</a:t>
            </a:r>
          </a:p>
        </p:txBody>
      </p:sp>
      <p:sp>
        <p:nvSpPr>
          <p:cNvPr id="12" name="TextBox 11"/>
          <p:cNvSpPr txBox="1"/>
          <p:nvPr/>
        </p:nvSpPr>
        <p:spPr>
          <a:xfrm>
            <a:off x="5943600" y="4846320"/>
            <a:ext cx="5608015" cy="1371600"/>
          </a:xfrm>
          <a:prstGeom prst="rect">
            <a:avLst/>
          </a:prstGeom>
          <a:noFill/>
        </p:spPr>
        <p:txBody>
          <a:bodyPr wrap="square" lIns="45720" tIns="27432" rIns="45720" bIns="27432" anchor="t">
            <a:spAutoFit/>
          </a:bodyPr>
          <a:lstStyle/>
          <a:p>
            <a:pPr algn="l">
              <a:lnSpc>
                <a:spcPct val="115000"/>
              </a:lnSpc>
            </a:pPr>
            <a:r>
              <a:rPr sz="1300" b="0" dirty="0" err="1">
                <a:solidFill>
                  <a:srgbClr val="55677A"/>
                </a:solidFill>
                <a:latin typeface="Arial"/>
              </a:rPr>
              <a:t>Gegenprobe</a:t>
            </a:r>
            <a:r>
              <a:rPr sz="1300" b="0" dirty="0">
                <a:solidFill>
                  <a:srgbClr val="55677A"/>
                </a:solidFill>
                <a:latin typeface="Arial"/>
              </a:rPr>
              <a:t> per crosstab </a:t>
            </a:r>
            <a:r>
              <a:rPr sz="1300" b="0" dirty="0" err="1">
                <a:solidFill>
                  <a:srgbClr val="55677A"/>
                </a:solidFill>
                <a:latin typeface="Arial"/>
              </a:rPr>
              <a:t>Rechtsform</a:t>
            </a:r>
            <a:r>
              <a:rPr sz="1300" b="0" dirty="0">
                <a:solidFill>
                  <a:srgbClr val="55677A"/>
                </a:solidFill>
                <a:latin typeface="Arial"/>
              </a:rPr>
              <a:t> × </a:t>
            </a:r>
            <a:r>
              <a:rPr sz="1300" b="0" dirty="0" err="1">
                <a:solidFill>
                  <a:srgbClr val="55677A"/>
                </a:solidFill>
                <a:latin typeface="Arial"/>
              </a:rPr>
              <a:t>Trägerschaft</a:t>
            </a:r>
            <a:r>
              <a:rPr sz="1300" b="0" dirty="0">
                <a:solidFill>
                  <a:srgbClr val="55677A"/>
                </a:solidFill>
                <a:latin typeface="Arial"/>
              </a:rPr>
              <a:t>: Alle </a:t>
            </a:r>
            <a:r>
              <a:rPr sz="1300" b="0" dirty="0" err="1">
                <a:solidFill>
                  <a:srgbClr val="55677A"/>
                </a:solidFill>
                <a:latin typeface="Arial"/>
              </a:rPr>
              <a:t>öffentlich-rechtlichen</a:t>
            </a:r>
            <a:r>
              <a:rPr sz="1300" b="0" dirty="0">
                <a:solidFill>
                  <a:srgbClr val="55677A"/>
                </a:solidFill>
                <a:latin typeface="Arial"/>
              </a:rPr>
              <a:t> Formen und alle </a:t>
            </a:r>
            <a:r>
              <a:rPr sz="1300" b="0" dirty="0" err="1">
                <a:solidFill>
                  <a:srgbClr val="55677A"/>
                </a:solidFill>
                <a:latin typeface="Arial"/>
              </a:rPr>
              <a:t>Vereine</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a:t>
            </a:r>
            <a:r>
              <a:rPr sz="1300" b="0" dirty="0" err="1">
                <a:solidFill>
                  <a:srgbClr val="55677A"/>
                </a:solidFill>
                <a:latin typeface="Arial"/>
              </a:rPr>
              <a:t>eindeutig</a:t>
            </a:r>
            <a:r>
              <a:rPr sz="1300" b="0" dirty="0">
                <a:solidFill>
                  <a:srgbClr val="55677A"/>
                </a:solidFill>
                <a:latin typeface="Arial"/>
              </a:rPr>
              <a:t>. </a:t>
            </a:r>
            <a:r>
              <a:rPr sz="1300" b="0" dirty="0" err="1">
                <a:solidFill>
                  <a:srgbClr val="55677A"/>
                </a:solidFill>
                <a:latin typeface="Arial"/>
              </a:rPr>
              <a:t>Uneindeutig</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GmbH, </a:t>
            </a:r>
            <a:r>
              <a:rPr sz="1300" b="0" dirty="0" err="1">
                <a:solidFill>
                  <a:srgbClr val="55677A"/>
                </a:solidFill>
                <a:latin typeface="Arial"/>
              </a:rPr>
              <a:t>gGmbH</a:t>
            </a:r>
            <a:r>
              <a:rPr sz="1300" b="0" dirty="0">
                <a:solidFill>
                  <a:srgbClr val="55677A"/>
                </a:solidFill>
                <a:latin typeface="Arial"/>
              </a:rPr>
              <a:t> und KöR, und </a:t>
            </a:r>
            <a:r>
              <a:rPr sz="1300" b="0" dirty="0" err="1">
                <a:solidFill>
                  <a:srgbClr val="55677A"/>
                </a:solidFill>
                <a:latin typeface="Arial"/>
              </a:rPr>
              <a:t>zwar</a:t>
            </a:r>
            <a:r>
              <a:rPr sz="1300" b="0" dirty="0">
                <a:solidFill>
                  <a:srgbClr val="55677A"/>
                </a:solidFill>
                <a:latin typeface="Arial"/>
              </a:rPr>
              <a:t> </a:t>
            </a:r>
            <a:r>
              <a:rPr sz="1300" b="0" dirty="0" err="1">
                <a:solidFill>
                  <a:srgbClr val="55677A"/>
                </a:solidFill>
                <a:latin typeface="Arial"/>
              </a:rPr>
              <a:t>zu</a:t>
            </a:r>
            <a:r>
              <a:rPr sz="1300" b="0" dirty="0">
                <a:solidFill>
                  <a:srgbClr val="55677A"/>
                </a:solidFill>
                <a:latin typeface="Arial"/>
              </a:rPr>
              <a:t> Recht. UKE und </a:t>
            </a:r>
            <a:r>
              <a:rPr sz="1300" b="0" dirty="0" err="1">
                <a:solidFill>
                  <a:srgbClr val="55677A"/>
                </a:solidFill>
                <a:latin typeface="Arial"/>
              </a:rPr>
              <a:t>Handwerkskammer</a:t>
            </a:r>
            <a:r>
              <a:rPr sz="1300" b="0" dirty="0">
                <a:solidFill>
                  <a:srgbClr val="55677A"/>
                </a:solidFill>
                <a:latin typeface="Arial"/>
              </a:rPr>
              <a:t> </a:t>
            </a:r>
            <a:r>
              <a:rPr sz="1300" b="0" dirty="0" err="1">
                <a:solidFill>
                  <a:srgbClr val="55677A"/>
                </a:solidFill>
                <a:latin typeface="Arial"/>
              </a:rPr>
              <a:t>sind</a:t>
            </a:r>
            <a:r>
              <a:rPr sz="1300" b="0" dirty="0">
                <a:solidFill>
                  <a:srgbClr val="55677A"/>
                </a:solidFill>
                <a:latin typeface="Arial"/>
              </a:rPr>
              <a:t> </a:t>
            </a:r>
            <a:r>
              <a:rPr sz="1300" b="0" dirty="0" err="1">
                <a:solidFill>
                  <a:srgbClr val="55677A"/>
                </a:solidFill>
                <a:latin typeface="Arial"/>
              </a:rPr>
              <a:t>beide</a:t>
            </a:r>
            <a:r>
              <a:rPr sz="1300" b="0" dirty="0">
                <a:solidFill>
                  <a:srgbClr val="55677A"/>
                </a:solidFill>
                <a:latin typeface="Arial"/>
              </a:rPr>
              <a:t> </a:t>
            </a:r>
            <a:r>
              <a:rPr sz="1300" b="0" dirty="0" err="1">
                <a:solidFill>
                  <a:srgbClr val="55677A"/>
                </a:solidFill>
                <a:latin typeface="Arial"/>
              </a:rPr>
              <a:t>Körperschaften</a:t>
            </a:r>
            <a:r>
              <a:rPr sz="1300" b="0" dirty="0">
                <a:solidFill>
                  <a:srgbClr val="55677A"/>
                </a:solidFill>
                <a:latin typeface="Arial"/>
              </a:rPr>
              <a:t> </a:t>
            </a:r>
            <a:r>
              <a:rPr sz="1300" b="0" dirty="0" err="1">
                <a:solidFill>
                  <a:srgbClr val="55677A"/>
                </a:solidFill>
                <a:latin typeface="Arial"/>
              </a:rPr>
              <a:t>öffentlichen</a:t>
            </a:r>
            <a:r>
              <a:rPr sz="1300" b="0" dirty="0">
                <a:solidFill>
                  <a:srgbClr val="55677A"/>
                </a:solidFill>
                <a:latin typeface="Arial"/>
              </a:rPr>
              <a:t> </a:t>
            </a:r>
            <a:r>
              <a:rPr sz="1300" b="0" dirty="0" err="1">
                <a:solidFill>
                  <a:srgbClr val="55677A"/>
                </a:solidFill>
                <a:latin typeface="Arial"/>
              </a:rPr>
              <a:t>Rechts</a:t>
            </a:r>
            <a:r>
              <a:rPr sz="1300" b="0" dirty="0">
                <a:solidFill>
                  <a:srgbClr val="55677A"/>
                </a:solidFill>
                <a:latin typeface="Arial"/>
              </a:rPr>
              <a:t> und </a:t>
            </a:r>
            <a:r>
              <a:rPr sz="1300" b="0" dirty="0" err="1">
                <a:solidFill>
                  <a:srgbClr val="55677A"/>
                </a:solidFill>
                <a:latin typeface="Arial"/>
              </a:rPr>
              <a:t>verschieden</a:t>
            </a:r>
            <a:r>
              <a:rPr sz="1300" b="0" dirty="0">
                <a:solidFill>
                  <a:srgbClr val="55677A"/>
                </a:solidFill>
                <a:latin typeface="Arial"/>
              </a:rPr>
              <a:t> </a:t>
            </a:r>
            <a:r>
              <a:rPr sz="1300" b="0" dirty="0" err="1">
                <a:solidFill>
                  <a:srgbClr val="55677A"/>
                </a:solidFill>
                <a:latin typeface="Arial"/>
              </a:rPr>
              <a:t>eingestuft</a:t>
            </a:r>
            <a:r>
              <a:rPr sz="1300" b="0" dirty="0">
                <a:solidFill>
                  <a:srgbClr val="55677A"/>
                </a:solidFill>
                <a:latin typeface="Arial"/>
              </a:rPr>
              <a:t>. Die Regel hat </a:t>
            </a:r>
            <a:r>
              <a:rPr sz="1300" b="0" dirty="0" err="1">
                <a:solidFill>
                  <a:srgbClr val="55677A"/>
                </a:solidFill>
                <a:latin typeface="Arial"/>
              </a:rPr>
              <a:t>zwei</a:t>
            </a:r>
            <a:r>
              <a:rPr sz="1300" b="0" dirty="0">
                <a:solidFill>
                  <a:srgbClr val="55677A"/>
                </a:solidFill>
                <a:latin typeface="Arial"/>
              </a:rPr>
              <a:t> </a:t>
            </a:r>
            <a:r>
              <a:rPr sz="1300" b="0" dirty="0" err="1">
                <a:solidFill>
                  <a:srgbClr val="55677A"/>
                </a:solidFill>
                <a:latin typeface="Arial"/>
              </a:rPr>
              <a:t>Äste</a:t>
            </a:r>
            <a:r>
              <a:rPr sz="1300" b="0" dirty="0">
                <a:solidFill>
                  <a:srgbClr val="55677A"/>
                </a:solidFill>
                <a:latin typeface="Arial"/>
              </a:rPr>
              <a:t>: </a:t>
            </a:r>
            <a:r>
              <a:rPr sz="1300" b="0" dirty="0" err="1">
                <a:solidFill>
                  <a:srgbClr val="55677A"/>
                </a:solidFill>
                <a:latin typeface="Arial"/>
              </a:rPr>
              <a:t>Trägerschaft</a:t>
            </a:r>
            <a:r>
              <a:rPr sz="1300" b="0" dirty="0">
                <a:solidFill>
                  <a:srgbClr val="55677A"/>
                </a:solidFill>
                <a:latin typeface="Arial"/>
              </a:rPr>
              <a:t> </a:t>
            </a:r>
            <a:r>
              <a:rPr sz="1300" b="0" dirty="0" err="1">
                <a:solidFill>
                  <a:srgbClr val="55677A"/>
                </a:solidFill>
                <a:latin typeface="Arial"/>
              </a:rPr>
              <a:t>bei</a:t>
            </a:r>
            <a:r>
              <a:rPr sz="1300" b="0" dirty="0">
                <a:solidFill>
                  <a:srgbClr val="55677A"/>
                </a:solidFill>
                <a:latin typeface="Arial"/>
              </a:rPr>
              <a:t> </a:t>
            </a:r>
            <a:r>
              <a:rPr sz="1300" b="0" dirty="0" err="1">
                <a:solidFill>
                  <a:srgbClr val="55677A"/>
                </a:solidFill>
                <a:latin typeface="Arial"/>
              </a:rPr>
              <a:t>öffentlich-rechtlichen</a:t>
            </a:r>
            <a:r>
              <a:rPr sz="1300" b="0" dirty="0">
                <a:solidFill>
                  <a:srgbClr val="55677A"/>
                </a:solidFill>
                <a:latin typeface="Arial"/>
              </a:rPr>
              <a:t> Formen, </a:t>
            </a:r>
            <a:r>
              <a:rPr sz="1300" b="0" dirty="0" err="1">
                <a:solidFill>
                  <a:srgbClr val="55677A"/>
                </a:solidFill>
                <a:latin typeface="Arial"/>
              </a:rPr>
              <a:t>Beteiligung</a:t>
            </a:r>
            <a:r>
              <a:rPr sz="1300" b="0" dirty="0">
                <a:solidFill>
                  <a:srgbClr val="55677A"/>
                </a:solidFill>
                <a:latin typeface="Arial"/>
              </a:rPr>
              <a:t> </a:t>
            </a:r>
            <a:r>
              <a:rPr sz="1300" b="0" dirty="0" err="1">
                <a:solidFill>
                  <a:srgbClr val="55677A"/>
                </a:solidFill>
                <a:latin typeface="Arial"/>
              </a:rPr>
              <a:t>bei</a:t>
            </a:r>
            <a:r>
              <a:rPr sz="1300" b="0" dirty="0">
                <a:solidFill>
                  <a:srgbClr val="55677A"/>
                </a:solidFill>
                <a:latin typeface="Arial"/>
              </a:rPr>
              <a:t> </a:t>
            </a:r>
            <a:r>
              <a:rPr sz="1300" b="0" dirty="0" err="1">
                <a:solidFill>
                  <a:srgbClr val="55677A"/>
                </a:solidFill>
                <a:latin typeface="Arial"/>
              </a:rPr>
              <a:t>privatrechtlichen</a:t>
            </a:r>
            <a:r>
              <a:rPr sz="1300" b="0" dirty="0">
                <a:solidFill>
                  <a:srgbClr val="55677A"/>
                </a:solidFill>
                <a:latin typeface="Arial"/>
              </a:rPr>
              <a:t>.</a:t>
            </a:r>
          </a:p>
        </p:txBody>
      </p:sp>
      <p:sp>
        <p:nvSpPr>
          <p:cNvPr id="13" name="TextBox 12"/>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4" name="TextBox 13"/>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DAS ERGEBNIS</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Vier Fünftel bleiben im Konzern Stadt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828800"/>
            <a:ext cx="4114800" cy="1463040"/>
          </a:xfrm>
          <a:prstGeom prst="rect">
            <a:avLst/>
          </a:prstGeom>
          <a:noFill/>
        </p:spPr>
        <p:txBody>
          <a:bodyPr wrap="square" lIns="45720" tIns="27432" rIns="45720" bIns="27432" anchor="t">
            <a:spAutoFit/>
          </a:bodyPr>
          <a:lstStyle/>
          <a:p>
            <a:pPr algn="l">
              <a:lnSpc>
                <a:spcPct val="115000"/>
              </a:lnSpc>
            </a:pPr>
            <a:r>
              <a:rPr sz="7200" b="1">
                <a:solidFill>
                  <a:srgbClr val="0A5C6E"/>
                </a:solidFill>
                <a:latin typeface="Arial"/>
              </a:rPr>
              <a:t>80,3 %</a:t>
            </a:r>
          </a:p>
          <a:p>
            <a:pPr algn="l">
              <a:lnSpc>
                <a:spcPct val="115000"/>
              </a:lnSpc>
            </a:pPr>
            <a:r>
              <a:rPr sz="1400" b="0">
                <a:solidFill>
                  <a:srgbClr val="55677A"/>
                </a:solidFill>
                <a:latin typeface="Arial"/>
              </a:rPr>
              <a:t>der 2,62 Mrd € gingen 2025 an städtische Unternehmen, Anstalten und Stiftungen</a:t>
            </a:r>
          </a:p>
        </p:txBody>
      </p:sp>
      <p:graphicFrame>
        <p:nvGraphicFramePr>
          <p:cNvPr id="6" name="Table 5"/>
          <p:cNvGraphicFramePr>
            <a:graphicFrameLocks noGrp="1"/>
          </p:cNvGraphicFramePr>
          <p:nvPr/>
        </p:nvGraphicFramePr>
        <p:xfrm>
          <a:off x="640080" y="3657600"/>
          <a:ext cx="4114800" cy="1389888"/>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47472">
                <a:tc>
                  <a:txBody>
                    <a:bodyPr/>
                    <a:lstStyle/>
                    <a:p>
                      <a:r>
                        <a:rPr sz="1300" b="1">
                          <a:solidFill>
                            <a:srgbClr val="FFFFFF"/>
                          </a:solidFill>
                          <a:latin typeface="Arial"/>
                        </a:rPr>
                        <a:t>Gruppe</a:t>
                      </a:r>
                    </a:p>
                  </a:txBody>
                  <a:tcPr marL="73152" marR="73152" marT="36576" marB="36576">
                    <a:solidFill>
                      <a:srgbClr val="0A5C6E"/>
                    </a:solidFill>
                  </a:tcPr>
                </a:tc>
                <a:tc>
                  <a:txBody>
                    <a:bodyPr/>
                    <a:lstStyle/>
                    <a:p>
                      <a:r>
                        <a:rPr sz="1300" b="1">
                          <a:solidFill>
                            <a:srgbClr val="FFFFFF"/>
                          </a:solidFill>
                          <a:latin typeface="Arial"/>
                        </a:rPr>
                        <a:t>Anteil</a:t>
                      </a:r>
                    </a:p>
                  </a:txBody>
                  <a:tcPr marL="73152" marR="73152" marT="36576" marB="36576">
                    <a:solidFill>
                      <a:srgbClr val="0A5C6E"/>
                    </a:solidFill>
                  </a:tcPr>
                </a:tc>
                <a:extLst>
                  <a:ext uri="{0D108BD9-81ED-4DB2-BD59-A6C34878D82A}">
                    <a16:rowId xmlns:a16="http://schemas.microsoft.com/office/drawing/2014/main" val="10000"/>
                  </a:ext>
                </a:extLst>
              </a:tr>
              <a:tr h="347472">
                <a:tc>
                  <a:txBody>
                    <a:bodyPr/>
                    <a:lstStyle/>
                    <a:p>
                      <a:r>
                        <a:rPr sz="1300" b="0">
                          <a:solidFill>
                            <a:srgbClr val="16202A"/>
                          </a:solidFill>
                          <a:latin typeface="Arial"/>
                        </a:rPr>
                        <a:t>Städtisch</a:t>
                      </a:r>
                    </a:p>
                  </a:txBody>
                  <a:tcPr marL="73152" marR="73152" marT="36576" marB="36576">
                    <a:solidFill>
                      <a:srgbClr val="F6F7F8"/>
                    </a:solidFill>
                  </a:tcPr>
                </a:tc>
                <a:tc>
                  <a:txBody>
                    <a:bodyPr/>
                    <a:lstStyle/>
                    <a:p>
                      <a:pPr algn="r"/>
                      <a:r>
                        <a:rPr sz="1300" b="0">
                          <a:solidFill>
                            <a:srgbClr val="16202A"/>
                          </a:solidFill>
                          <a:latin typeface="Arial"/>
                        </a:rPr>
                        <a:t>80,3 %</a:t>
                      </a:r>
                    </a:p>
                  </a:txBody>
                  <a:tcPr marL="73152" marR="73152" marT="36576" marB="36576">
                    <a:solidFill>
                      <a:srgbClr val="F6F7F8"/>
                    </a:solidFill>
                  </a:tcPr>
                </a:tc>
                <a:extLst>
                  <a:ext uri="{0D108BD9-81ED-4DB2-BD59-A6C34878D82A}">
                    <a16:rowId xmlns:a16="http://schemas.microsoft.com/office/drawing/2014/main" val="10001"/>
                  </a:ext>
                </a:extLst>
              </a:tr>
              <a:tr h="347472">
                <a:tc>
                  <a:txBody>
                    <a:bodyPr/>
                    <a:lstStyle/>
                    <a:p>
                      <a:r>
                        <a:rPr sz="1300" b="0">
                          <a:solidFill>
                            <a:srgbClr val="16202A"/>
                          </a:solidFill>
                          <a:latin typeface="Arial"/>
                        </a:rPr>
                        <a:t>Gemischt-öffentlich</a:t>
                      </a:r>
                    </a:p>
                  </a:txBody>
                  <a:tcPr marL="73152" marR="73152" marT="36576" marB="36576">
                    <a:solidFill>
                      <a:srgbClr val="FFFFFF"/>
                    </a:solidFill>
                  </a:tcPr>
                </a:tc>
                <a:tc>
                  <a:txBody>
                    <a:bodyPr/>
                    <a:lstStyle/>
                    <a:p>
                      <a:pPr algn="r"/>
                      <a:r>
                        <a:rPr sz="1300" b="0">
                          <a:solidFill>
                            <a:srgbClr val="16202A"/>
                          </a:solidFill>
                          <a:latin typeface="Arial"/>
                        </a:rPr>
                        <a:t>1,3 %</a:t>
                      </a:r>
                    </a:p>
                  </a:txBody>
                  <a:tcPr marL="73152" marR="73152" marT="36576" marB="36576">
                    <a:solidFill>
                      <a:srgbClr val="FFFFFF"/>
                    </a:solidFill>
                  </a:tcPr>
                </a:tc>
                <a:extLst>
                  <a:ext uri="{0D108BD9-81ED-4DB2-BD59-A6C34878D82A}">
                    <a16:rowId xmlns:a16="http://schemas.microsoft.com/office/drawing/2014/main" val="10002"/>
                  </a:ext>
                </a:extLst>
              </a:tr>
              <a:tr h="347472">
                <a:tc>
                  <a:txBody>
                    <a:bodyPr/>
                    <a:lstStyle/>
                    <a:p>
                      <a:r>
                        <a:rPr sz="1300" b="0">
                          <a:solidFill>
                            <a:srgbClr val="16202A"/>
                          </a:solidFill>
                          <a:latin typeface="Arial"/>
                        </a:rPr>
                        <a:t>Nicht-städtisch</a:t>
                      </a:r>
                    </a:p>
                  </a:txBody>
                  <a:tcPr marL="73152" marR="73152" marT="36576" marB="36576">
                    <a:solidFill>
                      <a:srgbClr val="F6F7F8"/>
                    </a:solidFill>
                  </a:tcPr>
                </a:tc>
                <a:tc>
                  <a:txBody>
                    <a:bodyPr/>
                    <a:lstStyle/>
                    <a:p>
                      <a:pPr algn="r"/>
                      <a:r>
                        <a:rPr sz="1300" b="0">
                          <a:solidFill>
                            <a:srgbClr val="16202A"/>
                          </a:solidFill>
                          <a:latin typeface="Arial"/>
                        </a:rPr>
                        <a:t>18,4 % (481 Mio €)</a:t>
                      </a:r>
                    </a:p>
                  </a:txBody>
                  <a:tcPr marL="73152" marR="73152" marT="36576" marB="36576">
                    <a:solidFill>
                      <a:srgbClr val="F6F7F8"/>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5394960" y="1828800"/>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77840" y="1801368"/>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Ein Empfänger allein: 59,5 %</a:t>
            </a:r>
          </a:p>
        </p:txBody>
      </p:sp>
      <p:sp>
        <p:nvSpPr>
          <p:cNvPr id="9" name="TextBox 8"/>
          <p:cNvSpPr txBox="1"/>
          <p:nvPr/>
        </p:nvSpPr>
        <p:spPr>
          <a:xfrm>
            <a:off x="5577840" y="2148840"/>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Hamburger Hochbahn AG. Die zwanzig größten Empfänger zusammen: 82,5 %. Im Gesamtbild reicht eine einzige AG für mehr als die Hälfte.</a:t>
            </a:r>
          </a:p>
        </p:txBody>
      </p:sp>
      <p:sp>
        <p:nvSpPr>
          <p:cNvPr id="10" name="Rectangle 9"/>
          <p:cNvSpPr/>
          <p:nvPr/>
        </p:nvSpPr>
        <p:spPr>
          <a:xfrm>
            <a:off x="5394960" y="2852928"/>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2825496"/>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Der freie Sektor: 18,4 %</a:t>
            </a:r>
          </a:p>
        </p:txBody>
      </p:sp>
      <p:sp>
        <p:nvSpPr>
          <p:cNvPr id="12" name="TextBox 11"/>
          <p:cNvSpPr txBox="1"/>
          <p:nvPr/>
        </p:nvSpPr>
        <p:spPr>
          <a:xfrm>
            <a:off x="5577840" y="3172968"/>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481 Mio € verteilen sich auf 1.884 Empfänger. Die Top 20 dieser Gruppe vereinen 38,0 % statt 82,5 %, und 43 Empfänger brauchen es für die Hälfte. Deutlich breiter gestreut.</a:t>
            </a:r>
          </a:p>
        </p:txBody>
      </p:sp>
      <p:sp>
        <p:nvSpPr>
          <p:cNvPr id="13" name="Rectangle 12"/>
          <p:cNvSpPr/>
          <p:nvPr/>
        </p:nvSpPr>
        <p:spPr>
          <a:xfrm>
            <a:off x="5394960" y="3877056"/>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7840" y="3849624"/>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Gemischt-öffentlich: 1,3 %</a:t>
            </a:r>
          </a:p>
        </p:txBody>
      </p:sp>
      <p:sp>
        <p:nvSpPr>
          <p:cNvPr id="15" name="TextBox 14"/>
          <p:cNvSpPr txBox="1"/>
          <p:nvPr/>
        </p:nvSpPr>
        <p:spPr>
          <a:xfrm>
            <a:off x="5577840" y="4197096"/>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Gesellschaften mit einem zweiten öffentlichen Partner, etwa Schleswig-Holstein oder die Handelskammer. Drei Fälle.</a:t>
            </a:r>
          </a:p>
        </p:txBody>
      </p:sp>
      <p:sp>
        <p:nvSpPr>
          <p:cNvPr id="16" name="Rectangle 15"/>
          <p:cNvSpPr/>
          <p:nvPr/>
        </p:nvSpPr>
        <p:spPr>
          <a:xfrm>
            <a:off x="5394960" y="4901184"/>
            <a:ext cx="36000" cy="8686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577840" y="4873752"/>
            <a:ext cx="658368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Unter- und Obergrenze</a:t>
            </a:r>
          </a:p>
        </p:txBody>
      </p:sp>
      <p:sp>
        <p:nvSpPr>
          <p:cNvPr id="18" name="TextBox 17"/>
          <p:cNvSpPr txBox="1"/>
          <p:nvPr/>
        </p:nvSpPr>
        <p:spPr>
          <a:xfrm>
            <a:off x="5577840" y="5221224"/>
            <a:ext cx="6583680" cy="6858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Geprüft sind 50 von 1.913 Empfängern. 80,3 % ist eine Untergrenze für den städtischen Anteil, 18,4 % eine Obergrenze für den freien.</a:t>
            </a:r>
          </a:p>
        </p:txBody>
      </p:sp>
      <p:sp>
        <p:nvSpPr>
          <p:cNvPr id="19" name="TextBox 1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0" name="TextBox 1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DIE KACHEL</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Ein Befund geht hinein, ein Layout kommt heraus</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kachel_02_zuwendungen.png"/>
          <p:cNvPicPr>
            <a:picLocks noChangeAspect="1"/>
          </p:cNvPicPr>
          <p:nvPr/>
        </p:nvPicPr>
        <p:blipFill>
          <a:blip r:embed="rId2"/>
          <a:stretch>
            <a:fillRect/>
          </a:stretch>
        </p:blipFill>
        <p:spPr>
          <a:xfrm>
            <a:off x="640080" y="1874519"/>
            <a:ext cx="4297680" cy="4297680"/>
          </a:xfrm>
          <a:prstGeom prst="rect">
            <a:avLst/>
          </a:prstGeom>
        </p:spPr>
      </p:pic>
      <p:pic>
        <p:nvPicPr>
          <p:cNvPr id="6" name="Picture 5" descr="kachel_02_ndr.png"/>
          <p:cNvPicPr>
            <a:picLocks noChangeAspect="1"/>
          </p:cNvPicPr>
          <p:nvPr/>
        </p:nvPicPr>
        <p:blipFill>
          <a:blip r:embed="rId3"/>
          <a:stretch>
            <a:fillRect/>
          </a:stretch>
        </p:blipFill>
        <p:spPr>
          <a:xfrm>
            <a:off x="5166360" y="1874519"/>
            <a:ext cx="3438144" cy="4297680"/>
          </a:xfrm>
          <a:prstGeom prst="rect">
            <a:avLst/>
          </a:prstGeom>
        </p:spPr>
      </p:pic>
      <p:sp>
        <p:nvSpPr>
          <p:cNvPr id="7" name="TextBox 6"/>
          <p:cNvSpPr txBox="1"/>
          <p:nvPr/>
        </p:nvSpPr>
        <p:spPr>
          <a:xfrm>
            <a:off x="8869680" y="1874519"/>
            <a:ext cx="2681935" cy="274320"/>
          </a:xfrm>
          <a:prstGeom prst="rect">
            <a:avLst/>
          </a:prstGeom>
          <a:noFill/>
        </p:spPr>
        <p:txBody>
          <a:bodyPr wrap="square" lIns="45720" tIns="27432" rIns="45720" bIns="27432" anchor="t">
            <a:spAutoFit/>
          </a:bodyPr>
          <a:lstStyle/>
          <a:p>
            <a:pPr algn="l">
              <a:lnSpc>
                <a:spcPct val="115000"/>
              </a:lnSpc>
            </a:pPr>
            <a:r>
              <a:rPr sz="1100" b="1">
                <a:solidFill>
                  <a:srgbClr val="55677A"/>
                </a:solidFill>
                <a:latin typeface="Arial"/>
              </a:rPr>
              <a:t>DIE SCHNITTSTELLE</a:t>
            </a:r>
          </a:p>
        </p:txBody>
      </p:sp>
      <p:sp>
        <p:nvSpPr>
          <p:cNvPr id="8" name="Rectangle 7"/>
          <p:cNvSpPr/>
          <p:nvPr/>
        </p:nvSpPr>
        <p:spPr>
          <a:xfrm>
            <a:off x="8869680" y="2148840"/>
            <a:ext cx="2681935" cy="2514600"/>
          </a:xfrm>
          <a:prstGeom prst="rect">
            <a:avLst/>
          </a:prstGeom>
          <a:solidFill>
            <a:srgbClr val="1E2733"/>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8016" rIns="164592" bIns="128016" rtlCol="0" anchor="t"/>
          <a:lstStyle/>
          <a:p>
            <a:pPr algn="l"/>
            <a:r>
              <a:rPr sz="1100">
                <a:solidFill>
                  <a:srgbClr val="E6EDF3"/>
                </a:solidFill>
                <a:latin typeface="Consolas"/>
              </a:rPr>
              <a:t>@dataclass</a:t>
            </a:r>
          </a:p>
          <a:p>
            <a:pPr algn="l"/>
            <a:r>
              <a:rPr sz="1100">
                <a:solidFill>
                  <a:srgbClr val="E6EDF3"/>
                </a:solidFill>
                <a:latin typeface="Consolas"/>
              </a:rPr>
              <a:t>class Befund:</a:t>
            </a:r>
          </a:p>
          <a:p>
            <a:pPr algn="l"/>
            <a:r>
              <a:rPr sz="1100">
                <a:solidFill>
                  <a:srgbClr val="E6EDF3"/>
                </a:solidFill>
                <a:latin typeface="Consolas"/>
              </a:rPr>
              <a:t>    ueberschrift: str</a:t>
            </a:r>
          </a:p>
          <a:p>
            <a:pPr algn="l"/>
            <a:r>
              <a:rPr sz="1100">
                <a:solidFill>
                  <a:srgbClr val="E6EDF3"/>
                </a:solidFill>
                <a:latin typeface="Consolas"/>
              </a:rPr>
              <a:t>    kernzahl: str</a:t>
            </a:r>
          </a:p>
          <a:p>
            <a:pPr algn="l"/>
            <a:r>
              <a:rPr sz="1100">
                <a:solidFill>
                  <a:srgbClr val="E6EDF3"/>
                </a:solidFill>
                <a:latin typeface="Consolas"/>
              </a:rPr>
              <a:t>    erlaeuterung: str</a:t>
            </a:r>
          </a:p>
          <a:p>
            <a:pPr algn="l"/>
            <a:r>
              <a:rPr sz="1100">
                <a:solidFill>
                  <a:srgbClr val="E6EDF3"/>
                </a:solidFill>
                <a:latin typeface="Consolas"/>
              </a:rPr>
              <a:t>    reihe: list</a:t>
            </a:r>
          </a:p>
          <a:p>
            <a:pPr algn="l"/>
            <a:r>
              <a:rPr sz="1100">
                <a:solidFill>
                  <a:srgbClr val="E6EDF3"/>
                </a:solidFill>
                <a:latin typeface="Consolas"/>
              </a:rPr>
              <a:t>    quelle: str</a:t>
            </a:r>
          </a:p>
          <a:p>
            <a:pPr algn="l"/>
            <a:endParaRPr sz="1100">
              <a:solidFill>
                <a:srgbClr val="E6EDF3"/>
              </a:solidFill>
              <a:latin typeface="Consolas"/>
            </a:endParaRPr>
          </a:p>
          <a:p>
            <a:pPr algn="l"/>
            <a:r>
              <a:rPr sz="1100">
                <a:solidFill>
                  <a:srgbClr val="E6EDF3"/>
                </a:solidFill>
                <a:latin typeface="Consolas"/>
              </a:rPr>
              <a:t>rendern(befund, pfad)</a:t>
            </a:r>
          </a:p>
          <a:p>
            <a:pPr algn="l"/>
            <a:r>
              <a:rPr sz="1100">
                <a:solidFill>
                  <a:srgbClr val="E6EDF3"/>
                </a:solidFill>
                <a:latin typeface="Consolas"/>
              </a:rPr>
              <a:t>rendern_ndr_voll(befund, pfad, foto)</a:t>
            </a:r>
          </a:p>
        </p:txBody>
      </p:sp>
      <p:sp>
        <p:nvSpPr>
          <p:cNvPr id="9" name="TextBox 8"/>
          <p:cNvSpPr txBox="1"/>
          <p:nvPr/>
        </p:nvSpPr>
        <p:spPr>
          <a:xfrm>
            <a:off x="8869680" y="4800600"/>
            <a:ext cx="2681935" cy="137160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Links das Standard-Layout, rechts eine Variante in Senderoptik mit Foto. Beide bekommen denselben Befund. Die Quellenzeile ist Pflicht und Teil des Befunds, kein Gestaltungselement.</a:t>
            </a:r>
          </a:p>
        </p:txBody>
      </p:sp>
      <p:sp>
        <p:nvSpPr>
          <p:cNvPr id="10" name="TextBox 9"/>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1" name="TextBox 10"/>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GRENZEN</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Was diese Auswertung nicht sagt</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05740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Bewilligt, nicht ausgezahlt</a:t>
            </a:r>
          </a:p>
        </p:txBody>
      </p:sp>
      <p:sp>
        <p:nvSpPr>
          <p:cNvPr id="7" name="TextBox 6"/>
          <p:cNvSpPr txBox="1"/>
          <p:nvPr/>
        </p:nvSpPr>
        <p:spPr>
          <a:xfrm>
            <a:off x="868680" y="246888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Daten zeigen Bescheide. Ob das Geld abgerufen wurde, steht nicht darin.</a:t>
            </a:r>
          </a:p>
        </p:txBody>
      </p:sp>
      <p:sp>
        <p:nvSpPr>
          <p:cNvPr id="8" name="Rectangle 7"/>
          <p:cNvSpPr/>
          <p:nvPr/>
        </p:nvSpPr>
        <p:spPr>
          <a:xfrm>
            <a:off x="6217920" y="192024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205740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50 von 1.913 Empfängern sind geprüft</a:t>
            </a:r>
          </a:p>
        </p:txBody>
      </p:sp>
      <p:sp>
        <p:nvSpPr>
          <p:cNvPr id="10" name="TextBox 9"/>
          <p:cNvSpPr txBox="1"/>
          <p:nvPr/>
        </p:nvSpPr>
        <p:spPr>
          <a:xfrm>
            <a:off x="6446520" y="246888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Für den langen Rest gilt „nicht als städtisch belegt“, nicht „nachweislich nicht städtisch“. Deshalb Unter- und Obergrenze statt Punktwert.</a:t>
            </a:r>
          </a:p>
        </p:txBody>
      </p:sp>
      <p:sp>
        <p:nvSpPr>
          <p:cNvPr id="11" name="Rectangle 10"/>
          <p:cNvSpPr/>
          <p:nvPr/>
        </p:nvSpPr>
        <p:spPr>
          <a:xfrm>
            <a:off x="640080" y="384048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97764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Der Vergleichsschlüssel entfernt auch Umlaute</a:t>
            </a:r>
          </a:p>
        </p:txBody>
      </p:sp>
      <p:sp>
        <p:nvSpPr>
          <p:cNvPr id="13" name="TextBox 12"/>
          <p:cNvSpPr txBox="1"/>
          <p:nvPr/>
        </p:nvSpPr>
        <p:spPr>
          <a:xfrm>
            <a:off x="868680" y="438912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„Müller“ und „Muller“ bekämen denselben Schlüssel. In diesem Datensatz nicht aufgetreten, bleibt aber eine Grenze des Verfahrens. Rechtsform-Varianten wie „AG“ und „Aktiengesellschaft“ führt er nicht zusammen, dafür ein gezielter Check auf die zehn größten Namen.</a:t>
            </a:r>
          </a:p>
        </p:txBody>
      </p:sp>
      <p:sp>
        <p:nvSpPr>
          <p:cNvPr id="14" name="Rectangle 13"/>
          <p:cNvSpPr/>
          <p:nvPr/>
        </p:nvSpPr>
        <p:spPr>
          <a:xfrm>
            <a:off x="6217920" y="3840480"/>
            <a:ext cx="5303520" cy="16916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3977640"/>
            <a:ext cx="4846320" cy="365760"/>
          </a:xfrm>
          <a:prstGeom prst="rect">
            <a:avLst/>
          </a:prstGeom>
          <a:noFill/>
        </p:spPr>
        <p:txBody>
          <a:bodyPr wrap="square" lIns="45720" tIns="27432" rIns="45720" bIns="27432" anchor="t">
            <a:spAutoFit/>
          </a:bodyPr>
          <a:lstStyle/>
          <a:p>
            <a:pPr algn="l">
              <a:lnSpc>
                <a:spcPct val="115000"/>
              </a:lnSpc>
            </a:pPr>
            <a:r>
              <a:rPr sz="1500" b="1">
                <a:solidFill>
                  <a:srgbClr val="16202A"/>
                </a:solidFill>
                <a:latin typeface="Arial"/>
              </a:rPr>
              <a:t>Seitengenaue Belege fehlen</a:t>
            </a:r>
          </a:p>
        </p:txBody>
      </p:sp>
      <p:sp>
        <p:nvSpPr>
          <p:cNvPr id="16" name="TextBox 15"/>
          <p:cNvSpPr txBox="1"/>
          <p:nvPr/>
        </p:nvSpPr>
        <p:spPr>
          <a:xfrm>
            <a:off x="6446520" y="4389120"/>
            <a:ext cx="484632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Die Prüfung gegen den Beteiligungsbericht ist erfolgt, die Fundstellen sind nicht je Zeile mitgeschrieben. Für eine Veröffentlichung wäre das nachzuholen.</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FAZIT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Dinge, die ich mitnehme</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965960"/>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1</a:t>
            </a:r>
          </a:p>
        </p:txBody>
      </p:sp>
      <p:sp>
        <p:nvSpPr>
          <p:cNvPr id="7" name="TextBox 6"/>
          <p:cNvSpPr txBox="1"/>
          <p:nvPr/>
        </p:nvSpPr>
        <p:spPr>
          <a:xfrm>
            <a:off x="1554480" y="1929384"/>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Die Analyse war schnell, das Prüfen war die Arbeit</a:t>
            </a:r>
          </a:p>
        </p:txBody>
      </p:sp>
      <p:sp>
        <p:nvSpPr>
          <p:cNvPr id="8" name="TextBox 7"/>
          <p:cNvSpPr txBox="1"/>
          <p:nvPr/>
        </p:nvSpPr>
        <p:spPr>
          <a:xfrm>
            <a:off x="1554480" y="2350008"/>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Die Gruppierung stand an einem Vormittag. Die Tage danach gingen für die Frage drauf, ob sie stimmt.</a:t>
            </a:r>
          </a:p>
        </p:txBody>
      </p:sp>
      <p:sp>
        <p:nvSpPr>
          <p:cNvPr id="9" name="Rectangle 8"/>
          <p:cNvSpPr/>
          <p:nvPr/>
        </p:nvSpPr>
        <p:spPr>
          <a:xfrm>
            <a:off x="640080" y="3291839"/>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291839"/>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2</a:t>
            </a:r>
          </a:p>
        </p:txBody>
      </p:sp>
      <p:sp>
        <p:nvSpPr>
          <p:cNvPr id="11" name="TextBox 10"/>
          <p:cNvSpPr txBox="1"/>
          <p:nvPr/>
        </p:nvSpPr>
        <p:spPr>
          <a:xfrm>
            <a:off x="1554480" y="3255263"/>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Jeder Fund kam aus einem Test, nicht aus dem Rechnen</a:t>
            </a:r>
          </a:p>
        </p:txBody>
      </p:sp>
      <p:sp>
        <p:nvSpPr>
          <p:cNvPr id="12" name="TextBox 11"/>
          <p:cNvSpPr txBox="1"/>
          <p:nvPr/>
        </p:nvSpPr>
        <p:spPr>
          <a:xfrm>
            <a:off x="1554480" y="3675887"/>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Alle drei Korrekturen (Schreibweisen, die falsche 40 %, die zwei Äste der Regel) entstanden beim Prüfen von etwas, das bereits fertig aussah. Ein Ergebnis ohne Gegenprobe ist eine Vermutung.</a:t>
            </a:r>
          </a:p>
        </p:txBody>
      </p:sp>
      <p:sp>
        <p:nvSpPr>
          <p:cNvPr id="13" name="Rectangle 12"/>
          <p:cNvSpPr/>
          <p:nvPr/>
        </p:nvSpPr>
        <p:spPr>
          <a:xfrm>
            <a:off x="640080" y="4617720"/>
            <a:ext cx="640080" cy="64008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617720"/>
            <a:ext cx="640080" cy="640080"/>
          </a:xfrm>
          <a:prstGeom prst="rect">
            <a:avLst/>
          </a:prstGeom>
          <a:noFill/>
        </p:spPr>
        <p:txBody>
          <a:bodyPr wrap="square" lIns="45720" tIns="27432" rIns="45720" bIns="27432" anchor="ctr">
            <a:spAutoFit/>
          </a:bodyPr>
          <a:lstStyle/>
          <a:p>
            <a:pPr algn="ctr">
              <a:lnSpc>
                <a:spcPct val="115000"/>
              </a:lnSpc>
            </a:pPr>
            <a:r>
              <a:rPr sz="2200" b="1">
                <a:solidFill>
                  <a:srgbClr val="FFFFFF"/>
                </a:solidFill>
                <a:latin typeface="Arial"/>
              </a:rPr>
              <a:t>3</a:t>
            </a:r>
          </a:p>
        </p:txBody>
      </p:sp>
      <p:sp>
        <p:nvSpPr>
          <p:cNvPr id="15" name="TextBox 14"/>
          <p:cNvSpPr txBox="1"/>
          <p:nvPr/>
        </p:nvSpPr>
        <p:spPr>
          <a:xfrm>
            <a:off x="1554480" y="4581144"/>
            <a:ext cx="9601200" cy="411480"/>
          </a:xfrm>
          <a:prstGeom prst="rect">
            <a:avLst/>
          </a:prstGeom>
          <a:noFill/>
        </p:spPr>
        <p:txBody>
          <a:bodyPr wrap="square" lIns="45720" tIns="27432" rIns="45720" bIns="27432" anchor="t">
            <a:spAutoFit/>
          </a:bodyPr>
          <a:lstStyle/>
          <a:p>
            <a:pPr algn="l">
              <a:lnSpc>
                <a:spcPct val="115000"/>
              </a:lnSpc>
            </a:pPr>
            <a:r>
              <a:rPr sz="1800" b="1">
                <a:solidFill>
                  <a:srgbClr val="16202A"/>
                </a:solidFill>
                <a:latin typeface="Arial"/>
              </a:rPr>
              <a:t>Nichtwissen beziffern statt verschweigen</a:t>
            </a:r>
          </a:p>
        </p:txBody>
      </p:sp>
      <p:sp>
        <p:nvSpPr>
          <p:cNvPr id="16" name="TextBox 15"/>
          <p:cNvSpPr txBox="1"/>
          <p:nvPr/>
        </p:nvSpPr>
        <p:spPr>
          <a:xfrm>
            <a:off x="1554480" y="5001768"/>
            <a:ext cx="9601200" cy="822960"/>
          </a:xfrm>
          <a:prstGeom prst="rect">
            <a:avLst/>
          </a:prstGeom>
          <a:noFill/>
        </p:spPr>
        <p:txBody>
          <a:bodyPr wrap="square" lIns="45720" tIns="27432" rIns="45720" bIns="27432" anchor="t">
            <a:spAutoFit/>
          </a:bodyPr>
          <a:lstStyle/>
          <a:p>
            <a:pPr algn="l">
              <a:lnSpc>
                <a:spcPct val="115000"/>
              </a:lnSpc>
            </a:pPr>
            <a:r>
              <a:rPr sz="1300" b="0">
                <a:solidFill>
                  <a:srgbClr val="55677A"/>
                </a:solidFill>
                <a:latin typeface="Arial"/>
              </a:rPr>
              <a:t>„Ich weiß es nicht“ ist eine Lücke. „Ich weiß es nicht, und es macht höchstens 0,34 % aus“ ist ein Ergebnis.</a:t>
            </a:r>
          </a:p>
        </p:txBody>
      </p:sp>
      <p:sp>
        <p:nvSpPr>
          <p:cNvPr id="17" name="TextBox 16"/>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8" name="TextBox 17"/>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640080" y="2377440"/>
            <a:ext cx="1097280" cy="36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606040"/>
            <a:ext cx="10911535" cy="457200"/>
          </a:xfrm>
          <a:prstGeom prst="rect">
            <a:avLst/>
          </a:prstGeom>
          <a:noFill/>
        </p:spPr>
        <p:txBody>
          <a:bodyPr wrap="square" lIns="45720" tIns="27432" rIns="45720" bIns="27432" anchor="t">
            <a:spAutoFit/>
          </a:bodyPr>
          <a:lstStyle/>
          <a:p>
            <a:pPr algn="l">
              <a:lnSpc>
                <a:spcPct val="115000"/>
              </a:lnSpc>
            </a:pPr>
            <a:r>
              <a:rPr sz="1400" b="1">
                <a:solidFill>
                  <a:srgbClr val="F6F7F8"/>
                </a:solidFill>
                <a:latin typeface="Arial"/>
              </a:rPr>
              <a:t>TEIL 3</a:t>
            </a:r>
          </a:p>
        </p:txBody>
      </p:sp>
      <p:sp>
        <p:nvSpPr>
          <p:cNvPr id="4" name="TextBox 3"/>
          <p:cNvSpPr txBox="1"/>
          <p:nvPr/>
        </p:nvSpPr>
        <p:spPr>
          <a:xfrm>
            <a:off x="640080" y="3017520"/>
            <a:ext cx="10911535" cy="1463040"/>
          </a:xfrm>
          <a:prstGeom prst="rect">
            <a:avLst/>
          </a:prstGeom>
          <a:noFill/>
        </p:spPr>
        <p:txBody>
          <a:bodyPr wrap="square" lIns="45720" tIns="27432" rIns="45720" bIns="27432" anchor="t">
            <a:spAutoFit/>
          </a:bodyPr>
          <a:lstStyle/>
          <a:p>
            <a:pPr algn="l">
              <a:lnSpc>
                <a:spcPct val="115000"/>
              </a:lnSpc>
            </a:pPr>
            <a:r>
              <a:rPr sz="3600" b="1">
                <a:solidFill>
                  <a:srgbClr val="FFFFFF"/>
                </a:solidFill>
                <a:latin typeface="Arial"/>
              </a:rPr>
              <a:t>Der Ausblick: von der Handarbeit zur Pipeline</a:t>
            </a:r>
          </a:p>
        </p:txBody>
      </p:sp>
      <p:sp>
        <p:nvSpPr>
          <p:cNvPr id="5" name="TextBox 4"/>
          <p:cNvSpPr txBox="1"/>
          <p:nvPr/>
        </p:nvSpPr>
        <p:spPr>
          <a:xfrm>
            <a:off x="640080" y="4572000"/>
            <a:ext cx="9144000" cy="914400"/>
          </a:xfrm>
          <a:prstGeom prst="rect">
            <a:avLst/>
          </a:prstGeom>
          <a:noFill/>
        </p:spPr>
        <p:txBody>
          <a:bodyPr wrap="square" lIns="45720" tIns="27432" rIns="45720" bIns="27432" anchor="t">
            <a:spAutoFit/>
          </a:bodyPr>
          <a:lstStyle/>
          <a:p>
            <a:pPr algn="l">
              <a:lnSpc>
                <a:spcPct val="115000"/>
              </a:lnSpc>
            </a:pPr>
            <a:r>
              <a:rPr sz="1800" b="0">
                <a:solidFill>
                  <a:srgbClr val="F6F7F8"/>
                </a:solidFill>
                <a:latin typeface="Arial"/>
              </a:rPr>
              <a:t>Was ich hier einmal von Hand gemacht habe, soll für amtliche Statistik automatisch laufen. Mit Freigabe durch einen Menschen.</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ZIELBILD AUTOMATISIERUNG</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Frage rein, Kachel raus, Mensch gibt frei</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1 · Katalog</a:t>
            </a:r>
          </a:p>
        </p:txBody>
      </p:sp>
      <p:sp>
        <p:nvSpPr>
          <p:cNvPr id="7" name="TextBox 6"/>
          <p:cNvSpPr txBox="1"/>
          <p:nvPr/>
        </p:nvSpPr>
        <p:spPr>
          <a:xfrm>
            <a:off x="777240"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30–50 gepflegte Kennzahlen: Klartextname, Beispielfragen, Quelle, Tabellennummer, Regionsebene, Adapter</a:t>
            </a:r>
          </a:p>
        </p:txBody>
      </p:sp>
      <p:sp>
        <p:nvSpPr>
          <p:cNvPr id="8" name="Right Arrow 7"/>
          <p:cNvSpPr/>
          <p:nvPr/>
        </p:nvSpPr>
        <p:spPr>
          <a:xfrm>
            <a:off x="2706623"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43783"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80943"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2 · Abruf</a:t>
            </a:r>
          </a:p>
        </p:txBody>
      </p:sp>
      <p:sp>
        <p:nvSpPr>
          <p:cNvPr id="11" name="TextBox 10"/>
          <p:cNvSpPr txBox="1"/>
          <p:nvPr/>
        </p:nvSpPr>
        <p:spPr>
          <a:xfrm>
            <a:off x="2980943"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Amtliche Schnittstellen: Destatis GENESIS, Regionaldatenbank, Zensus 2022, Transparenzportal (CKAN)</a:t>
            </a:r>
          </a:p>
        </p:txBody>
      </p:sp>
      <p:sp>
        <p:nvSpPr>
          <p:cNvPr id="12" name="Right Arrow 11"/>
          <p:cNvSpPr/>
          <p:nvPr/>
        </p:nvSpPr>
        <p:spPr>
          <a:xfrm>
            <a:off x="4910326"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47486"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84646"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3 · Zielform</a:t>
            </a:r>
          </a:p>
        </p:txBody>
      </p:sp>
      <p:sp>
        <p:nvSpPr>
          <p:cNvPr id="15" name="TextBox 14"/>
          <p:cNvSpPr txBox="1"/>
          <p:nvPr/>
        </p:nvSpPr>
        <p:spPr>
          <a:xfrm>
            <a:off x="5184646"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Jede Quelle einmal in dieselbe schmale Tabelle übersetzt: region, zeit, merkmal, wert, einheit, quelle, stand</a:t>
            </a:r>
          </a:p>
        </p:txBody>
      </p:sp>
      <p:sp>
        <p:nvSpPr>
          <p:cNvPr id="16" name="Right Arrow 15"/>
          <p:cNvSpPr/>
          <p:nvPr/>
        </p:nvSpPr>
        <p:spPr>
          <a:xfrm>
            <a:off x="7114029"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251189" y="2011680"/>
            <a:ext cx="2084831" cy="265176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8349"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4 · Frage→Kennzahl</a:t>
            </a:r>
          </a:p>
        </p:txBody>
      </p:sp>
      <p:sp>
        <p:nvSpPr>
          <p:cNvPr id="19" name="TextBox 18"/>
          <p:cNvSpPr txBox="1"/>
          <p:nvPr/>
        </p:nvSpPr>
        <p:spPr>
          <a:xfrm>
            <a:off x="7388349"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55677A"/>
                </a:solidFill>
                <a:latin typeface="Arial"/>
              </a:rPr>
              <a:t>Sprachmodell liest Frage und Katalogtexte, schlägt drei Kandidaten vor. Es sieht nie Zahlen.</a:t>
            </a:r>
          </a:p>
        </p:txBody>
      </p:sp>
      <p:sp>
        <p:nvSpPr>
          <p:cNvPr id="20" name="Right Arrow 19"/>
          <p:cNvSpPr/>
          <p:nvPr/>
        </p:nvSpPr>
        <p:spPr>
          <a:xfrm>
            <a:off x="9317732" y="3154680"/>
            <a:ext cx="155448" cy="274320"/>
          </a:xfrm>
          <a:prstGeom prst="rightArrow">
            <a:avLst/>
          </a:prstGeom>
          <a:solidFill>
            <a:srgbClr val="0A5C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454892" y="2011680"/>
            <a:ext cx="2084831" cy="265176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92052" y="2103120"/>
            <a:ext cx="1810511" cy="411480"/>
          </a:xfrm>
          <a:prstGeom prst="rect">
            <a:avLst/>
          </a:prstGeom>
          <a:noFill/>
        </p:spPr>
        <p:txBody>
          <a:bodyPr wrap="square" lIns="45720" tIns="27432" rIns="45720" bIns="27432" anchor="t">
            <a:spAutoFit/>
          </a:bodyPr>
          <a:lstStyle/>
          <a:p>
            <a:pPr algn="l">
              <a:lnSpc>
                <a:spcPct val="115000"/>
              </a:lnSpc>
            </a:pPr>
            <a:r>
              <a:rPr sz="1400" b="1">
                <a:solidFill>
                  <a:srgbClr val="FFFFFF"/>
                </a:solidFill>
                <a:latin typeface="Arial"/>
              </a:rPr>
              <a:t>5 · Freigabe</a:t>
            </a:r>
          </a:p>
        </p:txBody>
      </p:sp>
      <p:sp>
        <p:nvSpPr>
          <p:cNvPr id="23" name="TextBox 22"/>
          <p:cNvSpPr txBox="1"/>
          <p:nvPr/>
        </p:nvSpPr>
        <p:spPr>
          <a:xfrm>
            <a:off x="9592052" y="2606040"/>
            <a:ext cx="1810511" cy="2011680"/>
          </a:xfrm>
          <a:prstGeom prst="rect">
            <a:avLst/>
          </a:prstGeom>
          <a:noFill/>
        </p:spPr>
        <p:txBody>
          <a:bodyPr wrap="square" lIns="45720" tIns="27432" rIns="45720" bIns="27432" anchor="t">
            <a:spAutoFit/>
          </a:bodyPr>
          <a:lstStyle/>
          <a:p>
            <a:pPr algn="l">
              <a:lnSpc>
                <a:spcPct val="115000"/>
              </a:lnSpc>
            </a:pPr>
            <a:r>
              <a:rPr sz="1150" b="0">
                <a:solidFill>
                  <a:srgbClr val="F6F7F8"/>
                </a:solidFill>
                <a:latin typeface="Arial"/>
              </a:rPr>
              <a:t>Befund → Renderfunktion von hier. Vorschau, Freigabeknopf, dann erst Instagram.</a:t>
            </a:r>
          </a:p>
        </p:txBody>
      </p:sp>
      <p:sp>
        <p:nvSpPr>
          <p:cNvPr id="24" name="Rectangle 23"/>
          <p:cNvSpPr/>
          <p:nvPr/>
        </p:nvSpPr>
        <p:spPr>
          <a:xfrm>
            <a:off x="640080" y="4937760"/>
            <a:ext cx="10911535" cy="100584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029200"/>
            <a:ext cx="10362895" cy="914400"/>
          </a:xfrm>
          <a:prstGeom prst="rect">
            <a:avLst/>
          </a:prstGeom>
          <a:noFill/>
        </p:spPr>
        <p:txBody>
          <a:bodyPr wrap="square" lIns="45720" tIns="27432" rIns="45720" bIns="27432" anchor="t">
            <a:spAutoFit/>
          </a:bodyPr>
          <a:lstStyle/>
          <a:p>
            <a:pPr algn="l">
              <a:lnSpc>
                <a:spcPct val="115000"/>
              </a:lnSpc>
            </a:pPr>
            <a:r>
              <a:rPr sz="1400" b="1">
                <a:solidFill>
                  <a:srgbClr val="16202A"/>
                </a:solidFill>
                <a:latin typeface="Arial"/>
              </a:rPr>
              <a:t>Die Grundentscheidung: nicht putzen, sondern normalisieren.</a:t>
            </a:r>
          </a:p>
          <a:p>
            <a:pPr algn="l">
              <a:lnSpc>
                <a:spcPct val="115000"/>
              </a:lnSpc>
            </a:pPr>
            <a:r>
              <a:rPr sz="1300" b="0">
                <a:solidFill>
                  <a:srgbClr val="16202A"/>
                </a:solidFill>
                <a:latin typeface="Arial"/>
              </a:rPr>
              <a:t>Eine Regel, die jeden beliebigen Datensatz bereinigt, gibt es nicht. Stattdessen wird jede Quelle einmal in die Zielform übersetzt. Quelle und Stand stehen in jeder Zeile, damit ist die Rückverfolgbarkeit technisch eingebaut.</a:t>
            </a:r>
          </a:p>
        </p:txBody>
      </p:sp>
      <p:sp>
        <p:nvSpPr>
          <p:cNvPr id="26" name="TextBox 2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27" name="TextBox 2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WAS DAS KONKRET HEISST</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Drei Quellen-Klassen und ein Hamburg-Problem</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6583680" cy="274320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685800">
                <a:tc>
                  <a:txBody>
                    <a:bodyPr/>
                    <a:lstStyle/>
                    <a:p>
                      <a:r>
                        <a:rPr sz="1100" b="1">
                          <a:solidFill>
                            <a:srgbClr val="FFFFFF"/>
                          </a:solidFill>
                          <a:latin typeface="Arial"/>
                        </a:rPr>
                        <a:t>Klasse</a:t>
                      </a:r>
                    </a:p>
                  </a:txBody>
                  <a:tcPr marL="73152" marR="73152" marT="36576" marB="36576">
                    <a:solidFill>
                      <a:srgbClr val="0A5C6E"/>
                    </a:solidFill>
                  </a:tcPr>
                </a:tc>
                <a:tc>
                  <a:txBody>
                    <a:bodyPr/>
                    <a:lstStyle/>
                    <a:p>
                      <a:r>
                        <a:rPr sz="1100" b="1">
                          <a:solidFill>
                            <a:srgbClr val="FFFFFF"/>
                          </a:solidFill>
                          <a:latin typeface="Arial"/>
                        </a:rPr>
                        <a:t>Quellen</a:t>
                      </a:r>
                    </a:p>
                  </a:txBody>
                  <a:tcPr marL="73152" marR="73152" marT="36576" marB="36576">
                    <a:solidFill>
                      <a:srgbClr val="0A5C6E"/>
                    </a:solidFill>
                  </a:tcPr>
                </a:tc>
                <a:tc>
                  <a:txBody>
                    <a:bodyPr/>
                    <a:lstStyle/>
                    <a:p>
                      <a:r>
                        <a:rPr sz="1100" b="1">
                          <a:solidFill>
                            <a:srgbClr val="FFFFFF"/>
                          </a:solidFill>
                          <a:latin typeface="Arial"/>
                        </a:rPr>
                        <a:t>Aufwand</a:t>
                      </a:r>
                    </a:p>
                  </a:txBody>
                  <a:tcPr marL="73152" marR="73152" marT="36576" marB="36576">
                    <a:solidFill>
                      <a:srgbClr val="0A5C6E"/>
                    </a:solidFill>
                  </a:tcPr>
                </a:tc>
                <a:extLst>
                  <a:ext uri="{0D108BD9-81ED-4DB2-BD59-A6C34878D82A}">
                    <a16:rowId xmlns:a16="http://schemas.microsoft.com/office/drawing/2014/main" val="10000"/>
                  </a:ext>
                </a:extLst>
              </a:tr>
              <a:tr h="685800">
                <a:tc>
                  <a:txBody>
                    <a:bodyPr/>
                    <a:lstStyle/>
                    <a:p>
                      <a:r>
                        <a:rPr sz="1100" b="0">
                          <a:solidFill>
                            <a:srgbClr val="16202A"/>
                          </a:solidFill>
                          <a:latin typeface="Arial"/>
                        </a:rPr>
                        <a:t>A · Schnittstelle</a:t>
                      </a:r>
                    </a:p>
                  </a:txBody>
                  <a:tcPr marL="73152" marR="73152" marT="36576" marB="36576">
                    <a:solidFill>
                      <a:srgbClr val="F6F7F8"/>
                    </a:solidFill>
                  </a:tcPr>
                </a:tc>
                <a:tc>
                  <a:txBody>
                    <a:bodyPr/>
                    <a:lstStyle/>
                    <a:p>
                      <a:r>
                        <a:rPr sz="1100" b="0">
                          <a:solidFill>
                            <a:srgbClr val="16202A"/>
                          </a:solidFill>
                          <a:latin typeface="Arial"/>
                        </a:rPr>
                        <a:t>Destatis GENESIS, Regionaldatenbank, Zensus 2022, Landesämter</a:t>
                      </a:r>
                    </a:p>
                  </a:txBody>
                  <a:tcPr marL="73152" marR="73152" marT="36576" marB="36576">
                    <a:solidFill>
                      <a:srgbClr val="F6F7F8"/>
                    </a:solidFill>
                  </a:tcPr>
                </a:tc>
                <a:tc>
                  <a:txBody>
                    <a:bodyPr/>
                    <a:lstStyle/>
                    <a:p>
                      <a:r>
                        <a:rPr sz="1100" b="0">
                          <a:solidFill>
                            <a:srgbClr val="16202A"/>
                          </a:solidFill>
                          <a:latin typeface="Arial"/>
                        </a:rPr>
                        <a:t>ein Adapter für alle, danach keine Handarbeit</a:t>
                      </a:r>
                    </a:p>
                  </a:txBody>
                  <a:tcPr marL="73152" marR="73152" marT="36576" marB="36576">
                    <a:solidFill>
                      <a:srgbClr val="F6F7F8"/>
                    </a:solidFill>
                  </a:tcPr>
                </a:tc>
                <a:extLst>
                  <a:ext uri="{0D108BD9-81ED-4DB2-BD59-A6C34878D82A}">
                    <a16:rowId xmlns:a16="http://schemas.microsoft.com/office/drawing/2014/main" val="10001"/>
                  </a:ext>
                </a:extLst>
              </a:tr>
              <a:tr h="685800">
                <a:tc>
                  <a:txBody>
                    <a:bodyPr/>
                    <a:lstStyle/>
                    <a:p>
                      <a:r>
                        <a:rPr sz="1100" b="0">
                          <a:solidFill>
                            <a:srgbClr val="16202A"/>
                          </a:solidFill>
                          <a:latin typeface="Arial"/>
                        </a:rPr>
                        <a:t>B · strukturierte Datei</a:t>
                      </a:r>
                    </a:p>
                  </a:txBody>
                  <a:tcPr marL="73152" marR="73152" marT="36576" marB="36576">
                    <a:solidFill>
                      <a:srgbClr val="FFFFFF"/>
                    </a:solidFill>
                  </a:tcPr>
                </a:tc>
                <a:tc>
                  <a:txBody>
                    <a:bodyPr/>
                    <a:lstStyle/>
                    <a:p>
                      <a:r>
                        <a:rPr sz="1100" b="0">
                          <a:solidFill>
                            <a:srgbClr val="16202A"/>
                          </a:solidFill>
                          <a:latin typeface="Arial"/>
                        </a:rPr>
                        <a:t>Transparenzportal HH (CSV/GeoJSON via CKAN-API), Stadtteilprofile Statistikamt Nord (Excel)</a:t>
                      </a:r>
                    </a:p>
                  </a:txBody>
                  <a:tcPr marL="73152" marR="73152" marT="36576" marB="36576">
                    <a:solidFill>
                      <a:srgbClr val="FFFFFF"/>
                    </a:solidFill>
                  </a:tcPr>
                </a:tc>
                <a:tc>
                  <a:txBody>
                    <a:bodyPr/>
                    <a:lstStyle/>
                    <a:p>
                      <a:r>
                        <a:rPr sz="1100" b="0">
                          <a:solidFill>
                            <a:srgbClr val="16202A"/>
                          </a:solidFill>
                          <a:latin typeface="Arial"/>
                        </a:rPr>
                        <a:t>ein kleiner Adapter je Dateityp</a:t>
                      </a:r>
                    </a:p>
                  </a:txBody>
                  <a:tcPr marL="73152" marR="73152" marT="36576" marB="36576">
                    <a:solidFill>
                      <a:srgbClr val="FFFFFF"/>
                    </a:solidFill>
                  </a:tcPr>
                </a:tc>
                <a:extLst>
                  <a:ext uri="{0D108BD9-81ED-4DB2-BD59-A6C34878D82A}">
                    <a16:rowId xmlns:a16="http://schemas.microsoft.com/office/drawing/2014/main" val="10002"/>
                  </a:ext>
                </a:extLst>
              </a:tr>
              <a:tr h="685800">
                <a:tc>
                  <a:txBody>
                    <a:bodyPr/>
                    <a:lstStyle/>
                    <a:p>
                      <a:r>
                        <a:rPr sz="1100" b="0">
                          <a:solidFill>
                            <a:srgbClr val="16202A"/>
                          </a:solidFill>
                          <a:latin typeface="Arial"/>
                        </a:rPr>
                        <a:t>C · PDF, krumme Excel</a:t>
                      </a:r>
                    </a:p>
                  </a:txBody>
                  <a:tcPr marL="73152" marR="73152" marT="36576" marB="36576">
                    <a:solidFill>
                      <a:srgbClr val="F6F7F8"/>
                    </a:solidFill>
                  </a:tcPr>
                </a:tc>
                <a:tc>
                  <a:txBody>
                    <a:bodyPr/>
                    <a:lstStyle/>
                    <a:p>
                      <a:r>
                        <a:rPr sz="1100" b="0">
                          <a:solidFill>
                            <a:srgbClr val="16202A"/>
                          </a:solidFill>
                          <a:latin typeface="Arial"/>
                        </a:rPr>
                        <a:t>Bürgerschaftsdrucksachen, Sonderauswertungen, INEZ-Zuwendungen wie hier</a:t>
                      </a:r>
                    </a:p>
                  </a:txBody>
                  <a:tcPr marL="73152" marR="73152" marT="36576" marB="36576">
                    <a:solidFill>
                      <a:srgbClr val="F6F7F8"/>
                    </a:solidFill>
                  </a:tcPr>
                </a:tc>
                <a:tc>
                  <a:txBody>
                    <a:bodyPr/>
                    <a:lstStyle/>
                    <a:p>
                      <a:r>
                        <a:rPr sz="1100" b="0">
                          <a:solidFill>
                            <a:srgbClr val="16202A"/>
                          </a:solidFill>
                          <a:latin typeface="Arial"/>
                        </a:rPr>
                        <a:t>bleibt Handarbeit, im Katalog markiert</a:t>
                      </a:r>
                    </a:p>
                  </a:txBody>
                  <a:tcPr marL="73152" marR="73152" marT="36576" marB="36576">
                    <a:solidFill>
                      <a:srgbClr val="F6F7F8"/>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7589520" y="1920240"/>
            <a:ext cx="3962095" cy="2743200"/>
          </a:xfrm>
          <a:prstGeom prst="rect">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18120" y="2011680"/>
            <a:ext cx="3504895" cy="2560320"/>
          </a:xfrm>
          <a:prstGeom prst="rect">
            <a:avLst/>
          </a:prstGeom>
          <a:noFill/>
        </p:spPr>
        <p:txBody>
          <a:bodyPr wrap="square" lIns="45720" tIns="27432" rIns="45720" bIns="27432" anchor="t">
            <a:spAutoFit/>
          </a:bodyPr>
          <a:lstStyle/>
          <a:p>
            <a:pPr algn="l">
              <a:lnSpc>
                <a:spcPct val="115000"/>
              </a:lnSpc>
            </a:pPr>
            <a:r>
              <a:rPr sz="1200" b="1">
                <a:solidFill>
                  <a:srgbClr val="C83E2D"/>
                </a:solidFill>
                <a:latin typeface="Arial"/>
              </a:rPr>
              <a:t>Der Haken</a:t>
            </a:r>
          </a:p>
          <a:p>
            <a:pPr algn="l">
              <a:lnSpc>
                <a:spcPct val="115000"/>
              </a:lnSpc>
            </a:pPr>
            <a:r>
              <a:rPr sz="1300" b="0">
                <a:solidFill>
                  <a:srgbClr val="16202A"/>
                </a:solidFill>
                <a:latin typeface="Arial"/>
              </a:rPr>
              <a:t>Destatis und Regionaldatenbank kennen Hamburg als Land und als einen einzigen Kreis (02000). Keine Bezirke, keine Stadtteile.</a:t>
            </a:r>
          </a:p>
          <a:p>
            <a:pPr algn="l">
              <a:lnSpc>
                <a:spcPct val="115000"/>
              </a:lnSpc>
              <a:spcBef>
                <a:spcPts val="600"/>
              </a:spcBef>
            </a:pPr>
            <a:r>
              <a:rPr sz="1200" b="0">
                <a:solidFill>
                  <a:srgbClr val="55677A"/>
                </a:solidFill>
                <a:latin typeface="Arial"/>
              </a:rPr>
              <a:t>Für Landesebene reicht das: Einwohner, Mieten, Unfälle, Pendler. Für Wilhelmsburg oder Eimsbüttel braucht es Klasse B: Transparenzportal und Statistikamt Nord. Zensus 2022 geht bis auf 100-m-Gitterzellen.</a:t>
            </a:r>
          </a:p>
        </p:txBody>
      </p:sp>
      <p:sp>
        <p:nvSpPr>
          <p:cNvPr id="8" name="TextBox 7"/>
          <p:cNvSpPr txBox="1"/>
          <p:nvPr/>
        </p:nvSpPr>
        <p:spPr>
          <a:xfrm>
            <a:off x="640080" y="4937760"/>
            <a:ext cx="10911535" cy="109728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Was schon existiert</a:t>
            </a:r>
          </a:p>
          <a:p>
            <a:pPr algn="l">
              <a:lnSpc>
                <a:spcPct val="115000"/>
              </a:lnSpc>
            </a:pPr>
            <a:r>
              <a:rPr sz="1300" b="0">
                <a:solidFill>
                  <a:srgbClr val="16202A"/>
                </a:solidFill>
                <a:latin typeface="Arial"/>
              </a:rPr>
              <a:t>Die Renderfunktion aus diesem Projekt. Zwei Adapter aus einem früheren Statistik-Projekt (Stadtteilprofile, Regionaldatenbank mit Login). Die methodischen Regeln aus dem README. Neu wäre nur der Katalog, der erweiterte Abruf und der Freigabe-Schritt.</a:t>
            </a:r>
          </a:p>
        </p:txBody>
      </p:sp>
      <p:sp>
        <p:nvSpPr>
          <p:cNvPr id="9" name="TextBox 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0" name="TextBox 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911535" cy="365760"/>
          </a:xfrm>
          <a:prstGeom prst="rect">
            <a:avLst/>
          </a:prstGeom>
          <a:noFill/>
        </p:spPr>
        <p:txBody>
          <a:bodyPr wrap="square" lIns="45720" tIns="27432" rIns="45720" bIns="27432" anchor="t">
            <a:spAutoFit/>
          </a:bodyPr>
          <a:lstStyle/>
          <a:p>
            <a:pPr algn="l">
              <a:lnSpc>
                <a:spcPct val="115000"/>
              </a:lnSpc>
            </a:pPr>
            <a:r>
              <a:rPr sz="1200" b="1">
                <a:solidFill>
                  <a:srgbClr val="0A5C6E"/>
                </a:solidFill>
                <a:latin typeface="Arial"/>
              </a:rPr>
              <a:t>DER PLAN</a:t>
            </a:r>
          </a:p>
        </p:txBody>
      </p:sp>
      <p:sp>
        <p:nvSpPr>
          <p:cNvPr id="3" name="TextBox 2"/>
          <p:cNvSpPr txBox="1"/>
          <p:nvPr/>
        </p:nvSpPr>
        <p:spPr>
          <a:xfrm>
            <a:off x="640080" y="731520"/>
            <a:ext cx="10911535" cy="914400"/>
          </a:xfrm>
          <a:prstGeom prst="rect">
            <a:avLst/>
          </a:prstGeom>
          <a:noFill/>
        </p:spPr>
        <p:txBody>
          <a:bodyPr wrap="square" lIns="45720" tIns="27432" rIns="45720" bIns="27432" anchor="t">
            <a:spAutoFit/>
          </a:bodyPr>
          <a:lstStyle/>
          <a:p>
            <a:pPr algn="l">
              <a:lnSpc>
                <a:spcPct val="115000"/>
              </a:lnSpc>
            </a:pPr>
            <a:r>
              <a:rPr sz="3000" b="1">
                <a:solidFill>
                  <a:srgbClr val="16202A"/>
                </a:solidFill>
                <a:latin typeface="Arial"/>
              </a:rPr>
              <a:t>Vier Etappen, jede für sich nutzbar</a:t>
            </a:r>
          </a:p>
        </p:txBody>
      </p:sp>
      <p:sp>
        <p:nvSpPr>
          <p:cNvPr id="4" name="Rectangle 3"/>
          <p:cNvSpPr/>
          <p:nvPr/>
        </p:nvSpPr>
        <p:spPr>
          <a:xfrm>
            <a:off x="640080" y="1600200"/>
            <a:ext cx="1097280" cy="2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920240"/>
          <a:ext cx="6766560" cy="274320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548640">
                <a:tc>
                  <a:txBody>
                    <a:bodyPr/>
                    <a:lstStyle/>
                    <a:p>
                      <a:r>
                        <a:rPr sz="1200" b="1">
                          <a:solidFill>
                            <a:srgbClr val="FFFFFF"/>
                          </a:solidFill>
                          <a:latin typeface="Arial"/>
                        </a:rPr>
                        <a:t>Etappe</a:t>
                      </a:r>
                    </a:p>
                  </a:txBody>
                  <a:tcPr marL="73152" marR="73152" marT="36576" marB="36576">
                    <a:solidFill>
                      <a:srgbClr val="0A5C6E"/>
                    </a:solidFill>
                  </a:tcPr>
                </a:tc>
                <a:tc>
                  <a:txBody>
                    <a:bodyPr/>
                    <a:lstStyle/>
                    <a:p>
                      <a:r>
                        <a:rPr sz="1200" b="1">
                          <a:solidFill>
                            <a:srgbClr val="FFFFFF"/>
                          </a:solidFill>
                          <a:latin typeface="Arial"/>
                        </a:rPr>
                        <a:t>Ergebnis</a:t>
                      </a:r>
                    </a:p>
                  </a:txBody>
                  <a:tcPr marL="73152" marR="73152" marT="36576" marB="36576">
                    <a:solidFill>
                      <a:srgbClr val="0A5C6E"/>
                    </a:solidFill>
                  </a:tcPr>
                </a:tc>
                <a:tc>
                  <a:txBody>
                    <a:bodyPr/>
                    <a:lstStyle/>
                    <a:p>
                      <a:r>
                        <a:rPr sz="1200" b="1">
                          <a:solidFill>
                            <a:srgbClr val="FFFFFF"/>
                          </a:solidFill>
                          <a:latin typeface="Arial"/>
                        </a:rPr>
                        <a:t>Aufwand</a:t>
                      </a:r>
                    </a:p>
                  </a:txBody>
                  <a:tcPr marL="73152" marR="73152" marT="36576" marB="36576">
                    <a:solidFill>
                      <a:srgbClr val="0A5C6E"/>
                    </a:solidFill>
                  </a:tcPr>
                </a:tc>
                <a:extLst>
                  <a:ext uri="{0D108BD9-81ED-4DB2-BD59-A6C34878D82A}">
                    <a16:rowId xmlns:a16="http://schemas.microsoft.com/office/drawing/2014/main" val="10000"/>
                  </a:ext>
                </a:extLst>
              </a:tr>
              <a:tr h="548640">
                <a:tc>
                  <a:txBody>
                    <a:bodyPr/>
                    <a:lstStyle/>
                    <a:p>
                      <a:r>
                        <a:rPr sz="1200" b="0">
                          <a:solidFill>
                            <a:srgbClr val="16202A"/>
                          </a:solidFill>
                          <a:latin typeface="Arial"/>
                        </a:rPr>
                        <a:t>1</a:t>
                      </a:r>
                    </a:p>
                  </a:txBody>
                  <a:tcPr marL="73152" marR="73152" marT="36576" marB="36576">
                    <a:solidFill>
                      <a:srgbClr val="F6F7F8"/>
                    </a:solidFill>
                  </a:tcPr>
                </a:tc>
                <a:tc>
                  <a:txBody>
                    <a:bodyPr/>
                    <a:lstStyle/>
                    <a:p>
                      <a:r>
                        <a:rPr sz="1200" b="0">
                          <a:solidFill>
                            <a:srgbClr val="16202A"/>
                          </a:solidFill>
                          <a:latin typeface="Arial"/>
                        </a:rPr>
                        <a:t>Katalog mit 10 Einträgen, Abruf erweitert, Adapter A, erste Kachel per Kommandozeile</a:t>
                      </a:r>
                    </a:p>
                  </a:txBody>
                  <a:tcPr marL="73152" marR="73152" marT="36576" marB="36576">
                    <a:solidFill>
                      <a:srgbClr val="F6F7F8"/>
                    </a:solidFill>
                  </a:tcPr>
                </a:tc>
                <a:tc>
                  <a:txBody>
                    <a:bodyPr/>
                    <a:lstStyle/>
                    <a:p>
                      <a:pPr algn="r"/>
                      <a:r>
                        <a:rPr sz="1200" b="0">
                          <a:solidFill>
                            <a:srgbClr val="16202A"/>
                          </a:solidFill>
                          <a:latin typeface="Arial"/>
                        </a:rPr>
                        <a:t>2–3 Tage</a:t>
                      </a:r>
                    </a:p>
                  </a:txBody>
                  <a:tcPr marL="73152" marR="73152" marT="36576" marB="36576">
                    <a:solidFill>
                      <a:srgbClr val="F6F7F8"/>
                    </a:solidFill>
                  </a:tcPr>
                </a:tc>
                <a:extLst>
                  <a:ext uri="{0D108BD9-81ED-4DB2-BD59-A6C34878D82A}">
                    <a16:rowId xmlns:a16="http://schemas.microsoft.com/office/drawing/2014/main" val="10001"/>
                  </a:ext>
                </a:extLst>
              </a:tr>
              <a:tr h="548640">
                <a:tc>
                  <a:txBody>
                    <a:bodyPr/>
                    <a:lstStyle/>
                    <a:p>
                      <a:r>
                        <a:rPr sz="1200" b="0">
                          <a:solidFill>
                            <a:srgbClr val="16202A"/>
                          </a:solidFill>
                          <a:latin typeface="Arial"/>
                        </a:rPr>
                        <a:t>2</a:t>
                      </a:r>
                    </a:p>
                  </a:txBody>
                  <a:tcPr marL="73152" marR="73152" marT="36576" marB="36576">
                    <a:solidFill>
                      <a:srgbClr val="FFFFFF"/>
                    </a:solidFill>
                  </a:tcPr>
                </a:tc>
                <a:tc>
                  <a:txBody>
                    <a:bodyPr/>
                    <a:lstStyle/>
                    <a:p>
                      <a:r>
                        <a:rPr sz="1200" b="0">
                          <a:solidFill>
                            <a:srgbClr val="16202A"/>
                          </a:solidFill>
                          <a:latin typeface="Arial"/>
                        </a:rPr>
                        <a:t>Transparenzportal-Adapter (Klasse B), Stadtteile funktionieren</a:t>
                      </a:r>
                    </a:p>
                  </a:txBody>
                  <a:tcPr marL="73152" marR="73152" marT="36576" marB="36576">
                    <a:solidFill>
                      <a:srgbClr val="FFFFFF"/>
                    </a:solidFill>
                  </a:tcPr>
                </a:tc>
                <a:tc>
                  <a:txBody>
                    <a:bodyPr/>
                    <a:lstStyle/>
                    <a:p>
                      <a:pPr algn="r"/>
                      <a:r>
                        <a:rPr sz="1200" b="0">
                          <a:solidFill>
                            <a:srgbClr val="16202A"/>
                          </a:solidFill>
                          <a:latin typeface="Arial"/>
                        </a:rPr>
                        <a:t>1 Tag</a:t>
                      </a:r>
                    </a:p>
                  </a:txBody>
                  <a:tcPr marL="73152" marR="73152" marT="36576" marB="36576">
                    <a:solidFill>
                      <a:srgbClr val="FFFFFF"/>
                    </a:solidFill>
                  </a:tcPr>
                </a:tc>
                <a:extLst>
                  <a:ext uri="{0D108BD9-81ED-4DB2-BD59-A6C34878D82A}">
                    <a16:rowId xmlns:a16="http://schemas.microsoft.com/office/drawing/2014/main" val="10002"/>
                  </a:ext>
                </a:extLst>
              </a:tr>
              <a:tr h="548640">
                <a:tc>
                  <a:txBody>
                    <a:bodyPr/>
                    <a:lstStyle/>
                    <a:p>
                      <a:r>
                        <a:rPr sz="1200" b="0">
                          <a:solidFill>
                            <a:srgbClr val="16202A"/>
                          </a:solidFill>
                          <a:latin typeface="Arial"/>
                        </a:rPr>
                        <a:t>3</a:t>
                      </a:r>
                    </a:p>
                  </a:txBody>
                  <a:tcPr marL="73152" marR="73152" marT="36576" marB="36576">
                    <a:solidFill>
                      <a:srgbClr val="F6F7F8"/>
                    </a:solidFill>
                  </a:tcPr>
                </a:tc>
                <a:tc>
                  <a:txBody>
                    <a:bodyPr/>
                    <a:lstStyle/>
                    <a:p>
                      <a:r>
                        <a:rPr sz="1200" b="0">
                          <a:solidFill>
                            <a:srgbClr val="16202A"/>
                          </a:solidFill>
                          <a:latin typeface="Arial"/>
                        </a:rPr>
                        <a:t>Frage → Kennzahl mit Sprachmodell, kleines Dashboard mit Freigabe</a:t>
                      </a:r>
                    </a:p>
                  </a:txBody>
                  <a:tcPr marL="73152" marR="73152" marT="36576" marB="36576">
                    <a:solidFill>
                      <a:srgbClr val="F6F7F8"/>
                    </a:solidFill>
                  </a:tcPr>
                </a:tc>
                <a:tc>
                  <a:txBody>
                    <a:bodyPr/>
                    <a:lstStyle/>
                    <a:p>
                      <a:pPr algn="r"/>
                      <a:r>
                        <a:rPr sz="1200" b="0">
                          <a:solidFill>
                            <a:srgbClr val="16202A"/>
                          </a:solidFill>
                          <a:latin typeface="Arial"/>
                        </a:rPr>
                        <a:t>2 Tage</a:t>
                      </a:r>
                    </a:p>
                  </a:txBody>
                  <a:tcPr marL="73152" marR="73152" marT="36576" marB="36576">
                    <a:solidFill>
                      <a:srgbClr val="F6F7F8"/>
                    </a:solidFill>
                  </a:tcPr>
                </a:tc>
                <a:extLst>
                  <a:ext uri="{0D108BD9-81ED-4DB2-BD59-A6C34878D82A}">
                    <a16:rowId xmlns:a16="http://schemas.microsoft.com/office/drawing/2014/main" val="10003"/>
                  </a:ext>
                </a:extLst>
              </a:tr>
              <a:tr h="548640">
                <a:tc>
                  <a:txBody>
                    <a:bodyPr/>
                    <a:lstStyle/>
                    <a:p>
                      <a:r>
                        <a:rPr sz="1200" b="0">
                          <a:solidFill>
                            <a:srgbClr val="16202A"/>
                          </a:solidFill>
                          <a:latin typeface="Arial"/>
                        </a:rPr>
                        <a:t>4</a:t>
                      </a:r>
                    </a:p>
                  </a:txBody>
                  <a:tcPr marL="73152" marR="73152" marT="36576" marB="36576">
                    <a:solidFill>
                      <a:srgbClr val="FFFFFF"/>
                    </a:solidFill>
                  </a:tcPr>
                </a:tc>
                <a:tc>
                  <a:txBody>
                    <a:bodyPr/>
                    <a:lstStyle/>
                    <a:p>
                      <a:r>
                        <a:rPr sz="1200" b="0">
                          <a:solidFill>
                            <a:srgbClr val="16202A"/>
                          </a:solidFill>
                          <a:latin typeface="Arial"/>
                        </a:rPr>
                        <a:t>Zeitplan (täglich eine Katalog-Kennzahl), Versand</a:t>
                      </a:r>
                    </a:p>
                  </a:txBody>
                  <a:tcPr marL="73152" marR="73152" marT="36576" marB="36576">
                    <a:solidFill>
                      <a:srgbClr val="FFFFFF"/>
                    </a:solidFill>
                  </a:tcPr>
                </a:tc>
                <a:tc>
                  <a:txBody>
                    <a:bodyPr/>
                    <a:lstStyle/>
                    <a:p>
                      <a:pPr algn="r"/>
                      <a:r>
                        <a:rPr sz="1200" b="0">
                          <a:solidFill>
                            <a:srgbClr val="16202A"/>
                          </a:solidFill>
                          <a:latin typeface="Arial"/>
                        </a:rPr>
                        <a:t>1 Tag</a:t>
                      </a:r>
                    </a:p>
                  </a:txBody>
                  <a:tcPr marL="73152" marR="73152" marT="36576" marB="36576">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40080" y="4846320"/>
            <a:ext cx="6766560" cy="1097280"/>
          </a:xfrm>
          <a:prstGeom prst="rect">
            <a:avLst/>
          </a:prstGeom>
          <a:noFill/>
        </p:spPr>
        <p:txBody>
          <a:bodyPr wrap="square" lIns="45720" tIns="27432" rIns="45720" bIns="27432" anchor="t">
            <a:spAutoFit/>
          </a:bodyPr>
          <a:lstStyle/>
          <a:p>
            <a:pPr algn="l">
              <a:lnSpc>
                <a:spcPct val="115000"/>
              </a:lnSpc>
            </a:pPr>
            <a:r>
              <a:rPr sz="1200" b="0">
                <a:solidFill>
                  <a:srgbClr val="55677A"/>
                </a:solidFill>
                <a:latin typeface="Arial"/>
              </a:rPr>
              <a:t>Nach Etappe 1 existiert der Sparfall: Frage manuell, Zahl und Kachel automatisch. Ausbau auf Schleswig-Holstein und Mecklenburg-Vorpommern ist eine Spalte im Katalog, kein neuer Code. Flächenländer sind sogar leichter, dort kennt die Regionaldatenbank jeden Kreis.</a:t>
            </a:r>
          </a:p>
        </p:txBody>
      </p:sp>
      <p:sp>
        <p:nvSpPr>
          <p:cNvPr id="7" name="Rectangle 6"/>
          <p:cNvSpPr/>
          <p:nvPr/>
        </p:nvSpPr>
        <p:spPr>
          <a:xfrm>
            <a:off x="7772400" y="1920240"/>
            <a:ext cx="3779215" cy="4023360"/>
          </a:xfrm>
          <a:prstGeom prst="rect">
            <a:avLst/>
          </a:prstGeom>
          <a:solidFill>
            <a:srgbClr val="162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0" y="2057400"/>
            <a:ext cx="3322015" cy="3840480"/>
          </a:xfrm>
          <a:prstGeom prst="rect">
            <a:avLst/>
          </a:prstGeom>
          <a:noFill/>
        </p:spPr>
        <p:txBody>
          <a:bodyPr wrap="square" lIns="45720" tIns="27432" rIns="45720" bIns="27432" anchor="t">
            <a:spAutoFit/>
          </a:bodyPr>
          <a:lstStyle/>
          <a:p>
            <a:pPr algn="l">
              <a:lnSpc>
                <a:spcPct val="115000"/>
              </a:lnSpc>
            </a:pPr>
            <a:r>
              <a:rPr sz="1100" b="1" dirty="0">
                <a:solidFill>
                  <a:srgbClr val="F6F7F8"/>
                </a:solidFill>
                <a:latin typeface="Arial"/>
              </a:rPr>
              <a:t>NÄCHSTER SCHRITT: SCICAR 2026</a:t>
            </a:r>
          </a:p>
          <a:p>
            <a:pPr algn="l">
              <a:lnSpc>
                <a:spcPct val="115000"/>
              </a:lnSpc>
            </a:pPr>
            <a:r>
              <a:rPr sz="1200" b="0" dirty="0">
                <a:solidFill>
                  <a:srgbClr val="F6F7F8"/>
                </a:solidFill>
                <a:latin typeface="Arial"/>
              </a:rPr>
              <a:t>18. September, </a:t>
            </a:r>
            <a:r>
              <a:rPr sz="1200" b="0" dirty="0" err="1">
                <a:solidFill>
                  <a:srgbClr val="F6F7F8"/>
                </a:solidFill>
                <a:latin typeface="Arial"/>
              </a:rPr>
              <a:t>Konferenz</a:t>
            </a:r>
            <a:r>
              <a:rPr sz="1200" b="0" dirty="0">
                <a:solidFill>
                  <a:srgbClr val="F6F7F8"/>
                </a:solidFill>
                <a:latin typeface="Arial"/>
              </a:rPr>
              <a:t> für </a:t>
            </a:r>
            <a:r>
              <a:rPr sz="1200" b="0" dirty="0" err="1">
                <a:solidFill>
                  <a:srgbClr val="F6F7F8"/>
                </a:solidFill>
                <a:latin typeface="Arial"/>
              </a:rPr>
              <a:t>Datenjournalismus</a:t>
            </a:r>
            <a:r>
              <a:rPr sz="1200" b="0" dirty="0">
                <a:solidFill>
                  <a:srgbClr val="F6F7F8"/>
                </a:solidFill>
                <a:latin typeface="Arial"/>
              </a:rPr>
              <a:t> und Wissenschaft</a:t>
            </a:r>
          </a:p>
          <a:p>
            <a:pPr algn="l">
              <a:lnSpc>
                <a:spcPct val="115000"/>
              </a:lnSpc>
              <a:spcBef>
                <a:spcPts val="1000"/>
              </a:spcBef>
            </a:pPr>
            <a:r>
              <a:rPr sz="1400" b="1" dirty="0">
                <a:solidFill>
                  <a:srgbClr val="FFFFFF"/>
                </a:solidFill>
                <a:latin typeface="Arial"/>
              </a:rPr>
              <a:t>11:30 · Workshop </a:t>
            </a:r>
            <a:r>
              <a:rPr sz="1400" b="1" dirty="0" err="1">
                <a:solidFill>
                  <a:srgbClr val="FFFFFF"/>
                </a:solidFill>
                <a:latin typeface="Arial"/>
              </a:rPr>
              <a:t>restatis</a:t>
            </a:r>
            <a:endParaRPr sz="1400" b="1" dirty="0">
              <a:solidFill>
                <a:srgbClr val="FFFFFF"/>
              </a:solidFill>
              <a:latin typeface="Arial"/>
            </a:endParaRPr>
          </a:p>
          <a:p>
            <a:pPr algn="l">
              <a:lnSpc>
                <a:spcPct val="115000"/>
              </a:lnSpc>
            </a:pPr>
            <a:r>
              <a:rPr sz="1150" b="0" dirty="0">
                <a:solidFill>
                  <a:srgbClr val="F6F7F8"/>
                </a:solidFill>
                <a:latin typeface="Arial"/>
              </a:rPr>
              <a:t>Michael Neutze (</a:t>
            </a:r>
            <a:r>
              <a:rPr sz="1150" b="0" dirty="0" err="1">
                <a:solidFill>
                  <a:srgbClr val="F6F7F8"/>
                </a:solidFill>
                <a:latin typeface="Arial"/>
              </a:rPr>
              <a:t>Destatis</a:t>
            </a:r>
            <a:r>
              <a:rPr sz="1150" b="0" dirty="0">
                <a:solidFill>
                  <a:srgbClr val="F6F7F8"/>
                </a:solidFill>
                <a:latin typeface="Arial"/>
              </a:rPr>
              <a:t>). R-Paket von </a:t>
            </a:r>
            <a:r>
              <a:rPr sz="1150" b="0" dirty="0" err="1">
                <a:solidFill>
                  <a:srgbClr val="F6F7F8"/>
                </a:solidFill>
                <a:latin typeface="Arial"/>
              </a:rPr>
              <a:t>CorrelAid</a:t>
            </a:r>
            <a:r>
              <a:rPr sz="1150" b="0" dirty="0">
                <a:solidFill>
                  <a:srgbClr val="F6F7F8"/>
                </a:solidFill>
                <a:latin typeface="Arial"/>
              </a:rPr>
              <a:t> für </a:t>
            </a:r>
            <a:r>
              <a:rPr sz="1150" b="0" dirty="0" err="1">
                <a:solidFill>
                  <a:srgbClr val="F6F7F8"/>
                </a:solidFill>
                <a:latin typeface="Arial"/>
              </a:rPr>
              <a:t>sieben</a:t>
            </a:r>
            <a:r>
              <a:rPr sz="1150" b="0" dirty="0">
                <a:solidFill>
                  <a:srgbClr val="F6F7F8"/>
                </a:solidFill>
                <a:latin typeface="Arial"/>
              </a:rPr>
              <a:t> GENESIS-</a:t>
            </a:r>
            <a:r>
              <a:rPr sz="1150" b="0" dirty="0" err="1">
                <a:solidFill>
                  <a:srgbClr val="F6F7F8"/>
                </a:solidFill>
                <a:latin typeface="Arial"/>
              </a:rPr>
              <a:t>Datenbanken</a:t>
            </a:r>
            <a:r>
              <a:rPr sz="1150" b="0" dirty="0">
                <a:solidFill>
                  <a:srgbClr val="F6F7F8"/>
                </a:solidFill>
                <a:latin typeface="Arial"/>
              </a:rPr>
              <a:t>, Python-Pendant </a:t>
            </a:r>
            <a:r>
              <a:rPr sz="1150" b="0" dirty="0" err="1">
                <a:solidFill>
                  <a:srgbClr val="F6F7F8"/>
                </a:solidFill>
                <a:latin typeface="Arial"/>
              </a:rPr>
              <a:t>pystatis</a:t>
            </a:r>
            <a:r>
              <a:rPr sz="1150" b="0" dirty="0">
                <a:solidFill>
                  <a:srgbClr val="F6F7F8"/>
                </a:solidFill>
                <a:latin typeface="Arial"/>
              </a:rPr>
              <a:t>. </a:t>
            </a:r>
            <a:r>
              <a:rPr sz="1150" b="0" dirty="0" err="1">
                <a:solidFill>
                  <a:srgbClr val="F6F7F8"/>
                </a:solidFill>
                <a:latin typeface="Arial"/>
              </a:rPr>
              <a:t>Genau</a:t>
            </a:r>
            <a:r>
              <a:rPr sz="1150" b="0" dirty="0">
                <a:solidFill>
                  <a:srgbClr val="F6F7F8"/>
                </a:solidFill>
                <a:latin typeface="Arial"/>
              </a:rPr>
              <a:t> der </a:t>
            </a:r>
            <a:r>
              <a:rPr sz="1150" b="0" dirty="0" err="1">
                <a:solidFill>
                  <a:srgbClr val="F6F7F8"/>
                </a:solidFill>
                <a:latin typeface="Arial"/>
              </a:rPr>
              <a:t>Abruf-Baustein</a:t>
            </a:r>
            <a:r>
              <a:rPr sz="1150" b="0" dirty="0">
                <a:solidFill>
                  <a:srgbClr val="F6F7F8"/>
                </a:solidFill>
                <a:latin typeface="Arial"/>
              </a:rPr>
              <a:t>.</a:t>
            </a:r>
          </a:p>
          <a:p>
            <a:pPr algn="l">
              <a:lnSpc>
                <a:spcPct val="115000"/>
              </a:lnSpc>
              <a:spcBef>
                <a:spcPts val="1000"/>
              </a:spcBef>
            </a:pPr>
            <a:r>
              <a:rPr sz="1400" b="1" dirty="0">
                <a:solidFill>
                  <a:srgbClr val="FFFFFF"/>
                </a:solidFill>
                <a:latin typeface="Arial"/>
              </a:rPr>
              <a:t>14:30 · Workshop n8n</a:t>
            </a:r>
          </a:p>
          <a:p>
            <a:pPr algn="l">
              <a:lnSpc>
                <a:spcPct val="115000"/>
              </a:lnSpc>
            </a:pPr>
            <a:r>
              <a:rPr sz="1150" b="0" dirty="0">
                <a:solidFill>
                  <a:srgbClr val="F6F7F8"/>
                </a:solidFill>
                <a:latin typeface="Arial"/>
              </a:rPr>
              <a:t>„</a:t>
            </a:r>
            <a:r>
              <a:rPr sz="1150" b="0" dirty="0" err="1">
                <a:solidFill>
                  <a:srgbClr val="F6F7F8"/>
                </a:solidFill>
                <a:latin typeface="Arial"/>
              </a:rPr>
              <a:t>Datenjournalismus</a:t>
            </a:r>
            <a:r>
              <a:rPr sz="1150" b="0" dirty="0">
                <a:solidFill>
                  <a:srgbClr val="F6F7F8"/>
                </a:solidFill>
                <a:latin typeface="Arial"/>
              </a:rPr>
              <a:t> </a:t>
            </a:r>
            <a:r>
              <a:rPr sz="1150" b="0" dirty="0" err="1">
                <a:solidFill>
                  <a:srgbClr val="F6F7F8"/>
                </a:solidFill>
                <a:latin typeface="Arial"/>
              </a:rPr>
              <a:t>im</a:t>
            </a:r>
            <a:r>
              <a:rPr sz="1150" b="0" dirty="0">
                <a:solidFill>
                  <a:srgbClr val="F6F7F8"/>
                </a:solidFill>
                <a:latin typeface="Arial"/>
              </a:rPr>
              <a:t> Flow“ (Science Media Center). </a:t>
            </a:r>
            <a:r>
              <a:rPr sz="1150" b="0" dirty="0" err="1">
                <a:solidFill>
                  <a:srgbClr val="F6F7F8"/>
                </a:solidFill>
                <a:latin typeface="Arial"/>
              </a:rPr>
              <a:t>Redaktionelle</a:t>
            </a:r>
            <a:r>
              <a:rPr sz="1150" b="0" dirty="0">
                <a:solidFill>
                  <a:srgbClr val="F6F7F8"/>
                </a:solidFill>
                <a:latin typeface="Arial"/>
              </a:rPr>
              <a:t> Workflows </a:t>
            </a:r>
            <a:r>
              <a:rPr sz="1150" b="0" dirty="0" err="1">
                <a:solidFill>
                  <a:srgbClr val="F6F7F8"/>
                </a:solidFill>
                <a:latin typeface="Arial"/>
              </a:rPr>
              <a:t>automatisieren</a:t>
            </a:r>
            <a:r>
              <a:rPr sz="1150" b="0" dirty="0">
                <a:solidFill>
                  <a:srgbClr val="F6F7F8"/>
                </a:solidFill>
                <a:latin typeface="Arial"/>
              </a:rPr>
              <a:t>. Der Rahmen für </a:t>
            </a:r>
            <a:r>
              <a:rPr sz="1150" b="0" dirty="0" err="1">
                <a:solidFill>
                  <a:srgbClr val="F6F7F8"/>
                </a:solidFill>
                <a:latin typeface="Arial"/>
              </a:rPr>
              <a:t>Katalog</a:t>
            </a:r>
            <a:r>
              <a:rPr sz="1150" b="0" dirty="0">
                <a:solidFill>
                  <a:srgbClr val="F6F7F8"/>
                </a:solidFill>
                <a:latin typeface="Arial"/>
              </a:rPr>
              <a:t>, </a:t>
            </a:r>
            <a:r>
              <a:rPr sz="1150" b="0" dirty="0" err="1">
                <a:solidFill>
                  <a:srgbClr val="F6F7F8"/>
                </a:solidFill>
                <a:latin typeface="Arial"/>
              </a:rPr>
              <a:t>Zeitplan</a:t>
            </a:r>
            <a:r>
              <a:rPr sz="1150" b="0" dirty="0">
                <a:solidFill>
                  <a:srgbClr val="F6F7F8"/>
                </a:solidFill>
                <a:latin typeface="Arial"/>
              </a:rPr>
              <a:t> und </a:t>
            </a:r>
            <a:r>
              <a:rPr sz="1150" b="0" dirty="0" err="1">
                <a:solidFill>
                  <a:srgbClr val="F6F7F8"/>
                </a:solidFill>
                <a:latin typeface="Arial"/>
              </a:rPr>
              <a:t>Freigabe</a:t>
            </a:r>
            <a:r>
              <a:rPr sz="1150" b="0" dirty="0">
                <a:solidFill>
                  <a:srgbClr val="F6F7F8"/>
                </a:solidFill>
                <a:latin typeface="Arial"/>
              </a:rPr>
              <a:t>.</a:t>
            </a:r>
          </a:p>
          <a:p>
            <a:pPr algn="l">
              <a:lnSpc>
                <a:spcPct val="115000"/>
              </a:lnSpc>
              <a:spcBef>
                <a:spcPts val="1000"/>
              </a:spcBef>
            </a:pPr>
            <a:r>
              <a:rPr sz="1150" b="1" dirty="0">
                <a:solidFill>
                  <a:srgbClr val="FFFFFF"/>
                </a:solidFill>
                <a:latin typeface="Arial"/>
              </a:rPr>
              <a:t>Meine Frage </a:t>
            </a:r>
            <a:r>
              <a:rPr sz="1150" b="1" dirty="0" err="1">
                <a:solidFill>
                  <a:srgbClr val="FFFFFF"/>
                </a:solidFill>
                <a:latin typeface="Arial"/>
              </a:rPr>
              <a:t>dort</a:t>
            </a:r>
            <a:r>
              <a:rPr sz="1150" b="1" dirty="0">
                <a:solidFill>
                  <a:srgbClr val="FFFFFF"/>
                </a:solidFill>
                <a:latin typeface="Arial"/>
              </a:rPr>
              <a:t>: </a:t>
            </a:r>
            <a:r>
              <a:rPr sz="1150" b="1" dirty="0" err="1">
                <a:solidFill>
                  <a:srgbClr val="FFFFFF"/>
                </a:solidFill>
                <a:latin typeface="Arial"/>
              </a:rPr>
              <a:t>Kommen</a:t>
            </a:r>
            <a:r>
              <a:rPr sz="1150" b="1" dirty="0">
                <a:solidFill>
                  <a:srgbClr val="FFFFFF"/>
                </a:solidFill>
                <a:latin typeface="Arial"/>
              </a:rPr>
              <a:t> die </a:t>
            </a:r>
            <a:r>
              <a:rPr sz="1150" b="1" dirty="0" err="1">
                <a:solidFill>
                  <a:srgbClr val="FFFFFF"/>
                </a:solidFill>
                <a:latin typeface="Arial"/>
              </a:rPr>
              <a:t>Landesamt-Datenbanken</a:t>
            </a:r>
            <a:r>
              <a:rPr sz="1150" b="1" dirty="0">
                <a:solidFill>
                  <a:srgbClr val="FFFFFF"/>
                </a:solidFill>
                <a:latin typeface="Arial"/>
              </a:rPr>
              <a:t> für den Norden?</a:t>
            </a:r>
          </a:p>
        </p:txBody>
      </p:sp>
      <p:sp>
        <p:nvSpPr>
          <p:cNvPr id="9" name="TextBox 8"/>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55677A"/>
                </a:solidFill>
                <a:latin typeface="Arial"/>
              </a:rPr>
              <a:t>Hamburg in Zahlen · Portfolio-Projekt · Constanze Thönnessen · 11.09.2026</a:t>
            </a:r>
          </a:p>
        </p:txBody>
      </p:sp>
      <p:sp>
        <p:nvSpPr>
          <p:cNvPr id="10" name="TextBox 9"/>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55677A"/>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6202A"/>
        </a:solidFill>
        <a:effectLst/>
      </p:bgPr>
    </p:bg>
    <p:spTree>
      <p:nvGrpSpPr>
        <p:cNvPr id="1" name=""/>
        <p:cNvGrpSpPr/>
        <p:nvPr/>
      </p:nvGrpSpPr>
      <p:grpSpPr>
        <a:xfrm>
          <a:off x="0" y="0"/>
          <a:ext cx="0" cy="0"/>
          <a:chOff x="0" y="0"/>
          <a:chExt cx="0" cy="0"/>
        </a:xfrm>
      </p:grpSpPr>
      <p:sp>
        <p:nvSpPr>
          <p:cNvPr id="2" name="Rectangle 1"/>
          <p:cNvSpPr/>
          <p:nvPr/>
        </p:nvSpPr>
        <p:spPr>
          <a:xfrm>
            <a:off x="0" y="0"/>
            <a:ext cx="320040" cy="6858000"/>
          </a:xfrm>
          <a:prstGeom prst="rect">
            <a:avLst/>
          </a:prstGeom>
          <a:solidFill>
            <a:srgbClr val="0A5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280160"/>
            <a:ext cx="10515600" cy="1463040"/>
          </a:xfrm>
          <a:prstGeom prst="rect">
            <a:avLst/>
          </a:prstGeom>
          <a:noFill/>
        </p:spPr>
        <p:txBody>
          <a:bodyPr wrap="square" lIns="45720" tIns="27432" rIns="45720" bIns="27432" anchor="t">
            <a:spAutoFit/>
          </a:bodyPr>
          <a:lstStyle/>
          <a:p>
            <a:pPr algn="l">
              <a:lnSpc>
                <a:spcPct val="115000"/>
              </a:lnSpc>
            </a:pPr>
            <a:r>
              <a:rPr sz="3400" b="1">
                <a:solidFill>
                  <a:srgbClr val="FFFFFF"/>
                </a:solidFill>
                <a:latin typeface="Arial"/>
              </a:rPr>
              <a:t>Ein Befund pro Kachel. Der Weg dahin im Repo.</a:t>
            </a:r>
          </a:p>
        </p:txBody>
      </p:sp>
      <p:sp>
        <p:nvSpPr>
          <p:cNvPr id="4" name="TextBox 3"/>
          <p:cNvSpPr txBox="1"/>
          <p:nvPr/>
        </p:nvSpPr>
        <p:spPr>
          <a:xfrm>
            <a:off x="640080" y="2880360"/>
            <a:ext cx="10058400" cy="731520"/>
          </a:xfrm>
          <a:prstGeom prst="rect">
            <a:avLst/>
          </a:prstGeom>
          <a:noFill/>
        </p:spPr>
        <p:txBody>
          <a:bodyPr wrap="square" lIns="45720" tIns="27432" rIns="45720" bIns="27432" anchor="t">
            <a:spAutoFit/>
          </a:bodyPr>
          <a:lstStyle/>
          <a:p>
            <a:pPr algn="l">
              <a:lnSpc>
                <a:spcPct val="115000"/>
              </a:lnSpc>
            </a:pPr>
            <a:r>
              <a:rPr sz="2200" b="0">
                <a:solidFill>
                  <a:srgbClr val="F6F7F8"/>
                </a:solidFill>
                <a:latin typeface="Arial"/>
              </a:rPr>
              <a:t>Danke. Fragen?</a:t>
            </a:r>
          </a:p>
        </p:txBody>
      </p:sp>
      <p:sp>
        <p:nvSpPr>
          <p:cNvPr id="5" name="TextBox 4"/>
          <p:cNvSpPr txBox="1"/>
          <p:nvPr/>
        </p:nvSpPr>
        <p:spPr>
          <a:xfrm>
            <a:off x="640080" y="3931920"/>
            <a:ext cx="10515600" cy="2286000"/>
          </a:xfrm>
          <a:prstGeom prst="rect">
            <a:avLst/>
          </a:prstGeom>
          <a:noFill/>
        </p:spPr>
        <p:txBody>
          <a:bodyPr wrap="square" lIns="45720" tIns="27432" rIns="45720" bIns="27432" anchor="t">
            <a:spAutoFit/>
          </a:bodyPr>
          <a:lstStyle/>
          <a:p>
            <a:pPr algn="l">
              <a:lnSpc>
                <a:spcPct val="115000"/>
              </a:lnSpc>
            </a:pPr>
            <a:r>
              <a:rPr sz="1100" b="1">
                <a:solidFill>
                  <a:srgbClr val="F6F7F8"/>
                </a:solidFill>
                <a:latin typeface="Arial"/>
              </a:rPr>
              <a:t>CODE UND DOKUMENTATION</a:t>
            </a:r>
          </a:p>
          <a:p>
            <a:pPr algn="l">
              <a:lnSpc>
                <a:spcPct val="115000"/>
              </a:lnSpc>
            </a:pPr>
            <a:r>
              <a:rPr sz="1600" b="0">
                <a:solidFill>
                  <a:srgbClr val="FFFFFF"/>
                </a:solidFill>
                <a:latin typeface="Arial"/>
              </a:rPr>
              <a:t>github.com/Coco1606/hamburg-in-zahlen-manuell</a:t>
            </a:r>
          </a:p>
          <a:p>
            <a:pPr algn="l">
              <a:lnSpc>
                <a:spcPct val="115000"/>
              </a:lnSpc>
              <a:spcBef>
                <a:spcPts val="1400"/>
              </a:spcBef>
            </a:pPr>
            <a:r>
              <a:rPr sz="1100" b="1">
                <a:solidFill>
                  <a:srgbClr val="F6F7F8"/>
                </a:solidFill>
                <a:latin typeface="Arial"/>
              </a:rPr>
              <a:t>QUELLEN</a:t>
            </a:r>
          </a:p>
          <a:p>
            <a:pPr algn="l">
              <a:lnSpc>
                <a:spcPct val="115000"/>
              </a:lnSpc>
            </a:pPr>
            <a:r>
              <a:rPr sz="1100" b="0">
                <a:solidFill>
                  <a:srgbClr val="F6F7F8"/>
                </a:solidFill>
                <a:latin typeface="Arial"/>
              </a:rPr>
              <a:t>Transparenzportal Hamburg, Zuwendungsvorgänge (INEZ), Stand Jahresende 2025 · Bürgerschaft der FHH, Drs. 20/9850 (05.11.2013) · Antwort der Finanzbehörde auf die FragDenStaat-Anfrage „Zuwendungsberichte ab 2014“ · Beteiligungsbericht der FHH · restatis (CorrelAid), SciCAR26-Workshopcode (Destatis)</a:t>
            </a:r>
          </a:p>
        </p:txBody>
      </p:sp>
      <p:sp>
        <p:nvSpPr>
          <p:cNvPr id="6" name="TextBox 5"/>
          <p:cNvSpPr txBox="1"/>
          <p:nvPr/>
        </p:nvSpPr>
        <p:spPr>
          <a:xfrm>
            <a:off x="640080" y="6400800"/>
            <a:ext cx="7315200" cy="274320"/>
          </a:xfrm>
          <a:prstGeom prst="rect">
            <a:avLst/>
          </a:prstGeom>
          <a:noFill/>
        </p:spPr>
        <p:txBody>
          <a:bodyPr wrap="square" lIns="45720" tIns="27432" rIns="45720" bIns="27432" anchor="t">
            <a:spAutoFit/>
          </a:bodyPr>
          <a:lstStyle/>
          <a:p>
            <a:pPr algn="l">
              <a:lnSpc>
                <a:spcPct val="115000"/>
              </a:lnSpc>
            </a:pPr>
            <a:r>
              <a:rPr sz="900" b="0">
                <a:solidFill>
                  <a:srgbClr val="F6F7F8"/>
                </a:solidFill>
                <a:latin typeface="Arial"/>
              </a:rPr>
              <a:t>Hamburg in Zahlen · Portfolio-Projekt · Constanze Thönnessen · 11.09.2026</a:t>
            </a:r>
          </a:p>
        </p:txBody>
      </p:sp>
      <p:sp>
        <p:nvSpPr>
          <p:cNvPr id="7" name="TextBox 6"/>
          <p:cNvSpPr txBox="1"/>
          <p:nvPr/>
        </p:nvSpPr>
        <p:spPr>
          <a:xfrm>
            <a:off x="10637215" y="6400800"/>
            <a:ext cx="914400" cy="274320"/>
          </a:xfrm>
          <a:prstGeom prst="rect">
            <a:avLst/>
          </a:prstGeom>
          <a:noFill/>
        </p:spPr>
        <p:txBody>
          <a:bodyPr wrap="square" lIns="45720" tIns="27432" rIns="45720" bIns="27432" anchor="t">
            <a:spAutoFit/>
          </a:bodyPr>
          <a:lstStyle/>
          <a:p>
            <a:pPr algn="r">
              <a:lnSpc>
                <a:spcPct val="115000"/>
              </a:lnSpc>
            </a:pPr>
            <a:r>
              <a:rPr sz="900" b="0">
                <a:solidFill>
                  <a:srgbClr val="F6F7F8"/>
                </a:solidFill>
                <a:latin typeface="Arial"/>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3616</Words>
  <Application>Microsoft Office PowerPoint</Application>
  <PresentationFormat>Breitbild</PresentationFormat>
  <Paragraphs>364</Paragraphs>
  <Slides>24</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24</vt:i4>
      </vt:variant>
    </vt:vector>
  </HeadingPairs>
  <TitlesOfParts>
    <vt:vector size="28"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Constanze Thönnessen</dc:creator>
  <cp:keywords/>
  <dc:description>generated using python-pptx</dc:description>
  <cp:lastModifiedBy>Constanze Schiefler</cp:lastModifiedBy>
  <cp:revision>11</cp:revision>
  <dcterms:created xsi:type="dcterms:W3CDTF">2013-01-27T09:14:16Z</dcterms:created>
  <dcterms:modified xsi:type="dcterms:W3CDTF">2026-09-11T08:58:37Z</dcterms:modified>
  <cp:category/>
</cp:coreProperties>
</file>