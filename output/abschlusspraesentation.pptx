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011680"/>
            <a:ext cx="10058400" cy="3108960"/>
          </a:xfrm>
          <a:prstGeom prst="rect">
            <a:avLst/>
          </a:prstGeom>
          <a:noFill/>
        </p:spPr>
        <p:txBody>
          <a:bodyPr wrap="square" lIns="0" rIns="0" tIns="0" bIns="0">
            <a:spAutoFit/>
          </a:bodyPr>
          <a:lstStyle/>
          <a:p>
            <a:pPr>
              <a:lnSpc>
                <a:spcPct val="100000"/>
              </a:lnSpc>
              <a:spcBef>
                <a:spcPts val="0"/>
              </a:spcBef>
              <a:spcAft>
                <a:spcPts val="1800"/>
              </a:spcAft>
            </a:pPr>
            <a:r>
              <a:rPr sz="1300" b="1">
                <a:solidFill>
                  <a:srgbClr val="0A5C6E"/>
                </a:solidFill>
                <a:latin typeface="Arial"/>
              </a:rPr>
              <a:t>PORTFOLIO-PROJEKT · DATA ANALYST TRAINING</a:t>
            </a:r>
          </a:p>
          <a:p>
            <a:pPr>
              <a:lnSpc>
                <a:spcPct val="100000"/>
              </a:lnSpc>
              <a:spcBef>
                <a:spcPts val="0"/>
              </a:spcBef>
              <a:spcAft>
                <a:spcPts val="1000"/>
              </a:spcAft>
            </a:pPr>
            <a:r>
              <a:rPr sz="5400" b="1">
                <a:solidFill>
                  <a:srgbClr val="16202A"/>
                </a:solidFill>
                <a:latin typeface="Arial"/>
              </a:rPr>
              <a:t>Hamburg in Zahlen</a:t>
            </a:r>
          </a:p>
          <a:p>
            <a:pPr>
              <a:lnSpc>
                <a:spcPct val="100000"/>
              </a:lnSpc>
              <a:spcBef>
                <a:spcPts val="0"/>
              </a:spcBef>
              <a:spcAft>
                <a:spcPts val="3400"/>
              </a:spcAft>
            </a:pPr>
            <a:r>
              <a:rPr sz="2600" b="0">
                <a:solidFill>
                  <a:srgbClr val="55677A"/>
                </a:solidFill>
                <a:latin typeface="Arial"/>
              </a:rPr>
              <a:t>Wohin 2,62 Milliarden Euro Fördergeld fließen</a:t>
            </a:r>
          </a:p>
          <a:p>
            <a:pPr>
              <a:lnSpc>
                <a:spcPct val="100000"/>
              </a:lnSpc>
              <a:spcBef>
                <a:spcPts val="0"/>
              </a:spcBef>
              <a:spcAft>
                <a:spcPts val="0"/>
              </a:spcAft>
            </a:pPr>
            <a:r>
              <a:rPr sz="1500" b="0">
                <a:solidFill>
                  <a:srgbClr val="55677A"/>
                </a:solidFill>
                <a:latin typeface="Arial"/>
              </a:rPr>
              <a:t>Constanze Thönnessen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43032" cy="2377440"/>
          </a:xfrm>
          <a:prstGeom prst="rect">
            <a:avLst/>
          </a:prstGeom>
          <a:noFill/>
        </p:spPr>
        <p:txBody>
          <a:bodyPr wrap="square" lIns="0" rIns="0" tIns="0" bIns="0">
            <a:spAutoFit/>
          </a:bodyPr>
          <a:lstStyle/>
          <a:p>
            <a:pPr>
              <a:lnSpc>
                <a:spcPct val="100000"/>
              </a:lnSpc>
              <a:spcBef>
                <a:spcPts val="0"/>
              </a:spcBef>
              <a:spcAft>
                <a:spcPts val="1400"/>
              </a:spcAft>
            </a:pPr>
            <a:r>
              <a:rPr sz="1400" b="1">
                <a:solidFill>
                  <a:srgbClr val="8FD0DC"/>
                </a:solidFill>
                <a:latin typeface="Arial"/>
              </a:rPr>
              <a:t>Teil 1</a:t>
            </a:r>
          </a:p>
          <a:p>
            <a:pPr>
              <a:lnSpc>
                <a:spcPct val="105000"/>
              </a:lnSpc>
              <a:spcBef>
                <a:spcPts val="0"/>
              </a:spcBef>
              <a:spcAft>
                <a:spcPts val="1600"/>
              </a:spcAft>
            </a:pPr>
            <a:r>
              <a:rPr sz="4600" b="1">
                <a:solidFill>
                  <a:srgbClr val="FFFFFF"/>
                </a:solidFill>
                <a:latin typeface="Arial"/>
              </a:rPr>
              <a:t>Warum dieses Projekt</a:t>
            </a:r>
          </a:p>
          <a:p>
            <a:pPr>
              <a:lnSpc>
                <a:spcPct val="130000"/>
              </a:lnSpc>
              <a:spcBef>
                <a:spcPts val="0"/>
              </a:spcBef>
              <a:spcAft>
                <a:spcPts val="0"/>
              </a:spcAft>
            </a:pPr>
            <a:r>
              <a:rPr sz="1800" b="0">
                <a:solidFill>
                  <a:srgbClr val="C5E3E9"/>
                </a:solidFill>
                <a:latin typeface="Arial"/>
              </a:rPr>
              <a:t>Eine Auswertung, die es bis 2013 gab und seitdem niemand mehr macht.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AUSGANGSLAGE</a:t>
            </a:r>
          </a:p>
          <a:p>
            <a:pPr>
              <a:lnSpc>
                <a:spcPct val="105000"/>
              </a:lnSpc>
              <a:spcBef>
                <a:spcPts val="0"/>
              </a:spcBef>
              <a:spcAft>
                <a:spcPts val="0"/>
              </a:spcAft>
            </a:pPr>
            <a:r>
              <a:rPr sz="3000" b="1">
                <a:solidFill>
                  <a:srgbClr val="16202A"/>
                </a:solidFill>
                <a:latin typeface="Arial"/>
              </a:rPr>
              <a:t>Seit 2014 fasst niemand mehr zusammen</a:t>
            </a:r>
          </a:p>
        </p:txBody>
      </p:sp>
      <p:sp>
        <p:nvSpPr>
          <p:cNvPr id="5" name="TextBox 4"/>
          <p:cNvSpPr txBox="1"/>
          <p:nvPr/>
        </p:nvSpPr>
        <p:spPr>
          <a:xfrm>
            <a:off x="822960" y="2148840"/>
            <a:ext cx="10543032" cy="3931920"/>
          </a:xfrm>
          <a:prstGeom prst="rect">
            <a:avLst/>
          </a:prstGeom>
          <a:noFill/>
        </p:spPr>
        <p:txBody>
          <a:bodyPr wrap="square" lIns="0" rIns="0" tIns="0" bIns="0">
            <a:spAutoFit/>
          </a:bodyPr>
          <a:lstStyle/>
          <a:p>
            <a:pPr>
              <a:lnSpc>
                <a:spcPct val="100000"/>
              </a:lnSpc>
              <a:spcBef>
                <a:spcPts val="0"/>
              </a:spcBef>
              <a:spcAft>
                <a:spcPts val="400"/>
              </a:spcAft>
            </a:pPr>
            <a:r>
              <a:rPr sz="1900" b="1">
                <a:solidFill>
                  <a:srgbClr val="16202A"/>
                </a:solidFill>
                <a:latin typeface="Arial"/>
              </a:rPr>
              <a:t>Bis 2013: der empfängerbezogene Zuwendungsbericht</a:t>
            </a:r>
          </a:p>
          <a:p>
            <a:pPr>
              <a:lnSpc>
                <a:spcPct val="125000"/>
              </a:lnSpc>
              <a:spcBef>
                <a:spcPts val="0"/>
              </a:spcBef>
              <a:spcAft>
                <a:spcPts val="0"/>
              </a:spcAft>
            </a:pPr>
            <a:r>
              <a:rPr sz="1500" b="0">
                <a:solidFill>
                  <a:srgbClr val="55677A"/>
                </a:solidFill>
                <a:latin typeface="Arial"/>
              </a:rPr>
              <a:t>Der Senat legte der Bürgerschaft alle zwei Jahre eine fertige Auswertung vor – aufbereitet pro Empfänger. Zuletzt Drucksache 20/9850 vom 5. November 2013.</a:t>
            </a:r>
          </a:p>
          <a:p>
            <a:pPr>
              <a:lnSpc>
                <a:spcPct val="100000"/>
              </a:lnSpc>
              <a:spcBef>
                <a:spcPts val="2000"/>
              </a:spcBef>
              <a:spcAft>
                <a:spcPts val="400"/>
              </a:spcAft>
            </a:pPr>
            <a:r>
              <a:rPr sz="1900" b="1">
                <a:solidFill>
                  <a:srgbClr val="16202A"/>
                </a:solidFill>
                <a:latin typeface="Arial"/>
              </a:rPr>
              <a:t>Ab 2014: Einzelvorgänge im Transparenzportal</a:t>
            </a:r>
          </a:p>
          <a:p>
            <a:pPr>
              <a:lnSpc>
                <a:spcPct val="125000"/>
              </a:lnSpc>
              <a:spcBef>
                <a:spcPts val="0"/>
              </a:spcBef>
              <a:spcAft>
                <a:spcPts val="0"/>
              </a:spcAft>
            </a:pPr>
            <a:r>
              <a:rPr sz="1500" b="0">
                <a:solidFill>
                  <a:srgbClr val="55677A"/>
                </a:solidFill>
                <a:latin typeface="Arial"/>
              </a:rPr>
              <a:t>Mit dem Hamburgischen Transparenzgesetz wurden die Berichte durch die Veröffentlichung jedes einzelnen Bescheids ersetzt.</a:t>
            </a:r>
          </a:p>
          <a:p>
            <a:pPr>
              <a:lnSpc>
                <a:spcPct val="100000"/>
              </a:lnSpc>
              <a:spcBef>
                <a:spcPts val="2000"/>
              </a:spcBef>
              <a:spcAft>
                <a:spcPts val="400"/>
              </a:spcAft>
            </a:pPr>
            <a:r>
              <a:rPr sz="1900" b="1">
                <a:solidFill>
                  <a:srgbClr val="16202A"/>
                </a:solidFill>
                <a:latin typeface="Arial"/>
              </a:rPr>
              <a:t>Mehr Rohdaten, weniger Antworten</a:t>
            </a:r>
          </a:p>
          <a:p>
            <a:pPr>
              <a:lnSpc>
                <a:spcPct val="125000"/>
              </a:lnSpc>
              <a:spcBef>
                <a:spcPts val="0"/>
              </a:spcBef>
              <a:spcAft>
                <a:spcPts val="0"/>
              </a:spcAft>
            </a:pPr>
            <a:r>
              <a:rPr sz="1500" b="0">
                <a:solidFill>
                  <a:srgbClr val="55677A"/>
                </a:solidFill>
                <a:latin typeface="Arial"/>
              </a:rPr>
              <a:t>Jeder Bescheid ist offen einsehbar. Aber die Frage „wer bekommt wie viel“ beantwortet niemand mehr. Genau diese Zusammenfassung ist das Projekt.</a:t>
            </a:r>
          </a:p>
        </p:txBody>
      </p:sp>
      <p:sp>
        <p:nvSpPr>
          <p:cNvPr id="6" name="TextBox 5"/>
          <p:cNvSpPr txBox="1"/>
          <p:nvPr/>
        </p:nvSpPr>
        <p:spPr>
          <a:xfrm>
            <a:off x="822960" y="6172200"/>
            <a:ext cx="10543032" cy="457200"/>
          </a:xfrm>
          <a:prstGeom prst="rect">
            <a:avLst/>
          </a:prstGeom>
          <a:noFill/>
        </p:spPr>
        <p:txBody>
          <a:bodyPr wrap="square" lIns="0" rIns="0" tIns="0" bIns="0">
            <a:spAutoFit/>
          </a:bodyPr>
          <a:lstStyle/>
          <a:p>
            <a:pPr>
              <a:lnSpc>
                <a:spcPct val="100000"/>
              </a:lnSpc>
              <a:spcBef>
                <a:spcPts val="0"/>
              </a:spcBef>
              <a:spcAft>
                <a:spcPts val="0"/>
              </a:spcAft>
            </a:pPr>
            <a:r>
              <a:rPr sz="1200" b="0">
                <a:solidFill>
                  <a:srgbClr val="55677A"/>
                </a:solidFill>
                <a:latin typeface="Arial"/>
              </a:rPr>
              <a:t>Quelle: Bürgerschaft der FHH, Drs. 20/9850 · Antwort der Finanzbehörde auf die FragDenStaat-Anfrage „Zuwendungsberichte ab 2014“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FRAGESTELLUNG</a:t>
            </a:r>
          </a:p>
          <a:p>
            <a:pPr>
              <a:lnSpc>
                <a:spcPct val="105000"/>
              </a:lnSpc>
              <a:spcBef>
                <a:spcPts val="0"/>
              </a:spcBef>
              <a:spcAft>
                <a:spcPts val="0"/>
              </a:spcAft>
            </a:pPr>
            <a:r>
              <a:rPr sz="3000" b="1">
                <a:solidFill>
                  <a:srgbClr val="16202A"/>
                </a:solidFill>
                <a:latin typeface="Arial"/>
              </a:rPr>
              <a:t>Ein Befund pro Kachel, kein Zahlenteppich</a:t>
            </a:r>
          </a:p>
        </p:txBody>
      </p:sp>
      <p:sp>
        <p:nvSpPr>
          <p:cNvPr id="5" name="TextBox 4"/>
          <p:cNvSpPr txBox="1"/>
          <p:nvPr/>
        </p:nvSpPr>
        <p:spPr>
          <a:xfrm>
            <a:off x="822960" y="2148840"/>
            <a:ext cx="10543032" cy="3931920"/>
          </a:xfrm>
          <a:prstGeom prst="rect">
            <a:avLst/>
          </a:prstGeom>
          <a:noFill/>
        </p:spPr>
        <p:txBody>
          <a:bodyPr wrap="square" lIns="0" rIns="0" tIns="0" bIns="0">
            <a:spAutoFit/>
          </a:bodyPr>
          <a:lstStyle/>
          <a:p>
            <a:pPr>
              <a:lnSpc>
                <a:spcPct val="100000"/>
              </a:lnSpc>
              <a:spcBef>
                <a:spcPts val="0"/>
              </a:spcBef>
              <a:spcAft>
                <a:spcPts val="400"/>
              </a:spcAft>
            </a:pPr>
            <a:r>
              <a:rPr sz="1900" b="1">
                <a:solidFill>
                  <a:srgbClr val="16202A"/>
                </a:solidFill>
                <a:latin typeface="Arial"/>
              </a:rPr>
              <a:t>Die Leitfrage</a:t>
            </a:r>
          </a:p>
          <a:p>
            <a:pPr>
              <a:lnSpc>
                <a:spcPct val="125000"/>
              </a:lnSpc>
              <a:spcBef>
                <a:spcPts val="0"/>
              </a:spcBef>
              <a:spcAft>
                <a:spcPts val="0"/>
              </a:spcAft>
            </a:pPr>
            <a:r>
              <a:rPr sz="1500" b="0">
                <a:solidFill>
                  <a:srgbClr val="55677A"/>
                </a:solidFill>
                <a:latin typeface="Arial"/>
              </a:rPr>
              <a:t>Wie verteilt sich das Fördergeld der Stadt Hamburg auf die Empfänger?</a:t>
            </a:r>
          </a:p>
          <a:p>
            <a:pPr>
              <a:lnSpc>
                <a:spcPct val="100000"/>
              </a:lnSpc>
              <a:spcBef>
                <a:spcPts val="2000"/>
              </a:spcBef>
              <a:spcAft>
                <a:spcPts val="400"/>
              </a:spcAft>
            </a:pPr>
            <a:r>
              <a:rPr sz="1900" b="1">
                <a:solidFill>
                  <a:srgbClr val="16202A"/>
                </a:solidFill>
                <a:latin typeface="Arial"/>
              </a:rPr>
              <a:t>Das Format: Instagram-Kacheln</a:t>
            </a:r>
          </a:p>
          <a:p>
            <a:pPr>
              <a:lnSpc>
                <a:spcPct val="125000"/>
              </a:lnSpc>
              <a:spcBef>
                <a:spcPts val="0"/>
              </a:spcBef>
              <a:spcAft>
                <a:spcPts val="0"/>
              </a:spcAft>
            </a:pPr>
            <a:r>
              <a:rPr sz="1500" b="0">
                <a:solidFill>
                  <a:srgbClr val="55677A"/>
                </a:solidFill>
                <a:latin typeface="Arial"/>
              </a:rPr>
              <a:t>Wer die Kachel sieht, versteht den Fund in vier Sekunden. Wer ins Repository schaut, sieht den ganzen Weg von der Rohdatei zum Bild.</a:t>
            </a:r>
          </a:p>
          <a:p>
            <a:pPr>
              <a:lnSpc>
                <a:spcPct val="100000"/>
              </a:lnSpc>
              <a:spcBef>
                <a:spcPts val="2000"/>
              </a:spcBef>
              <a:spcAft>
                <a:spcPts val="400"/>
              </a:spcAft>
            </a:pPr>
            <a:r>
              <a:rPr sz="1900" b="1">
                <a:solidFill>
                  <a:srgbClr val="16202A"/>
                </a:solidFill>
                <a:latin typeface="Arial"/>
              </a:rPr>
              <a:t>Der Anspruch an jede Zahl</a:t>
            </a:r>
          </a:p>
          <a:p>
            <a:pPr>
              <a:lnSpc>
                <a:spcPct val="125000"/>
              </a:lnSpc>
              <a:spcBef>
                <a:spcPts val="0"/>
              </a:spcBef>
              <a:spcAft>
                <a:spcPts val="0"/>
              </a:spcAft>
            </a:pPr>
            <a:r>
              <a:rPr sz="1500" b="0">
                <a:solidFill>
                  <a:srgbClr val="55677A"/>
                </a:solidFill>
                <a:latin typeface="Arial"/>
              </a:rPr>
              <a:t>„Hamburg vergab 2,6 Mrd €“ kann jeder abschreiben. „Ein einziger Empfänger bekommt 59 % davon“ ist das Ergebnis von Bereinigen, Gruppieren und Prüfen.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43032" cy="2377440"/>
          </a:xfrm>
          <a:prstGeom prst="rect">
            <a:avLst/>
          </a:prstGeom>
          <a:noFill/>
        </p:spPr>
        <p:txBody>
          <a:bodyPr wrap="square" lIns="0" rIns="0" tIns="0" bIns="0">
            <a:spAutoFit/>
          </a:bodyPr>
          <a:lstStyle/>
          <a:p>
            <a:pPr>
              <a:lnSpc>
                <a:spcPct val="100000"/>
              </a:lnSpc>
              <a:spcBef>
                <a:spcPts val="0"/>
              </a:spcBef>
              <a:spcAft>
                <a:spcPts val="1400"/>
              </a:spcAft>
            </a:pPr>
            <a:r>
              <a:rPr sz="1400" b="1">
                <a:solidFill>
                  <a:srgbClr val="8FD0DC"/>
                </a:solidFill>
                <a:latin typeface="Arial"/>
              </a:rPr>
              <a:t>Teil 2</a:t>
            </a:r>
          </a:p>
          <a:p>
            <a:pPr>
              <a:lnSpc>
                <a:spcPct val="105000"/>
              </a:lnSpc>
              <a:spcBef>
                <a:spcPts val="0"/>
              </a:spcBef>
              <a:spcAft>
                <a:spcPts val="1600"/>
              </a:spcAft>
            </a:pPr>
            <a:r>
              <a:rPr sz="4600" b="1">
                <a:solidFill>
                  <a:srgbClr val="FFFFFF"/>
                </a:solidFill>
                <a:latin typeface="Arial"/>
              </a:rPr>
              <a:t>Die Schwierigkeit am Datensatz</a:t>
            </a:r>
          </a:p>
          <a:p>
            <a:pPr>
              <a:lnSpc>
                <a:spcPct val="130000"/>
              </a:lnSpc>
              <a:spcBef>
                <a:spcPts val="0"/>
              </a:spcBef>
              <a:spcAft>
                <a:spcPts val="0"/>
              </a:spcAft>
            </a:pPr>
            <a:r>
              <a:rPr sz="1800" b="0">
                <a:solidFill>
                  <a:srgbClr val="C5E3E9"/>
                </a:solidFill>
                <a:latin typeface="Arial"/>
              </a:rPr>
              <a:t>76.961 Zeilen, in denen kein einziger Empfänger nur einmal vorkommt.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DER DATENSATZ</a:t>
            </a:r>
          </a:p>
          <a:p>
            <a:pPr>
              <a:lnSpc>
                <a:spcPct val="105000"/>
              </a:lnSpc>
              <a:spcBef>
                <a:spcPts val="0"/>
              </a:spcBef>
              <a:spcAft>
                <a:spcPts val="0"/>
              </a:spcAft>
            </a:pPr>
            <a:r>
              <a:rPr sz="3000" b="1">
                <a:solidFill>
                  <a:srgbClr val="16202A"/>
                </a:solidFill>
                <a:latin typeface="Arial"/>
              </a:rPr>
              <a:t>Was in der Datei steht</a:t>
            </a:r>
          </a:p>
        </p:txBody>
      </p:sp>
      <p:sp>
        <p:nvSpPr>
          <p:cNvPr id="5" name="TextBox 4"/>
          <p:cNvSpPr txBox="1"/>
          <p:nvPr/>
        </p:nvSpPr>
        <p:spPr>
          <a:xfrm>
            <a:off x="822960" y="2286000"/>
            <a:ext cx="4572000" cy="2194560"/>
          </a:xfrm>
          <a:prstGeom prst="rect">
            <a:avLst/>
          </a:prstGeom>
          <a:noFill/>
        </p:spPr>
        <p:txBody>
          <a:bodyPr wrap="square" lIns="0" rIns="0" tIns="0" bIns="0">
            <a:spAutoFit/>
          </a:bodyPr>
          <a:lstStyle/>
          <a:p>
            <a:pPr>
              <a:lnSpc>
                <a:spcPct val="100000"/>
              </a:lnSpc>
              <a:spcBef>
                <a:spcPts val="0"/>
              </a:spcBef>
              <a:spcAft>
                <a:spcPts val="1000"/>
              </a:spcAft>
            </a:pPr>
            <a:r>
              <a:rPr sz="8800" b="1">
                <a:solidFill>
                  <a:srgbClr val="0A5C6E"/>
                </a:solidFill>
                <a:latin typeface="Arial"/>
              </a:rPr>
              <a:t>76.961</a:t>
            </a:r>
          </a:p>
          <a:p>
            <a:pPr>
              <a:lnSpc>
                <a:spcPct val="130000"/>
              </a:lnSpc>
              <a:spcBef>
                <a:spcPts val="0"/>
              </a:spcBef>
              <a:spcAft>
                <a:spcPts val="0"/>
              </a:spcAft>
            </a:pPr>
            <a:r>
              <a:rPr sz="1500" b="0">
                <a:solidFill>
                  <a:srgbClr val="55677A"/>
                </a:solidFill>
                <a:latin typeface="Arial"/>
              </a:rPr>
              <a:t>Zeilen in der Rohdatei aus dem Transparenzportal,</a:t>
            </a:r>
            <a:br/>
            <a:r>
              <a:t>Bescheide der Jahre 2015 bis 2025</a:t>
            </a:r>
          </a:p>
        </p:txBody>
      </p:sp>
      <p:sp>
        <p:nvSpPr>
          <p:cNvPr id="6" name="TextBox 5"/>
          <p:cNvSpPr txBox="1"/>
          <p:nvPr/>
        </p:nvSpPr>
        <p:spPr>
          <a:xfrm>
            <a:off x="5852160" y="2331720"/>
            <a:ext cx="5486400" cy="3291840"/>
          </a:xfrm>
          <a:prstGeom prst="rect">
            <a:avLst/>
          </a:prstGeom>
          <a:noFill/>
        </p:spPr>
        <p:txBody>
          <a:bodyPr wrap="square" lIns="0" rIns="0" tIns="0" bIns="0">
            <a:spAutoFit/>
          </a:bodyPr>
          <a:lstStyle/>
          <a:p>
            <a:pPr>
              <a:lnSpc>
                <a:spcPct val="100000"/>
              </a:lnSpc>
              <a:spcBef>
                <a:spcPts val="0"/>
              </a:spcBef>
              <a:spcAft>
                <a:spcPts val="400"/>
              </a:spcAft>
            </a:pPr>
            <a:r>
              <a:rPr sz="1700" b="1">
                <a:solidFill>
                  <a:srgbClr val="16202A"/>
                </a:solidFill>
                <a:latin typeface="Arial"/>
              </a:rPr>
              <a:t>Eine Zeile = ein Bescheid, nicht ein Förderfall</a:t>
            </a:r>
          </a:p>
          <a:p>
            <a:pPr>
              <a:lnSpc>
                <a:spcPct val="125000"/>
              </a:lnSpc>
              <a:spcBef>
                <a:spcPts val="0"/>
              </a:spcBef>
              <a:spcAft>
                <a:spcPts val="0"/>
              </a:spcAft>
            </a:pPr>
            <a:r>
              <a:rPr sz="1400" b="0">
                <a:solidFill>
                  <a:srgbClr val="55677A"/>
                </a:solidFill>
                <a:latin typeface="Arial"/>
              </a:rPr>
              <a:t>Jeder Änderungsbescheid erzeugt eine neue Zeile mit dem jeweils aktuellen Gesamtstand.</a:t>
            </a:r>
          </a:p>
          <a:p>
            <a:pPr>
              <a:lnSpc>
                <a:spcPct val="100000"/>
              </a:lnSpc>
              <a:spcBef>
                <a:spcPts val="1800"/>
              </a:spcBef>
              <a:spcAft>
                <a:spcPts val="400"/>
              </a:spcAft>
            </a:pPr>
            <a:r>
              <a:rPr sz="1700" b="1">
                <a:solidFill>
                  <a:srgbClr val="16202A"/>
                </a:solidFill>
                <a:latin typeface="Arial"/>
              </a:rPr>
              <a:t>Keine Spalte sagt, wer der Empfänger ist</a:t>
            </a:r>
          </a:p>
          <a:p>
            <a:pPr>
              <a:lnSpc>
                <a:spcPct val="125000"/>
              </a:lnSpc>
              <a:spcBef>
                <a:spcPts val="0"/>
              </a:spcBef>
              <a:spcAft>
                <a:spcPts val="0"/>
              </a:spcAft>
            </a:pPr>
            <a:r>
              <a:rPr sz="1400" b="0">
                <a:solidFill>
                  <a:srgbClr val="55677A"/>
                </a:solidFill>
                <a:latin typeface="Arial"/>
              </a:rPr>
              <a:t>Es gibt keine Kennnummer je Träger – nur den Namen als freien Text.</a:t>
            </a:r>
          </a:p>
          <a:p>
            <a:pPr>
              <a:lnSpc>
                <a:spcPct val="100000"/>
              </a:lnSpc>
              <a:spcBef>
                <a:spcPts val="1800"/>
              </a:spcBef>
              <a:spcAft>
                <a:spcPts val="400"/>
              </a:spcAft>
            </a:pPr>
            <a:r>
              <a:rPr sz="1700" b="1">
                <a:solidFill>
                  <a:srgbClr val="16202A"/>
                </a:solidFill>
                <a:latin typeface="Arial"/>
              </a:rPr>
              <a:t>Keine Spalte sagt, ob ein Empfänger städtisch ist</a:t>
            </a:r>
          </a:p>
          <a:p>
            <a:pPr>
              <a:lnSpc>
                <a:spcPct val="125000"/>
              </a:lnSpc>
              <a:spcBef>
                <a:spcPts val="0"/>
              </a:spcBef>
              <a:spcAft>
                <a:spcPts val="0"/>
              </a:spcAft>
            </a:pPr>
            <a:r>
              <a:rPr sz="1400" b="0">
                <a:solidFill>
                  <a:srgbClr val="55677A"/>
                </a:solidFill>
                <a:latin typeface="Arial"/>
              </a:rPr>
              <a:t>Diese Einordnung existiert in den Daten nicht und musste erst erarbeitet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B43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B4351F"/>
                </a:solidFill>
                <a:latin typeface="Arial"/>
              </a:rPr>
              <a:t>SCHWIERIGKEIT 1</a:t>
            </a:r>
          </a:p>
          <a:p>
            <a:pPr>
              <a:lnSpc>
                <a:spcPct val="105000"/>
              </a:lnSpc>
              <a:spcBef>
                <a:spcPts val="0"/>
              </a:spcBef>
              <a:spcAft>
                <a:spcPts val="0"/>
              </a:spcAft>
            </a:pPr>
            <a:r>
              <a:rPr sz="3000" b="1">
                <a:solidFill>
                  <a:srgbClr val="16202A"/>
                </a:solidFill>
                <a:latin typeface="Arial"/>
              </a:rPr>
              <a:t>Ein Förderfall steht bis zu 24 Mal in der Datei</a:t>
            </a:r>
          </a:p>
        </p:txBody>
      </p:sp>
      <p:sp>
        <p:nvSpPr>
          <p:cNvPr id="5" name="TextBox 4"/>
          <p:cNvSpPr txBox="1"/>
          <p:nvPr/>
        </p:nvSpPr>
        <p:spPr>
          <a:xfrm>
            <a:off x="822960" y="2286000"/>
            <a:ext cx="4572000" cy="2194560"/>
          </a:xfrm>
          <a:prstGeom prst="rect">
            <a:avLst/>
          </a:prstGeom>
          <a:noFill/>
        </p:spPr>
        <p:txBody>
          <a:bodyPr wrap="square" lIns="0" rIns="0" tIns="0" bIns="0">
            <a:spAutoFit/>
          </a:bodyPr>
          <a:lstStyle/>
          <a:p>
            <a:pPr>
              <a:lnSpc>
                <a:spcPct val="100000"/>
              </a:lnSpc>
              <a:spcBef>
                <a:spcPts val="0"/>
              </a:spcBef>
              <a:spcAft>
                <a:spcPts val="1000"/>
              </a:spcAft>
            </a:pPr>
            <a:r>
              <a:rPr sz="8800" b="1">
                <a:solidFill>
                  <a:srgbClr val="B4351F"/>
                </a:solidFill>
                <a:latin typeface="Arial"/>
              </a:rPr>
              <a:t>24</a:t>
            </a:r>
          </a:p>
          <a:p>
            <a:pPr>
              <a:lnSpc>
                <a:spcPct val="130000"/>
              </a:lnSpc>
              <a:spcBef>
                <a:spcPts val="0"/>
              </a:spcBef>
              <a:spcAft>
                <a:spcPts val="0"/>
              </a:spcAft>
            </a:pPr>
            <a:r>
              <a:rPr sz="1500" b="0">
                <a:solidFill>
                  <a:srgbClr val="55677A"/>
                </a:solidFill>
                <a:latin typeface="Arial"/>
              </a:rPr>
              <a:t>So oft steht der am häufigsten geänderte</a:t>
            </a:r>
            <a:br/>
            <a:r>
              <a:t>Vorgang in den Rohdaten</a:t>
            </a:r>
          </a:p>
        </p:txBody>
      </p:sp>
      <p:sp>
        <p:nvSpPr>
          <p:cNvPr id="6" name="TextBox 5"/>
          <p:cNvSpPr txBox="1"/>
          <p:nvPr/>
        </p:nvSpPr>
        <p:spPr>
          <a:xfrm>
            <a:off x="5852160" y="2331720"/>
            <a:ext cx="5486400" cy="3291840"/>
          </a:xfrm>
          <a:prstGeom prst="rect">
            <a:avLst/>
          </a:prstGeom>
          <a:noFill/>
        </p:spPr>
        <p:txBody>
          <a:bodyPr wrap="square" lIns="0" rIns="0" tIns="0" bIns="0">
            <a:spAutoFit/>
          </a:bodyPr>
          <a:lstStyle/>
          <a:p>
            <a:pPr>
              <a:lnSpc>
                <a:spcPct val="100000"/>
              </a:lnSpc>
              <a:spcBef>
                <a:spcPts val="0"/>
              </a:spcBef>
              <a:spcAft>
                <a:spcPts val="400"/>
              </a:spcAft>
            </a:pPr>
            <a:r>
              <a:rPr sz="1700" b="1">
                <a:solidFill>
                  <a:srgbClr val="16202A"/>
                </a:solidFill>
                <a:latin typeface="Arial"/>
              </a:rPr>
              <a:t>Warum das gefährlich ist</a:t>
            </a:r>
          </a:p>
          <a:p>
            <a:pPr>
              <a:lnSpc>
                <a:spcPct val="125000"/>
              </a:lnSpc>
              <a:spcBef>
                <a:spcPts val="0"/>
              </a:spcBef>
              <a:spcAft>
                <a:spcPts val="0"/>
              </a:spcAft>
            </a:pPr>
            <a:r>
              <a:rPr sz="1400" b="0">
                <a:solidFill>
                  <a:srgbClr val="55677A"/>
                </a:solidFill>
                <a:latin typeface="Arial"/>
              </a:rPr>
              <a:t>Eine einfache Summe über alle Zeilen zählt denselben Fall bis zu 24 Mal.</a:t>
            </a:r>
          </a:p>
          <a:p>
            <a:pPr>
              <a:lnSpc>
                <a:spcPct val="100000"/>
              </a:lnSpc>
              <a:spcBef>
                <a:spcPts val="1800"/>
              </a:spcBef>
              <a:spcAft>
                <a:spcPts val="400"/>
              </a:spcAft>
            </a:pPr>
            <a:r>
              <a:rPr sz="1700" b="1">
                <a:solidFill>
                  <a:srgbClr val="16202A"/>
                </a:solidFill>
                <a:latin typeface="Arial"/>
              </a:rPr>
              <a:t>Die Lösung</a:t>
            </a:r>
          </a:p>
          <a:p>
            <a:pPr>
              <a:lnSpc>
                <a:spcPct val="125000"/>
              </a:lnSpc>
              <a:spcBef>
                <a:spcPts val="0"/>
              </a:spcBef>
              <a:spcAft>
                <a:spcPts val="0"/>
              </a:spcAft>
            </a:pPr>
            <a:r>
              <a:rPr sz="1400" b="0">
                <a:solidFill>
                  <a:srgbClr val="55677A"/>
                </a:solidFill>
                <a:latin typeface="Arial"/>
              </a:rPr>
              <a:t>Pro Vorgangsnummer nur die zeitlich letzte Zeile behalten – nicht die größte. Beträge sinken gelegentlich.</a:t>
            </a:r>
          </a:p>
          <a:p>
            <a:pPr>
              <a:lnSpc>
                <a:spcPct val="100000"/>
              </a:lnSpc>
              <a:spcBef>
                <a:spcPts val="1800"/>
              </a:spcBef>
              <a:spcAft>
                <a:spcPts val="400"/>
              </a:spcAft>
            </a:pPr>
            <a:r>
              <a:rPr sz="1700" b="1">
                <a:solidFill>
                  <a:srgbClr val="16202A"/>
                </a:solidFill>
                <a:latin typeface="Arial"/>
              </a:rPr>
              <a:t>Die Prüfung dazu</a:t>
            </a:r>
          </a:p>
          <a:p>
            <a:pPr>
              <a:lnSpc>
                <a:spcPct val="125000"/>
              </a:lnSpc>
              <a:spcBef>
                <a:spcPts val="0"/>
              </a:spcBef>
              <a:spcAft>
                <a:spcPts val="0"/>
              </a:spcAft>
            </a:pPr>
            <a:r>
              <a:rPr sz="1400" b="0">
                <a:solidFill>
                  <a:srgbClr val="55677A"/>
                </a:solidFill>
                <a:latin typeface="Arial"/>
              </a:rPr>
              <a:t>Bei 154 Vorgängen gibt es mehrere Bescheide am selben Tag. Nur 32 davon tragen verschiedene Beträge, und genau einer liegt im Betrachtungsjahr: 13.425 €.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SCHWIERIGKEIT 2</a:t>
            </a:r>
          </a:p>
          <a:p>
            <a:pPr>
              <a:lnSpc>
                <a:spcPct val="105000"/>
              </a:lnSpc>
              <a:spcBef>
                <a:spcPts val="0"/>
              </a:spcBef>
              <a:spcAft>
                <a:spcPts val="0"/>
              </a:spcAft>
            </a:pPr>
            <a:r>
              <a:rPr sz="3000" b="1">
                <a:solidFill>
                  <a:srgbClr val="16202A"/>
                </a:solidFill>
                <a:latin typeface="Arial"/>
              </a:rPr>
              <a:t>Bei fast allen Fällen fehlt die Rückforderung</a:t>
            </a:r>
          </a:p>
        </p:txBody>
      </p:sp>
      <p:graphicFrame>
        <p:nvGraphicFramePr>
          <p:cNvPr id="5" name="Table 4"/>
          <p:cNvGraphicFramePr>
            <a:graphicFrameLocks noGrp="1"/>
          </p:cNvGraphicFramePr>
          <p:nvPr/>
        </p:nvGraphicFramePr>
        <p:xfrm>
          <a:off x="822960" y="2240280"/>
          <a:ext cx="10543032" cy="1682496"/>
        </p:xfrm>
        <a:graphic>
          <a:graphicData uri="http://schemas.openxmlformats.org/drawingml/2006/table">
            <a:tbl>
              <a:tblPr firstRow="1" bandRow="1">
                <a:tableStyleId>{5C22544A-7EE6-4342-B048-85BDC9FD1C3A}</a:tableStyleId>
              </a:tblPr>
              <a:tblGrid>
                <a:gridCol w="5943600"/>
                <a:gridCol w="2286000"/>
                <a:gridCol w="2313432"/>
              </a:tblGrid>
              <a:tr h="420624">
                <a:tc>
                  <a:txBody>
                    <a:bodyPr/>
                    <a:lstStyle/>
                    <a:p>
                      <a:pPr algn="l"/>
                      <a:r>
                        <a:rPr sz="1300" b="1">
                          <a:solidFill>
                            <a:srgbClr val="FFFFFF"/>
                          </a:solidFill>
                          <a:latin typeface="Arial"/>
                        </a:rPr>
                        <a:t>Ebene</a:t>
                      </a:r>
                    </a:p>
                  </a:txBody>
                  <a:tcPr anchor="ctr">
                    <a:solidFill>
                      <a:srgbClr val="16202A"/>
                    </a:solidFill>
                  </a:tcPr>
                </a:tc>
                <a:tc>
                  <a:txBody>
                    <a:bodyPr/>
                    <a:lstStyle/>
                    <a:p>
                      <a:pPr algn="r"/>
                      <a:r>
                        <a:rPr sz="1300" b="1">
                          <a:solidFill>
                            <a:srgbClr val="FFFFFF"/>
                          </a:solidFill>
                          <a:latin typeface="Arial"/>
                        </a:rPr>
                        <a:t>fehlend</a:t>
                      </a:r>
                    </a:p>
                  </a:txBody>
                  <a:tcPr anchor="ctr">
                    <a:solidFill>
                      <a:srgbClr val="16202A"/>
                    </a:solidFill>
                  </a:tcPr>
                </a:tc>
                <a:tc>
                  <a:txBody>
                    <a:bodyPr/>
                    <a:lstStyle/>
                    <a:p>
                      <a:pPr algn="r"/>
                      <a:r>
                        <a:rPr sz="1300" b="1">
                          <a:solidFill>
                            <a:srgbClr val="FFFFFF"/>
                          </a:solidFill>
                          <a:latin typeface="Arial"/>
                        </a:rPr>
                        <a:t>Anteil</a:t>
                      </a:r>
                    </a:p>
                  </a:txBody>
                  <a:tcPr anchor="ctr">
                    <a:solidFill>
                      <a:srgbClr val="16202A"/>
                    </a:solidFill>
                  </a:tcPr>
                </a:tc>
              </a:tr>
              <a:tr h="420624">
                <a:tc>
                  <a:txBody>
                    <a:bodyPr/>
                    <a:lstStyle/>
                    <a:p>
                      <a:pPr algn="l"/>
                      <a:r>
                        <a:rPr sz="1400">
                          <a:solidFill>
                            <a:srgbClr val="16202A"/>
                          </a:solidFill>
                          <a:latin typeface="Arial"/>
                        </a:rPr>
                        <a:t>Rohzeilen (76.961)</a:t>
                      </a:r>
                    </a:p>
                  </a:txBody>
                  <a:tcPr anchor="ctr">
                    <a:solidFill>
                      <a:srgbClr val="FFFFFF"/>
                    </a:solidFill>
                  </a:tcPr>
                </a:tc>
                <a:tc>
                  <a:txBody>
                    <a:bodyPr/>
                    <a:lstStyle/>
                    <a:p>
                      <a:pPr algn="r"/>
                      <a:r>
                        <a:rPr sz="1400">
                          <a:solidFill>
                            <a:srgbClr val="16202A"/>
                          </a:solidFill>
                          <a:latin typeface="Arial"/>
                        </a:rPr>
                        <a:t>17.540</a:t>
                      </a:r>
                    </a:p>
                  </a:txBody>
                  <a:tcPr anchor="ctr">
                    <a:solidFill>
                      <a:srgbClr val="FFFFFF"/>
                    </a:solidFill>
                  </a:tcPr>
                </a:tc>
                <a:tc>
                  <a:txBody>
                    <a:bodyPr/>
                    <a:lstStyle/>
                    <a:p>
                      <a:pPr algn="r"/>
                      <a:r>
                        <a:rPr sz="1400">
                          <a:solidFill>
                            <a:srgbClr val="16202A"/>
                          </a:solidFill>
                          <a:latin typeface="Arial"/>
                        </a:rPr>
                        <a:t>22,8 %</a:t>
                      </a:r>
                    </a:p>
                  </a:txBody>
                  <a:tcPr anchor="ctr">
                    <a:solidFill>
                      <a:srgbClr val="FFFFFF"/>
                    </a:solidFill>
                  </a:tcPr>
                </a:tc>
              </a:tr>
              <a:tr h="420624">
                <a:tc>
                  <a:txBody>
                    <a:bodyPr/>
                    <a:lstStyle/>
                    <a:p>
                      <a:pPr algn="l"/>
                      <a:r>
                        <a:rPr sz="1400">
                          <a:solidFill>
                            <a:srgbClr val="16202A"/>
                          </a:solidFill>
                          <a:latin typeface="Arial"/>
                        </a:rPr>
                        <a:t>Vorgänge nach Bereinigung (42.085)</a:t>
                      </a:r>
                    </a:p>
                  </a:txBody>
                  <a:tcPr anchor="ctr">
                    <a:solidFill>
                      <a:srgbClr val="ECEFF1"/>
                    </a:solidFill>
                  </a:tcPr>
                </a:tc>
                <a:tc>
                  <a:txBody>
                    <a:bodyPr/>
                    <a:lstStyle/>
                    <a:p>
                      <a:pPr algn="r"/>
                      <a:r>
                        <a:rPr sz="1400">
                          <a:solidFill>
                            <a:srgbClr val="16202A"/>
                          </a:solidFill>
                          <a:latin typeface="Arial"/>
                        </a:rPr>
                        <a:t>12.734</a:t>
                      </a:r>
                    </a:p>
                  </a:txBody>
                  <a:tcPr anchor="ctr">
                    <a:solidFill>
                      <a:srgbClr val="ECEFF1"/>
                    </a:solidFill>
                  </a:tcPr>
                </a:tc>
                <a:tc>
                  <a:txBody>
                    <a:bodyPr/>
                    <a:lstStyle/>
                    <a:p>
                      <a:pPr algn="r"/>
                      <a:r>
                        <a:rPr sz="1400">
                          <a:solidFill>
                            <a:srgbClr val="16202A"/>
                          </a:solidFill>
                          <a:latin typeface="Arial"/>
                        </a:rPr>
                        <a:t>30,3 %</a:t>
                      </a:r>
                    </a:p>
                  </a:txBody>
                  <a:tcPr anchor="ctr">
                    <a:solidFill>
                      <a:srgbClr val="ECEFF1"/>
                    </a:solidFill>
                  </a:tcPr>
                </a:tc>
              </a:tr>
              <a:tr h="420624">
                <a:tc>
                  <a:txBody>
                    <a:bodyPr/>
                    <a:lstStyle/>
                    <a:p>
                      <a:pPr algn="l"/>
                      <a:r>
                        <a:rPr sz="1400">
                          <a:solidFill>
                            <a:srgbClr val="16202A"/>
                          </a:solidFill>
                          <a:latin typeface="Arial"/>
                        </a:rPr>
                        <a:t>nur Erstjahr 2025 (3.980)</a:t>
                      </a:r>
                    </a:p>
                  </a:txBody>
                  <a:tcPr anchor="ctr">
                    <a:solidFill>
                      <a:srgbClr val="FFFFFF"/>
                    </a:solidFill>
                  </a:tcPr>
                </a:tc>
                <a:tc>
                  <a:txBody>
                    <a:bodyPr/>
                    <a:lstStyle/>
                    <a:p>
                      <a:pPr algn="r"/>
                      <a:r>
                        <a:rPr sz="1400">
                          <a:solidFill>
                            <a:srgbClr val="16202A"/>
                          </a:solidFill>
                          <a:latin typeface="Arial"/>
                        </a:rPr>
                        <a:t>3.777</a:t>
                      </a:r>
                    </a:p>
                  </a:txBody>
                  <a:tcPr anchor="ctr">
                    <a:solidFill>
                      <a:srgbClr val="FFFFFF"/>
                    </a:solidFill>
                  </a:tcPr>
                </a:tc>
                <a:tc>
                  <a:txBody>
                    <a:bodyPr/>
                    <a:lstStyle/>
                    <a:p>
                      <a:pPr algn="r"/>
                      <a:r>
                        <a:rPr sz="1400" b="1">
                          <a:solidFill>
                            <a:srgbClr val="B4351F"/>
                          </a:solidFill>
                          <a:latin typeface="Arial"/>
                        </a:rPr>
                        <a:t>94,9 %</a:t>
                      </a:r>
                    </a:p>
                  </a:txBody>
                  <a:tcPr anchor="ctr">
                    <a:solidFill>
                      <a:srgbClr val="FFFFFF"/>
                    </a:solidFill>
                  </a:tcPr>
                </a:tc>
              </a:tr>
            </a:tbl>
          </a:graphicData>
        </a:graphic>
      </p:graphicFrame>
      <p:sp>
        <p:nvSpPr>
          <p:cNvPr id="6" name="TextBox 5"/>
          <p:cNvSpPr txBox="1"/>
          <p:nvPr/>
        </p:nvSpPr>
        <p:spPr>
          <a:xfrm>
            <a:off x="822960" y="4288536"/>
            <a:ext cx="10543032" cy="822960"/>
          </a:xfrm>
          <a:prstGeom prst="rect">
            <a:avLst/>
          </a:prstGeom>
          <a:noFill/>
        </p:spPr>
        <p:txBody>
          <a:bodyPr wrap="square" lIns="0" rIns="0" tIns="0" bIns="0">
            <a:spAutoFit/>
          </a:bodyPr>
          <a:lstStyle/>
          <a:p>
            <a:pPr>
              <a:lnSpc>
                <a:spcPct val="130000"/>
              </a:lnSpc>
              <a:spcBef>
                <a:spcPts val="0"/>
              </a:spcBef>
              <a:spcAft>
                <a:spcPts val="0"/>
              </a:spcAft>
            </a:pPr>
            <a:r>
              <a:rPr sz="1400" b="0">
                <a:solidFill>
                  <a:srgbClr val="55677A"/>
                </a:solidFill>
                <a:latin typeface="Arial"/>
              </a:rPr>
              <a:t>Ein leeres Feld heißt hier „keine Rückforderung“, nicht „unbekannt“. Ohne diese Entscheidung würde die Nettosumme bei fast allen Fällen des Jahres 2025 undefiniert – die 2,62 Mrd € gäbe es dann gar nicht.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SCHWIERIGKEIT 3</a:t>
            </a:r>
          </a:p>
          <a:p>
            <a:pPr>
              <a:lnSpc>
                <a:spcPct val="105000"/>
              </a:lnSpc>
              <a:spcBef>
                <a:spcPts val="0"/>
              </a:spcBef>
              <a:spcAft>
                <a:spcPts val="0"/>
              </a:spcAft>
            </a:pPr>
            <a:r>
              <a:rPr sz="3000" b="1">
                <a:solidFill>
                  <a:srgbClr val="16202A"/>
                </a:solidFill>
                <a:latin typeface="Arial"/>
              </a:rPr>
              <a:t>Zwei Empfänger haben keinen Namen</a:t>
            </a:r>
          </a:p>
        </p:txBody>
      </p:sp>
      <p:sp>
        <p:nvSpPr>
          <p:cNvPr id="5" name="TextBox 4"/>
          <p:cNvSpPr txBox="1"/>
          <p:nvPr/>
        </p:nvSpPr>
        <p:spPr>
          <a:xfrm>
            <a:off x="822960" y="2148840"/>
            <a:ext cx="10543032" cy="3931920"/>
          </a:xfrm>
          <a:prstGeom prst="rect">
            <a:avLst/>
          </a:prstGeom>
          <a:noFill/>
        </p:spPr>
        <p:txBody>
          <a:bodyPr wrap="square" lIns="0" rIns="0" tIns="0" bIns="0">
            <a:spAutoFit/>
          </a:bodyPr>
          <a:lstStyle/>
          <a:p>
            <a:pPr>
              <a:lnSpc>
                <a:spcPct val="100000"/>
              </a:lnSpc>
              <a:spcBef>
                <a:spcPts val="0"/>
              </a:spcBef>
              <a:spcAft>
                <a:spcPts val="400"/>
              </a:spcAft>
            </a:pPr>
            <a:r>
              <a:rPr sz="1900" b="1">
                <a:solidFill>
                  <a:srgbClr val="16202A"/>
                </a:solidFill>
                <a:latin typeface="Arial"/>
              </a:rPr>
              <a:t>Der Feldwert lautet schlicht „Vereinsregister“</a:t>
            </a:r>
          </a:p>
          <a:p>
            <a:pPr>
              <a:lnSpc>
                <a:spcPct val="125000"/>
              </a:lnSpc>
              <a:spcBef>
                <a:spcPts val="0"/>
              </a:spcBef>
              <a:spcAft>
                <a:spcPts val="0"/>
              </a:spcAft>
            </a:pPr>
            <a:r>
              <a:rPr sz="1500" b="0">
                <a:solidFill>
                  <a:srgbClr val="55677A"/>
                </a:solidFill>
                <a:latin typeface="Arial"/>
              </a:rPr>
              <a:t>In zwei Fällen nennt das Transparenzportal statt des Trägers nur das Register. Unbehandelt verschmelzen beide zu einem einzigen Riesenempfänger.</a:t>
            </a:r>
          </a:p>
          <a:p>
            <a:pPr>
              <a:lnSpc>
                <a:spcPct val="100000"/>
              </a:lnSpc>
              <a:spcBef>
                <a:spcPts val="2000"/>
              </a:spcBef>
              <a:spcAft>
                <a:spcPts val="400"/>
              </a:spcAft>
            </a:pPr>
            <a:r>
              <a:rPr sz="1900" b="1">
                <a:solidFill>
                  <a:srgbClr val="16202A"/>
                </a:solidFill>
                <a:latin typeface="Arial"/>
              </a:rPr>
              <a:t>Die Lösung: aufschlüsseln statt zusammenwerfen</a:t>
            </a:r>
          </a:p>
          <a:p>
            <a:pPr>
              <a:lnSpc>
                <a:spcPct val="125000"/>
              </a:lnSpc>
              <a:spcBef>
                <a:spcPts val="0"/>
              </a:spcBef>
              <a:spcAft>
                <a:spcPts val="0"/>
              </a:spcAft>
            </a:pPr>
            <a:r>
              <a:rPr sz="1500" b="0">
                <a:solidFill>
                  <a:srgbClr val="55677A"/>
                </a:solidFill>
                <a:latin typeface="Arial"/>
              </a:rPr>
              <a:t>Beide Einträge bekommen ihre Vorgangsnummer angehängt und bleiben damit getrennte Empfänger.</a:t>
            </a:r>
          </a:p>
          <a:p>
            <a:pPr>
              <a:lnSpc>
                <a:spcPct val="100000"/>
              </a:lnSpc>
              <a:spcBef>
                <a:spcPts val="2000"/>
              </a:spcBef>
              <a:spcAft>
                <a:spcPts val="400"/>
              </a:spcAft>
            </a:pPr>
            <a:r>
              <a:rPr sz="1900" b="1">
                <a:solidFill>
                  <a:srgbClr val="16202A"/>
                </a:solidFill>
                <a:latin typeface="Arial"/>
              </a:rPr>
              <a:t>Die Grenze benennen statt raten</a:t>
            </a:r>
          </a:p>
          <a:p>
            <a:pPr>
              <a:lnSpc>
                <a:spcPct val="125000"/>
              </a:lnSpc>
              <a:spcBef>
                <a:spcPts val="0"/>
              </a:spcBef>
              <a:spcAft>
                <a:spcPts val="0"/>
              </a:spcAft>
            </a:pPr>
            <a:r>
              <a:rPr sz="1500" b="0">
                <a:solidFill>
                  <a:srgbClr val="55677A"/>
                </a:solidFill>
                <a:latin typeface="Arial"/>
              </a:rPr>
              <a:t>Wer dahintersteht, ist nicht ermittelbar. Beide zusammen machen 0,34 % der Fördersumme aus – selbst eine falsche Einstufung verschöbe das Ergebnis um 0,34 Prozentpunkte.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SCHWIERIGKEIT 4</a:t>
            </a:r>
          </a:p>
          <a:p>
            <a:pPr>
              <a:lnSpc>
                <a:spcPct val="105000"/>
              </a:lnSpc>
              <a:spcBef>
                <a:spcPts val="0"/>
              </a:spcBef>
              <a:spcAft>
                <a:spcPts val="0"/>
              </a:spcAft>
            </a:pPr>
            <a:r>
              <a:rPr sz="3000" b="1">
                <a:solidFill>
                  <a:srgbClr val="16202A"/>
                </a:solidFill>
                <a:latin typeface="Arial"/>
              </a:rPr>
              <a:t>„Städtisch“ steht in keiner Spalte</a:t>
            </a:r>
          </a:p>
        </p:txBody>
      </p:sp>
      <p:sp>
        <p:nvSpPr>
          <p:cNvPr id="5" name="TextBox 4"/>
          <p:cNvSpPr txBox="1"/>
          <p:nvPr/>
        </p:nvSpPr>
        <p:spPr>
          <a:xfrm>
            <a:off x="822960" y="2148840"/>
            <a:ext cx="10543032" cy="3931920"/>
          </a:xfrm>
          <a:prstGeom prst="rect">
            <a:avLst/>
          </a:prstGeom>
          <a:noFill/>
        </p:spPr>
        <p:txBody>
          <a:bodyPr wrap="square" lIns="0" rIns="0" tIns="0" bIns="0">
            <a:spAutoFit/>
          </a:bodyPr>
          <a:lstStyle/>
          <a:p>
            <a:pPr>
              <a:lnSpc>
                <a:spcPct val="100000"/>
              </a:lnSpc>
              <a:spcBef>
                <a:spcPts val="0"/>
              </a:spcBef>
              <a:spcAft>
                <a:spcPts val="400"/>
              </a:spcAft>
            </a:pPr>
            <a:r>
              <a:rPr sz="1900" b="1">
                <a:solidFill>
                  <a:srgbClr val="16202A"/>
                </a:solidFill>
                <a:latin typeface="Arial"/>
              </a:rPr>
              <a:t>Die Einordnung musste erst definiert werden</a:t>
            </a:r>
          </a:p>
          <a:p>
            <a:pPr>
              <a:lnSpc>
                <a:spcPct val="125000"/>
              </a:lnSpc>
              <a:spcBef>
                <a:spcPts val="0"/>
              </a:spcBef>
              <a:spcAft>
                <a:spcPts val="0"/>
              </a:spcAft>
            </a:pPr>
            <a:r>
              <a:rPr sz="1500" b="0">
                <a:solidFill>
                  <a:srgbClr val="55677A"/>
                </a:solidFill>
                <a:latin typeface="Arial"/>
              </a:rPr>
              <a:t>Städtisch ist, wer der Stadt mehrheitlich gehört, oder wer eine Anstalt, Körperschaft oder Stiftung öffentlichen Rechts ist, deren Träger die Stadt oder eine ihrer Körperschaften ist.</a:t>
            </a:r>
          </a:p>
          <a:p>
            <a:pPr>
              <a:lnSpc>
                <a:spcPct val="100000"/>
              </a:lnSpc>
              <a:spcBef>
                <a:spcPts val="2000"/>
              </a:spcBef>
              <a:spcAft>
                <a:spcPts val="400"/>
              </a:spcAft>
            </a:pPr>
            <a:r>
              <a:rPr sz="1900" b="1">
                <a:solidFill>
                  <a:srgbClr val="16202A"/>
                </a:solidFill>
                <a:latin typeface="Arial"/>
              </a:rPr>
              <a:t>50 Träger von Hand geprüft</a:t>
            </a:r>
          </a:p>
          <a:p>
            <a:pPr>
              <a:lnSpc>
                <a:spcPct val="125000"/>
              </a:lnSpc>
              <a:spcBef>
                <a:spcPts val="0"/>
              </a:spcBef>
              <a:spcAft>
                <a:spcPts val="0"/>
              </a:spcAft>
            </a:pPr>
            <a:r>
              <a:rPr sz="1500" b="0">
                <a:solidFill>
                  <a:srgbClr val="55677A"/>
                </a:solidFill>
                <a:latin typeface="Arial"/>
              </a:rPr>
              <a:t>Sie decken 88,7 % der Fördersumme ab. Rechtsform und Art des Nachweises stehen je Zeile in einer eigenen Datei, nicht im Programmcode.</a:t>
            </a:r>
          </a:p>
          <a:p>
            <a:pPr>
              <a:lnSpc>
                <a:spcPct val="100000"/>
              </a:lnSpc>
              <a:spcBef>
                <a:spcPts val="2000"/>
              </a:spcBef>
              <a:spcAft>
                <a:spcPts val="400"/>
              </a:spcAft>
            </a:pPr>
            <a:r>
              <a:rPr sz="1900" b="1">
                <a:solidFill>
                  <a:srgbClr val="16202A"/>
                </a:solidFill>
                <a:latin typeface="Arial"/>
              </a:rPr>
              <a:t>Bewusst als Unter- und Obergrenze formuliert</a:t>
            </a:r>
          </a:p>
          <a:p>
            <a:pPr>
              <a:lnSpc>
                <a:spcPct val="125000"/>
              </a:lnSpc>
              <a:spcBef>
                <a:spcPts val="0"/>
              </a:spcBef>
              <a:spcAft>
                <a:spcPts val="0"/>
              </a:spcAft>
            </a:pPr>
            <a:r>
              <a:rPr sz="1500" b="0">
                <a:solidFill>
                  <a:srgbClr val="55677A"/>
                </a:solidFill>
                <a:latin typeface="Arial"/>
              </a:rPr>
              <a:t>Die übrigen 1.863 Empfänger gelten als nicht städtisch. Damit ist der städtische Anteil eine Untergrenze und der freie eine Obergrenze.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DER WEG</a:t>
            </a:r>
          </a:p>
          <a:p>
            <a:pPr>
              <a:lnSpc>
                <a:spcPct val="105000"/>
              </a:lnSpc>
              <a:spcBef>
                <a:spcPts val="0"/>
              </a:spcBef>
              <a:spcAft>
                <a:spcPts val="0"/>
              </a:spcAft>
            </a:pPr>
            <a:r>
              <a:rPr sz="3000" b="1">
                <a:solidFill>
                  <a:srgbClr val="16202A"/>
                </a:solidFill>
                <a:latin typeface="Arial"/>
              </a:rPr>
              <a:t>Von 76.961 Zeilen zu 1.913 Empfängern</a:t>
            </a:r>
          </a:p>
        </p:txBody>
      </p:sp>
      <p:graphicFrame>
        <p:nvGraphicFramePr>
          <p:cNvPr id="5" name="Table 4"/>
          <p:cNvGraphicFramePr>
            <a:graphicFrameLocks noGrp="1"/>
          </p:cNvGraphicFramePr>
          <p:nvPr/>
        </p:nvGraphicFramePr>
        <p:xfrm>
          <a:off x="822960" y="2240280"/>
          <a:ext cx="10543032" cy="2523744"/>
        </p:xfrm>
        <a:graphic>
          <a:graphicData uri="http://schemas.openxmlformats.org/drawingml/2006/table">
            <a:tbl>
              <a:tblPr firstRow="1" bandRow="1">
                <a:tableStyleId>{5C22544A-7EE6-4342-B048-85BDC9FD1C3A}</a:tableStyleId>
              </a:tblPr>
              <a:tblGrid>
                <a:gridCol w="6035040"/>
                <a:gridCol w="2377440"/>
                <a:gridCol w="2130552"/>
              </a:tblGrid>
              <a:tr h="420624">
                <a:tc>
                  <a:txBody>
                    <a:bodyPr/>
                    <a:lstStyle/>
                    <a:p>
                      <a:pPr algn="l"/>
                      <a:r>
                        <a:rPr sz="1300" b="1">
                          <a:solidFill>
                            <a:srgbClr val="FFFFFF"/>
                          </a:solidFill>
                          <a:latin typeface="Arial"/>
                        </a:rPr>
                        <a:t>Schritt</a:t>
                      </a:r>
                    </a:p>
                  </a:txBody>
                  <a:tcPr anchor="ctr">
                    <a:solidFill>
                      <a:srgbClr val="16202A"/>
                    </a:solidFill>
                  </a:tcPr>
                </a:tc>
                <a:tc>
                  <a:txBody>
                    <a:bodyPr/>
                    <a:lstStyle/>
                    <a:p>
                      <a:pPr algn="r"/>
                      <a:r>
                        <a:rPr sz="1300" b="1">
                          <a:solidFill>
                            <a:srgbClr val="FFFFFF"/>
                          </a:solidFill>
                          <a:latin typeface="Arial"/>
                        </a:rPr>
                        <a:t>Ergebnis</a:t>
                      </a:r>
                    </a:p>
                  </a:txBody>
                  <a:tcPr anchor="ctr">
                    <a:solidFill>
                      <a:srgbClr val="16202A"/>
                    </a:solidFill>
                  </a:tcPr>
                </a:tc>
                <a:tc>
                  <a:txBody>
                    <a:bodyPr/>
                    <a:lstStyle/>
                    <a:p>
                      <a:pPr algn="r"/>
                      <a:r>
                        <a:rPr sz="1300" b="1">
                          <a:solidFill>
                            <a:srgbClr val="FFFFFF"/>
                          </a:solidFill>
                          <a:latin typeface="Arial"/>
                        </a:rPr>
                        <a:t>Summe</a:t>
                      </a:r>
                    </a:p>
                  </a:txBody>
                  <a:tcPr anchor="ctr">
                    <a:solidFill>
                      <a:srgbClr val="16202A"/>
                    </a:solidFill>
                  </a:tcPr>
                </a:tc>
              </a:tr>
              <a:tr h="420624">
                <a:tc>
                  <a:txBody>
                    <a:bodyPr/>
                    <a:lstStyle/>
                    <a:p>
                      <a:pPr algn="l"/>
                      <a:r>
                        <a:rPr sz="1400">
                          <a:solidFill>
                            <a:srgbClr val="16202A"/>
                          </a:solidFill>
                          <a:latin typeface="Arial"/>
                        </a:rPr>
                        <a:t>Rohdatei aus dem Transparenzportal</a:t>
                      </a:r>
                    </a:p>
                  </a:txBody>
                  <a:tcPr anchor="ctr">
                    <a:solidFill>
                      <a:srgbClr val="FFFFFF"/>
                    </a:solidFill>
                  </a:tcPr>
                </a:tc>
                <a:tc>
                  <a:txBody>
                    <a:bodyPr/>
                    <a:lstStyle/>
                    <a:p>
                      <a:pPr algn="r"/>
                      <a:r>
                        <a:rPr sz="1400">
                          <a:solidFill>
                            <a:srgbClr val="16202A"/>
                          </a:solidFill>
                          <a:latin typeface="Arial"/>
                        </a:rPr>
                        <a:t>76.961 Zeilen</a:t>
                      </a:r>
                    </a:p>
                  </a:txBody>
                  <a:tcPr anchor="ctr">
                    <a:solidFill>
                      <a:srgbClr val="FFFFFF"/>
                    </a:solidFill>
                  </a:tcPr>
                </a:tc>
                <a:tc>
                  <a:txBody>
                    <a:bodyPr/>
                    <a:lstStyle/>
                    <a:p>
                      <a:pPr algn="r"/>
                      <a:r>
                        <a:rPr sz="1400">
                          <a:solidFill>
                            <a:srgbClr val="16202A"/>
                          </a:solidFill>
                          <a:latin typeface="Arial"/>
                        </a:rPr>
                        <a:t>—</a:t>
                      </a:r>
                    </a:p>
                  </a:txBody>
                  <a:tcPr anchor="ctr">
                    <a:solidFill>
                      <a:srgbClr val="FFFFFF"/>
                    </a:solidFill>
                  </a:tcPr>
                </a:tc>
              </a:tr>
              <a:tr h="420624">
                <a:tc>
                  <a:txBody>
                    <a:bodyPr/>
                    <a:lstStyle/>
                    <a:p>
                      <a:pPr algn="l"/>
                      <a:r>
                        <a:rPr sz="1400">
                          <a:solidFill>
                            <a:srgbClr val="16202A"/>
                          </a:solidFill>
                          <a:latin typeface="Arial"/>
                        </a:rPr>
                        <a:t>Pro Vorgang nur den letzten Bescheid</a:t>
                      </a:r>
                    </a:p>
                  </a:txBody>
                  <a:tcPr anchor="ctr">
                    <a:solidFill>
                      <a:srgbClr val="ECEFF1"/>
                    </a:solidFill>
                  </a:tcPr>
                </a:tc>
                <a:tc>
                  <a:txBody>
                    <a:bodyPr/>
                    <a:lstStyle/>
                    <a:p>
                      <a:pPr algn="r"/>
                      <a:r>
                        <a:rPr sz="1400">
                          <a:solidFill>
                            <a:srgbClr val="16202A"/>
                          </a:solidFill>
                          <a:latin typeface="Arial"/>
                        </a:rPr>
                        <a:t>42.085 Fälle</a:t>
                      </a:r>
                    </a:p>
                  </a:txBody>
                  <a:tcPr anchor="ctr">
                    <a:solidFill>
                      <a:srgbClr val="ECEFF1"/>
                    </a:solidFill>
                  </a:tcPr>
                </a:tc>
                <a:tc>
                  <a:txBody>
                    <a:bodyPr/>
                    <a:lstStyle/>
                    <a:p>
                      <a:pPr algn="r"/>
                      <a:r>
                        <a:rPr sz="1400">
                          <a:solidFill>
                            <a:srgbClr val="16202A"/>
                          </a:solidFill>
                          <a:latin typeface="Arial"/>
                        </a:rPr>
                        <a:t>21,0 Mrd €</a:t>
                      </a:r>
                    </a:p>
                  </a:txBody>
                  <a:tcPr anchor="ctr">
                    <a:solidFill>
                      <a:srgbClr val="ECEFF1"/>
                    </a:solidFill>
                  </a:tcPr>
                </a:tc>
              </a:tr>
              <a:tr h="420624">
                <a:tc>
                  <a:txBody>
                    <a:bodyPr/>
                    <a:lstStyle/>
                    <a:p>
                      <a:pPr algn="l"/>
                      <a:r>
                        <a:rPr sz="1400">
                          <a:solidFill>
                            <a:srgbClr val="16202A"/>
                          </a:solidFill>
                          <a:latin typeface="Arial"/>
                        </a:rPr>
                        <a:t>Fördersumme minus Rückforderungen</a:t>
                      </a:r>
                    </a:p>
                  </a:txBody>
                  <a:tcPr anchor="ctr">
                    <a:solidFill>
                      <a:srgbClr val="FFFFFF"/>
                    </a:solidFill>
                  </a:tcPr>
                </a:tc>
                <a:tc>
                  <a:txBody>
                    <a:bodyPr/>
                    <a:lstStyle/>
                    <a:p>
                      <a:pPr algn="r"/>
                      <a:r>
                        <a:rPr sz="1400">
                          <a:solidFill>
                            <a:srgbClr val="16202A"/>
                          </a:solidFill>
                          <a:latin typeface="Arial"/>
                        </a:rPr>
                        <a:t>42.085 Fälle</a:t>
                      </a:r>
                    </a:p>
                  </a:txBody>
                  <a:tcPr anchor="ctr">
                    <a:solidFill>
                      <a:srgbClr val="FFFFFF"/>
                    </a:solidFill>
                  </a:tcPr>
                </a:tc>
                <a:tc>
                  <a:txBody>
                    <a:bodyPr/>
                    <a:lstStyle/>
                    <a:p>
                      <a:pPr algn="r"/>
                      <a:r>
                        <a:rPr sz="1400">
                          <a:solidFill>
                            <a:srgbClr val="16202A"/>
                          </a:solidFill>
                          <a:latin typeface="Arial"/>
                        </a:rPr>
                        <a:t>netto</a:t>
                      </a:r>
                    </a:p>
                  </a:txBody>
                  <a:tcPr anchor="ctr">
                    <a:solidFill>
                      <a:srgbClr val="FFFFFF"/>
                    </a:solidFill>
                  </a:tcPr>
                </a:tc>
              </a:tr>
              <a:tr h="420624">
                <a:tc>
                  <a:txBody>
                    <a:bodyPr/>
                    <a:lstStyle/>
                    <a:p>
                      <a:pPr algn="l"/>
                      <a:r>
                        <a:rPr sz="1400">
                          <a:solidFill>
                            <a:srgbClr val="16202A"/>
                          </a:solidFill>
                          <a:latin typeface="Arial"/>
                        </a:rPr>
                        <a:t>Auf Erstbescheid-Jahr 2025 eingegrenzt</a:t>
                      </a:r>
                    </a:p>
                  </a:txBody>
                  <a:tcPr anchor="ctr">
                    <a:solidFill>
                      <a:srgbClr val="ECEFF1"/>
                    </a:solidFill>
                  </a:tcPr>
                </a:tc>
                <a:tc>
                  <a:txBody>
                    <a:bodyPr/>
                    <a:lstStyle/>
                    <a:p>
                      <a:pPr algn="r"/>
                      <a:r>
                        <a:rPr sz="1400">
                          <a:solidFill>
                            <a:srgbClr val="16202A"/>
                          </a:solidFill>
                          <a:latin typeface="Arial"/>
                        </a:rPr>
                        <a:t>3.980 Fälle</a:t>
                      </a:r>
                    </a:p>
                  </a:txBody>
                  <a:tcPr anchor="ctr">
                    <a:solidFill>
                      <a:srgbClr val="ECEFF1"/>
                    </a:solidFill>
                  </a:tcPr>
                </a:tc>
                <a:tc>
                  <a:txBody>
                    <a:bodyPr/>
                    <a:lstStyle/>
                    <a:p>
                      <a:pPr algn="r"/>
                      <a:r>
                        <a:rPr sz="1400">
                          <a:solidFill>
                            <a:srgbClr val="16202A"/>
                          </a:solidFill>
                          <a:latin typeface="Arial"/>
                        </a:rPr>
                        <a:t>2,62 Mrd €</a:t>
                      </a:r>
                    </a:p>
                  </a:txBody>
                  <a:tcPr anchor="ctr">
                    <a:solidFill>
                      <a:srgbClr val="ECEFF1"/>
                    </a:solidFill>
                  </a:tcPr>
                </a:tc>
              </a:tr>
              <a:tr h="420624">
                <a:tc>
                  <a:txBody>
                    <a:bodyPr/>
                    <a:lstStyle/>
                    <a:p>
                      <a:pPr algn="l"/>
                      <a:r>
                        <a:rPr sz="1400">
                          <a:solidFill>
                            <a:srgbClr val="16202A"/>
                          </a:solidFill>
                          <a:latin typeface="Arial"/>
                        </a:rPr>
                        <a:t>Sammeleintrag aufgelöst, Schreibweisen zusammengeführt</a:t>
                      </a:r>
                    </a:p>
                  </a:txBody>
                  <a:tcPr anchor="ctr">
                    <a:solidFill>
                      <a:srgbClr val="FFFFFF"/>
                    </a:solidFill>
                  </a:tcPr>
                </a:tc>
                <a:tc>
                  <a:txBody>
                    <a:bodyPr/>
                    <a:lstStyle/>
                    <a:p>
                      <a:pPr algn="r"/>
                      <a:r>
                        <a:rPr sz="1400" b="1">
                          <a:solidFill>
                            <a:srgbClr val="B4351F"/>
                          </a:solidFill>
                          <a:latin typeface="Arial"/>
                        </a:rPr>
                        <a:t>1.913 Empfänger</a:t>
                      </a:r>
                    </a:p>
                  </a:txBody>
                  <a:tcPr anchor="ctr">
                    <a:solidFill>
                      <a:srgbClr val="FFFFFF"/>
                    </a:solidFill>
                  </a:tcPr>
                </a:tc>
                <a:tc>
                  <a:txBody>
                    <a:bodyPr/>
                    <a:lstStyle/>
                    <a:p>
                      <a:pPr algn="r"/>
                      <a:r>
                        <a:rPr sz="1400">
                          <a:solidFill>
                            <a:srgbClr val="16202A"/>
                          </a:solidFill>
                          <a:latin typeface="Arial"/>
                        </a:rPr>
                        <a:t>2,62 Mrd €</a:t>
                      </a:r>
                    </a:p>
                  </a:txBody>
                  <a:tcPr anchor="ctr">
                    <a:solidFill>
                      <a:srgbClr val="FFFFFF"/>
                    </a:solidFill>
                  </a:tcPr>
                </a:tc>
              </a:tr>
            </a:tbl>
          </a:graphicData>
        </a:graphic>
      </p:graphicFrame>
      <p:sp>
        <p:nvSpPr>
          <p:cNvPr id="6" name="TextBox 5"/>
          <p:cNvSpPr txBox="1"/>
          <p:nvPr/>
        </p:nvSpPr>
        <p:spPr>
          <a:xfrm>
            <a:off x="822960" y="5129784"/>
            <a:ext cx="10543032" cy="822960"/>
          </a:xfrm>
          <a:prstGeom prst="rect">
            <a:avLst/>
          </a:prstGeom>
          <a:noFill/>
        </p:spPr>
        <p:txBody>
          <a:bodyPr wrap="square" lIns="0" rIns="0" tIns="0" bIns="0">
            <a:spAutoFit/>
          </a:bodyPr>
          <a:lstStyle/>
          <a:p>
            <a:pPr>
              <a:lnSpc>
                <a:spcPct val="130000"/>
              </a:lnSpc>
              <a:spcBef>
                <a:spcPts val="0"/>
              </a:spcBef>
              <a:spcAft>
                <a:spcPts val="0"/>
              </a:spcAft>
            </a:pPr>
            <a:r>
              <a:rPr sz="1400" b="0">
                <a:solidFill>
                  <a:srgbClr val="55677A"/>
                </a:solidFill>
                <a:latin typeface="Arial"/>
              </a:rPr>
              <a:t>Ein Fall zählt mit seinem heutigen Betrag ins Jahr seines ersten Bescheids. Es heißt deshalb „bewilligt 2025“, nie „ausgegeben 2025“.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DAS ERGEBNIS</a:t>
            </a:r>
          </a:p>
          <a:p>
            <a:pPr>
              <a:lnSpc>
                <a:spcPct val="105000"/>
              </a:lnSpc>
              <a:spcBef>
                <a:spcPts val="0"/>
              </a:spcBef>
              <a:spcAft>
                <a:spcPts val="0"/>
              </a:spcAft>
            </a:pPr>
            <a:r>
              <a:rPr sz="3000" b="1">
                <a:solidFill>
                  <a:srgbClr val="16202A"/>
                </a:solidFill>
                <a:latin typeface="Arial"/>
              </a:rPr>
              <a:t>Vier Fünftel bleiben im Konzern Stadt</a:t>
            </a:r>
          </a:p>
        </p:txBody>
      </p:sp>
      <p:sp>
        <p:nvSpPr>
          <p:cNvPr id="5" name="TextBox 4"/>
          <p:cNvSpPr txBox="1"/>
          <p:nvPr/>
        </p:nvSpPr>
        <p:spPr>
          <a:xfrm>
            <a:off x="822960" y="2286000"/>
            <a:ext cx="4572000" cy="2194560"/>
          </a:xfrm>
          <a:prstGeom prst="rect">
            <a:avLst/>
          </a:prstGeom>
          <a:noFill/>
        </p:spPr>
        <p:txBody>
          <a:bodyPr wrap="square" lIns="0" rIns="0" tIns="0" bIns="0">
            <a:spAutoFit/>
          </a:bodyPr>
          <a:lstStyle/>
          <a:p>
            <a:pPr>
              <a:lnSpc>
                <a:spcPct val="100000"/>
              </a:lnSpc>
              <a:spcBef>
                <a:spcPts val="0"/>
              </a:spcBef>
              <a:spcAft>
                <a:spcPts val="1000"/>
              </a:spcAft>
            </a:pPr>
            <a:r>
              <a:rPr sz="8800" b="1">
                <a:solidFill>
                  <a:srgbClr val="0A5C6E"/>
                </a:solidFill>
                <a:latin typeface="Arial"/>
              </a:rPr>
              <a:t>80,3 %</a:t>
            </a:r>
          </a:p>
          <a:p>
            <a:pPr>
              <a:lnSpc>
                <a:spcPct val="130000"/>
              </a:lnSpc>
              <a:spcBef>
                <a:spcPts val="0"/>
              </a:spcBef>
              <a:spcAft>
                <a:spcPts val="0"/>
              </a:spcAft>
            </a:pPr>
            <a:r>
              <a:rPr sz="1500" b="0">
                <a:solidFill>
                  <a:srgbClr val="55677A"/>
                </a:solidFill>
                <a:latin typeface="Arial"/>
              </a:rPr>
              <a:t>der 2,62 Mrd € gingen 2025 an städtische</a:t>
            </a:r>
            <a:br/>
            <a:r>
              <a:t>Unternehmen, Anstalten und Stiftungen</a:t>
            </a:r>
          </a:p>
        </p:txBody>
      </p:sp>
      <p:sp>
        <p:nvSpPr>
          <p:cNvPr id="6" name="TextBox 5"/>
          <p:cNvSpPr txBox="1"/>
          <p:nvPr/>
        </p:nvSpPr>
        <p:spPr>
          <a:xfrm>
            <a:off x="5852160" y="2331720"/>
            <a:ext cx="5486400" cy="3291840"/>
          </a:xfrm>
          <a:prstGeom prst="rect">
            <a:avLst/>
          </a:prstGeom>
          <a:noFill/>
        </p:spPr>
        <p:txBody>
          <a:bodyPr wrap="square" lIns="0" rIns="0" tIns="0" bIns="0">
            <a:spAutoFit/>
          </a:bodyPr>
          <a:lstStyle/>
          <a:p>
            <a:pPr>
              <a:lnSpc>
                <a:spcPct val="100000"/>
              </a:lnSpc>
              <a:spcBef>
                <a:spcPts val="0"/>
              </a:spcBef>
              <a:spcAft>
                <a:spcPts val="400"/>
              </a:spcAft>
            </a:pPr>
            <a:r>
              <a:rPr sz="1700" b="1">
                <a:solidFill>
                  <a:srgbClr val="16202A"/>
                </a:solidFill>
                <a:latin typeface="Arial"/>
              </a:rPr>
              <a:t>Ein Empfänger allein: 59,5 %</a:t>
            </a:r>
          </a:p>
          <a:p>
            <a:pPr>
              <a:lnSpc>
                <a:spcPct val="125000"/>
              </a:lnSpc>
              <a:spcBef>
                <a:spcPts val="0"/>
              </a:spcBef>
              <a:spcAft>
                <a:spcPts val="0"/>
              </a:spcAft>
            </a:pPr>
            <a:r>
              <a:rPr sz="1400" b="0">
                <a:solidFill>
                  <a:srgbClr val="55677A"/>
                </a:solidFill>
                <a:latin typeface="Arial"/>
              </a:rPr>
              <a:t>Die Hamburger Hochbahn AG. Die zwanzig größten Empfänger zusammen: 82,5 %.</a:t>
            </a:r>
          </a:p>
          <a:p>
            <a:pPr>
              <a:lnSpc>
                <a:spcPct val="100000"/>
              </a:lnSpc>
              <a:spcBef>
                <a:spcPts val="1800"/>
              </a:spcBef>
              <a:spcAft>
                <a:spcPts val="400"/>
              </a:spcAft>
            </a:pPr>
            <a:r>
              <a:rPr sz="1700" b="1">
                <a:solidFill>
                  <a:srgbClr val="16202A"/>
                </a:solidFill>
                <a:latin typeface="Arial"/>
              </a:rPr>
              <a:t>Der freie Sektor: 18,4 %</a:t>
            </a:r>
          </a:p>
          <a:p>
            <a:pPr>
              <a:lnSpc>
                <a:spcPct val="125000"/>
              </a:lnSpc>
              <a:spcBef>
                <a:spcPts val="0"/>
              </a:spcBef>
              <a:spcAft>
                <a:spcPts val="0"/>
              </a:spcAft>
            </a:pPr>
            <a:r>
              <a:rPr sz="1400" b="0">
                <a:solidFill>
                  <a:srgbClr val="55677A"/>
                </a:solidFill>
                <a:latin typeface="Arial"/>
              </a:rPr>
              <a:t>481 Mio € verteilen sich auf 1.884 Empfänger – deutlich breiter gestreut als das Gesamtbild vermuten lässt.</a:t>
            </a:r>
          </a:p>
          <a:p>
            <a:pPr>
              <a:lnSpc>
                <a:spcPct val="100000"/>
              </a:lnSpc>
              <a:spcBef>
                <a:spcPts val="1800"/>
              </a:spcBef>
              <a:spcAft>
                <a:spcPts val="400"/>
              </a:spcAft>
            </a:pPr>
            <a:r>
              <a:rPr sz="1700" b="1">
                <a:solidFill>
                  <a:srgbClr val="16202A"/>
                </a:solidFill>
                <a:latin typeface="Arial"/>
              </a:rPr>
              <a:t>Gemischt-öffentlich: 1,3 %</a:t>
            </a:r>
          </a:p>
          <a:p>
            <a:pPr>
              <a:lnSpc>
                <a:spcPct val="125000"/>
              </a:lnSpc>
              <a:spcBef>
                <a:spcPts val="0"/>
              </a:spcBef>
              <a:spcAft>
                <a:spcPts val="0"/>
              </a:spcAft>
            </a:pPr>
            <a:r>
              <a:rPr sz="1400" b="0">
                <a:solidFill>
                  <a:srgbClr val="55677A"/>
                </a:solidFill>
                <a:latin typeface="Arial"/>
              </a:rPr>
              <a:t>Gesellschaften mit einem zweiten öffentlichen Partner, etwa Schleswig-Holstein oder die Handelskammer.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43032" cy="2377440"/>
          </a:xfrm>
          <a:prstGeom prst="rect">
            <a:avLst/>
          </a:prstGeom>
          <a:noFill/>
        </p:spPr>
        <p:txBody>
          <a:bodyPr wrap="square" lIns="0" rIns="0" tIns="0" bIns="0">
            <a:spAutoFit/>
          </a:bodyPr>
          <a:lstStyle/>
          <a:p>
            <a:pPr>
              <a:lnSpc>
                <a:spcPct val="100000"/>
              </a:lnSpc>
              <a:spcBef>
                <a:spcPts val="0"/>
              </a:spcBef>
              <a:spcAft>
                <a:spcPts val="1400"/>
              </a:spcAft>
            </a:pPr>
            <a:r>
              <a:rPr sz="1400" b="1">
                <a:solidFill>
                  <a:srgbClr val="8FD0DC"/>
                </a:solidFill>
                <a:latin typeface="Arial"/>
              </a:rPr>
              <a:t>Teil 3</a:t>
            </a:r>
          </a:p>
          <a:p>
            <a:pPr>
              <a:lnSpc>
                <a:spcPct val="105000"/>
              </a:lnSpc>
              <a:spcBef>
                <a:spcPts val="0"/>
              </a:spcBef>
              <a:spcAft>
                <a:spcPts val="1600"/>
              </a:spcAft>
            </a:pPr>
            <a:r>
              <a:rPr sz="4600" b="1">
                <a:solidFill>
                  <a:srgbClr val="FFFFFF"/>
                </a:solidFill>
                <a:latin typeface="Arial"/>
              </a:rPr>
              <a:t>Was ich später ändern musste</a:t>
            </a:r>
          </a:p>
          <a:p>
            <a:pPr>
              <a:lnSpc>
                <a:spcPct val="130000"/>
              </a:lnSpc>
              <a:spcBef>
                <a:spcPts val="0"/>
              </a:spcBef>
              <a:spcAft>
                <a:spcPts val="0"/>
              </a:spcAft>
            </a:pPr>
            <a:r>
              <a:rPr sz="1800" b="0">
                <a:solidFill>
                  <a:srgbClr val="C5E3E9"/>
                </a:solidFill>
                <a:latin typeface="Arial"/>
              </a:rPr>
              <a:t>Drei Korrekturen an etwas, das schon fertig aussah.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KORREKTUR 1</a:t>
            </a:r>
          </a:p>
          <a:p>
            <a:pPr>
              <a:lnSpc>
                <a:spcPct val="105000"/>
              </a:lnSpc>
              <a:spcBef>
                <a:spcPts val="0"/>
              </a:spcBef>
              <a:spcAft>
                <a:spcPts val="0"/>
              </a:spcAft>
            </a:pPr>
            <a:r>
              <a:rPr sz="3000" b="1">
                <a:solidFill>
                  <a:srgbClr val="16202A"/>
                </a:solidFill>
                <a:latin typeface="Arial"/>
              </a:rPr>
              <a:t>Ein Träger stand viermal in den Daten</a:t>
            </a:r>
          </a:p>
        </p:txBody>
      </p:sp>
      <p:graphicFrame>
        <p:nvGraphicFramePr>
          <p:cNvPr id="5" name="Table 4"/>
          <p:cNvGraphicFramePr>
            <a:graphicFrameLocks noGrp="1"/>
          </p:cNvGraphicFramePr>
          <p:nvPr/>
        </p:nvGraphicFramePr>
        <p:xfrm>
          <a:off x="822960" y="2240280"/>
          <a:ext cx="10543032" cy="2523744"/>
        </p:xfrm>
        <a:graphic>
          <a:graphicData uri="http://schemas.openxmlformats.org/drawingml/2006/table">
            <a:tbl>
              <a:tblPr firstRow="1" bandRow="1">
                <a:tableStyleId>{5C22544A-7EE6-4342-B048-85BDC9FD1C3A}</a:tableStyleId>
              </a:tblPr>
              <a:tblGrid>
                <a:gridCol w="6858000"/>
                <a:gridCol w="3685032"/>
              </a:tblGrid>
              <a:tr h="420624">
                <a:tc>
                  <a:txBody>
                    <a:bodyPr/>
                    <a:lstStyle/>
                    <a:p>
                      <a:pPr algn="l"/>
                      <a:r>
                        <a:rPr sz="1300" b="1">
                          <a:solidFill>
                            <a:srgbClr val="FFFFFF"/>
                          </a:solidFill>
                          <a:latin typeface="Arial"/>
                        </a:rPr>
                        <a:t>Schreibweise</a:t>
                      </a:r>
                    </a:p>
                  </a:txBody>
                  <a:tcPr anchor="ctr">
                    <a:solidFill>
                      <a:srgbClr val="16202A"/>
                    </a:solidFill>
                  </a:tcPr>
                </a:tc>
                <a:tc>
                  <a:txBody>
                    <a:bodyPr/>
                    <a:lstStyle/>
                    <a:p>
                      <a:pPr algn="r"/>
                      <a:r>
                        <a:rPr sz="1300" b="1">
                          <a:solidFill>
                            <a:srgbClr val="FFFFFF"/>
                          </a:solidFill>
                          <a:latin typeface="Arial"/>
                        </a:rPr>
                        <a:t>Betrag</a:t>
                      </a:r>
                    </a:p>
                  </a:txBody>
                  <a:tcPr anchor="ctr">
                    <a:solidFill>
                      <a:srgbClr val="16202A"/>
                    </a:solidFill>
                  </a:tcPr>
                </a:tc>
              </a:tr>
              <a:tr h="420624">
                <a:tc>
                  <a:txBody>
                    <a:bodyPr/>
                    <a:lstStyle/>
                    <a:p>
                      <a:pPr algn="l"/>
                      <a:r>
                        <a:rPr sz="1400">
                          <a:solidFill>
                            <a:srgbClr val="16202A"/>
                          </a:solidFill>
                          <a:latin typeface="Arial"/>
                        </a:rPr>
                        <a:t>Basis &amp; Woge e.V.</a:t>
                      </a:r>
                    </a:p>
                  </a:txBody>
                  <a:tcPr anchor="ctr">
                    <a:solidFill>
                      <a:srgbClr val="FFFFFF"/>
                    </a:solidFill>
                  </a:tcPr>
                </a:tc>
                <a:tc>
                  <a:txBody>
                    <a:bodyPr/>
                    <a:lstStyle/>
                    <a:p>
                      <a:pPr algn="r"/>
                      <a:r>
                        <a:rPr sz="1400">
                          <a:solidFill>
                            <a:srgbClr val="16202A"/>
                          </a:solidFill>
                          <a:latin typeface="Arial"/>
                        </a:rPr>
                        <a:t>5.002.815,04 €</a:t>
                      </a:r>
                    </a:p>
                  </a:txBody>
                  <a:tcPr anchor="ctr">
                    <a:solidFill>
                      <a:srgbClr val="FFFFFF"/>
                    </a:solidFill>
                  </a:tcPr>
                </a:tc>
              </a:tr>
              <a:tr h="420624">
                <a:tc>
                  <a:txBody>
                    <a:bodyPr/>
                    <a:lstStyle/>
                    <a:p>
                      <a:pPr algn="l"/>
                      <a:r>
                        <a:rPr sz="1400">
                          <a:solidFill>
                            <a:srgbClr val="16202A"/>
                          </a:solidFill>
                          <a:latin typeface="Arial"/>
                        </a:rPr>
                        <a:t>BASIS &amp; WOGE e. V.</a:t>
                      </a:r>
                    </a:p>
                  </a:txBody>
                  <a:tcPr anchor="ctr">
                    <a:solidFill>
                      <a:srgbClr val="ECEFF1"/>
                    </a:solidFill>
                  </a:tcPr>
                </a:tc>
                <a:tc>
                  <a:txBody>
                    <a:bodyPr/>
                    <a:lstStyle/>
                    <a:p>
                      <a:pPr algn="r"/>
                      <a:r>
                        <a:rPr sz="1400">
                          <a:solidFill>
                            <a:srgbClr val="16202A"/>
                          </a:solidFill>
                          <a:latin typeface="Arial"/>
                        </a:rPr>
                        <a:t>983.582,31 €</a:t>
                      </a:r>
                    </a:p>
                  </a:txBody>
                  <a:tcPr anchor="ctr">
                    <a:solidFill>
                      <a:srgbClr val="ECEFF1"/>
                    </a:solidFill>
                  </a:tcPr>
                </a:tc>
              </a:tr>
              <a:tr h="420624">
                <a:tc>
                  <a:txBody>
                    <a:bodyPr/>
                    <a:lstStyle/>
                    <a:p>
                      <a:pPr algn="l"/>
                      <a:r>
                        <a:rPr sz="1400">
                          <a:solidFill>
                            <a:srgbClr val="16202A"/>
                          </a:solidFill>
                          <a:latin typeface="Arial"/>
                        </a:rPr>
                        <a:t>BASIS &amp; WOGE e. V</a:t>
                      </a:r>
                    </a:p>
                  </a:txBody>
                  <a:tcPr anchor="ctr">
                    <a:solidFill>
                      <a:srgbClr val="FFFFFF"/>
                    </a:solidFill>
                  </a:tcPr>
                </a:tc>
                <a:tc>
                  <a:txBody>
                    <a:bodyPr/>
                    <a:lstStyle/>
                    <a:p>
                      <a:pPr algn="r"/>
                      <a:r>
                        <a:rPr sz="1400">
                          <a:solidFill>
                            <a:srgbClr val="16202A"/>
                          </a:solidFill>
                          <a:latin typeface="Arial"/>
                        </a:rPr>
                        <a:t>227.041,71 €</a:t>
                      </a:r>
                    </a:p>
                  </a:txBody>
                  <a:tcPr anchor="ctr">
                    <a:solidFill>
                      <a:srgbClr val="FFFFFF"/>
                    </a:solidFill>
                  </a:tcPr>
                </a:tc>
              </a:tr>
              <a:tr h="420624">
                <a:tc>
                  <a:txBody>
                    <a:bodyPr/>
                    <a:lstStyle/>
                    <a:p>
                      <a:pPr algn="l"/>
                      <a:r>
                        <a:rPr sz="1400">
                          <a:solidFill>
                            <a:srgbClr val="16202A"/>
                          </a:solidFill>
                          <a:latin typeface="Arial"/>
                        </a:rPr>
                        <a:t>BASIS &amp; WOGE e.V</a:t>
                      </a:r>
                    </a:p>
                  </a:txBody>
                  <a:tcPr anchor="ctr">
                    <a:solidFill>
                      <a:srgbClr val="ECEFF1"/>
                    </a:solidFill>
                  </a:tcPr>
                </a:tc>
                <a:tc>
                  <a:txBody>
                    <a:bodyPr/>
                    <a:lstStyle/>
                    <a:p>
                      <a:pPr algn="r"/>
                      <a:r>
                        <a:rPr sz="1400">
                          <a:solidFill>
                            <a:srgbClr val="16202A"/>
                          </a:solidFill>
                          <a:latin typeface="Arial"/>
                        </a:rPr>
                        <a:t>75.320,91 €</a:t>
                      </a:r>
                    </a:p>
                  </a:txBody>
                  <a:tcPr anchor="ctr">
                    <a:solidFill>
                      <a:srgbClr val="ECEFF1"/>
                    </a:solidFill>
                  </a:tcPr>
                </a:tc>
              </a:tr>
              <a:tr h="420624">
                <a:tc>
                  <a:txBody>
                    <a:bodyPr/>
                    <a:lstStyle/>
                    <a:p>
                      <a:pPr algn="l"/>
                      <a:r>
                        <a:rPr sz="1400" b="1">
                          <a:solidFill>
                            <a:srgbClr val="B4351F"/>
                          </a:solidFill>
                          <a:latin typeface="Arial"/>
                        </a:rPr>
                        <a:t>zusammengeführt</a:t>
                      </a:r>
                    </a:p>
                  </a:txBody>
                  <a:tcPr anchor="ctr">
                    <a:solidFill>
                      <a:srgbClr val="FFFFFF"/>
                    </a:solidFill>
                  </a:tcPr>
                </a:tc>
                <a:tc>
                  <a:txBody>
                    <a:bodyPr/>
                    <a:lstStyle/>
                    <a:p>
                      <a:pPr algn="r"/>
                      <a:r>
                        <a:rPr sz="1400" b="1">
                          <a:solidFill>
                            <a:srgbClr val="B4351F"/>
                          </a:solidFill>
                          <a:latin typeface="Arial"/>
                        </a:rPr>
                        <a:t>6.288.759,97 €</a:t>
                      </a:r>
                    </a:p>
                  </a:txBody>
                  <a:tcPr anchor="ctr">
                    <a:solidFill>
                      <a:srgbClr val="FFFFFF"/>
                    </a:solidFill>
                  </a:tcPr>
                </a:tc>
              </a:tr>
            </a:tbl>
          </a:graphicData>
        </a:graphic>
      </p:graphicFrame>
      <p:sp>
        <p:nvSpPr>
          <p:cNvPr id="6" name="TextBox 5"/>
          <p:cNvSpPr txBox="1"/>
          <p:nvPr/>
        </p:nvSpPr>
        <p:spPr>
          <a:xfrm>
            <a:off x="822960" y="5129784"/>
            <a:ext cx="10543032" cy="822960"/>
          </a:xfrm>
          <a:prstGeom prst="rect">
            <a:avLst/>
          </a:prstGeom>
          <a:noFill/>
        </p:spPr>
        <p:txBody>
          <a:bodyPr wrap="square" lIns="0" rIns="0" tIns="0" bIns="0">
            <a:spAutoFit/>
          </a:bodyPr>
          <a:lstStyle/>
          <a:p>
            <a:pPr>
              <a:lnSpc>
                <a:spcPct val="130000"/>
              </a:lnSpc>
              <a:spcBef>
                <a:spcPts val="0"/>
              </a:spcBef>
              <a:spcAft>
                <a:spcPts val="0"/>
              </a:spcAft>
            </a:pPr>
            <a:r>
              <a:rPr sz="1400" b="0">
                <a:solidFill>
                  <a:srgbClr val="55677A"/>
                </a:solidFill>
                <a:latin typeface="Arial"/>
              </a:rPr>
              <a:t>Ein Test auf bereinigte Vergleichsschlüssel fand 114 Namen in 53 Gruppen. Die Empfängerzahl sank von 1.974 auf 1.913. Die Gesamtanteile blieben gleich, weil das Geld nur innerhalb der freien Gruppe umverteilt wurde – die Rangfolge innerhalb dieser Gruppe änderte sich dagegen deutlich.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KORREKTUR 2</a:t>
            </a:r>
          </a:p>
          <a:p>
            <a:pPr>
              <a:lnSpc>
                <a:spcPct val="105000"/>
              </a:lnSpc>
              <a:spcBef>
                <a:spcPts val="0"/>
              </a:spcBef>
              <a:spcAft>
                <a:spcPts val="0"/>
              </a:spcAft>
            </a:pPr>
            <a:r>
              <a:rPr sz="3000" b="1">
                <a:solidFill>
                  <a:srgbClr val="16202A"/>
                </a:solidFill>
                <a:latin typeface="Arial"/>
              </a:rPr>
              <a:t>Eine Zahl in meiner eigenen Dokumentation stimmte nicht</a:t>
            </a:r>
          </a:p>
        </p:txBody>
      </p:sp>
      <p:sp>
        <p:nvSpPr>
          <p:cNvPr id="5" name="TextBox 4"/>
          <p:cNvSpPr txBox="1"/>
          <p:nvPr/>
        </p:nvSpPr>
        <p:spPr>
          <a:xfrm>
            <a:off x="822960" y="2148840"/>
            <a:ext cx="10543032" cy="3931920"/>
          </a:xfrm>
          <a:prstGeom prst="rect">
            <a:avLst/>
          </a:prstGeom>
          <a:noFill/>
        </p:spPr>
        <p:txBody>
          <a:bodyPr wrap="square" lIns="0" rIns="0" tIns="0" bIns="0">
            <a:spAutoFit/>
          </a:bodyPr>
          <a:lstStyle/>
          <a:p>
            <a:pPr>
              <a:lnSpc>
                <a:spcPct val="100000"/>
              </a:lnSpc>
              <a:spcBef>
                <a:spcPts val="0"/>
              </a:spcBef>
              <a:spcAft>
                <a:spcPts val="400"/>
              </a:spcAft>
            </a:pPr>
            <a:r>
              <a:rPr sz="1900" b="1">
                <a:solidFill>
                  <a:srgbClr val="16202A"/>
                </a:solidFill>
                <a:latin typeface="Arial"/>
              </a:rPr>
              <a:t>Die Behauptung</a:t>
            </a:r>
          </a:p>
          <a:p>
            <a:pPr>
              <a:lnSpc>
                <a:spcPct val="125000"/>
              </a:lnSpc>
              <a:spcBef>
                <a:spcPts val="0"/>
              </a:spcBef>
              <a:spcAft>
                <a:spcPts val="0"/>
              </a:spcAft>
            </a:pPr>
            <a:r>
              <a:rPr sz="1500" b="0">
                <a:solidFill>
                  <a:srgbClr val="55677A"/>
                </a:solidFill>
                <a:latin typeface="Arial"/>
              </a:rPr>
              <a:t>Meine Methodendokumentation sagte: Ohne die Behandlung fehlender Rückforderungen fielen „40 % der Fälle“ aus der Summe.</a:t>
            </a:r>
          </a:p>
          <a:p>
            <a:pPr>
              <a:lnSpc>
                <a:spcPct val="100000"/>
              </a:lnSpc>
              <a:spcBef>
                <a:spcPts val="2000"/>
              </a:spcBef>
              <a:spcAft>
                <a:spcPts val="400"/>
              </a:spcAft>
            </a:pPr>
            <a:r>
              <a:rPr sz="1900" b="1">
                <a:solidFill>
                  <a:srgbClr val="16202A"/>
                </a:solidFill>
                <a:latin typeface="Arial"/>
              </a:rPr>
              <a:t>Die Messung</a:t>
            </a:r>
          </a:p>
          <a:p>
            <a:pPr>
              <a:lnSpc>
                <a:spcPct val="125000"/>
              </a:lnSpc>
              <a:spcBef>
                <a:spcPts val="0"/>
              </a:spcBef>
              <a:spcAft>
                <a:spcPts val="0"/>
              </a:spcAft>
            </a:pPr>
            <a:r>
              <a:rPr sz="1500" b="0">
                <a:solidFill>
                  <a:srgbClr val="55677A"/>
                </a:solidFill>
                <a:latin typeface="Arial"/>
              </a:rPr>
              <a:t>22,8 % auf Rohzeilenebene, 30,3 % nach der Bereinigung, 94,9 % im Datensatz der Auswertung. Auf keiner Ebene sind es 40 %.</a:t>
            </a:r>
          </a:p>
          <a:p>
            <a:pPr>
              <a:lnSpc>
                <a:spcPct val="100000"/>
              </a:lnSpc>
              <a:spcBef>
                <a:spcPts val="2000"/>
              </a:spcBef>
              <a:spcAft>
                <a:spcPts val="400"/>
              </a:spcAft>
            </a:pPr>
            <a:r>
              <a:rPr sz="1900" b="1">
                <a:solidFill>
                  <a:srgbClr val="16202A"/>
                </a:solidFill>
                <a:latin typeface="Arial"/>
              </a:rPr>
              <a:t>Warum der Fund die Regel stärkt</a:t>
            </a:r>
          </a:p>
          <a:p>
            <a:pPr>
              <a:lnSpc>
                <a:spcPct val="125000"/>
              </a:lnSpc>
              <a:spcBef>
                <a:spcPts val="0"/>
              </a:spcBef>
              <a:spcAft>
                <a:spcPts val="0"/>
              </a:spcAft>
            </a:pPr>
            <a:r>
              <a:rPr sz="1500" b="0">
                <a:solidFill>
                  <a:srgbClr val="55677A"/>
                </a:solidFill>
                <a:latin typeface="Arial"/>
              </a:rPr>
              <a:t>Im relevanten Ausschnitt fehlt die Angabe bei fast allen Fällen. Die Entscheidung war also wichtiger als dokumentiert – die Doku hatte sich unter Wert verkauft.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KORREKTUR 3</a:t>
            </a:r>
          </a:p>
          <a:p>
            <a:pPr>
              <a:lnSpc>
                <a:spcPct val="105000"/>
              </a:lnSpc>
              <a:spcBef>
                <a:spcPts val="0"/>
              </a:spcBef>
              <a:spcAft>
                <a:spcPts val="0"/>
              </a:spcAft>
            </a:pPr>
            <a:r>
              <a:rPr sz="3000" b="1">
                <a:solidFill>
                  <a:srgbClr val="16202A"/>
                </a:solidFill>
                <a:latin typeface="Arial"/>
              </a:rPr>
              <a:t>Die Regel für „städtisch“ hat zwei Äste, nicht einen</a:t>
            </a:r>
          </a:p>
        </p:txBody>
      </p:sp>
      <p:graphicFrame>
        <p:nvGraphicFramePr>
          <p:cNvPr id="5" name="Table 4"/>
          <p:cNvGraphicFramePr>
            <a:graphicFrameLocks noGrp="1"/>
          </p:cNvGraphicFramePr>
          <p:nvPr/>
        </p:nvGraphicFramePr>
        <p:xfrm>
          <a:off x="822960" y="2240280"/>
          <a:ext cx="10543031" cy="2523744"/>
        </p:xfrm>
        <a:graphic>
          <a:graphicData uri="http://schemas.openxmlformats.org/drawingml/2006/table">
            <a:tbl>
              <a:tblPr firstRow="1" bandRow="1">
                <a:tableStyleId>{5C22544A-7EE6-4342-B048-85BDC9FD1C3A}</a:tableStyleId>
              </a:tblPr>
              <a:tblGrid>
                <a:gridCol w="4846320"/>
                <a:gridCol w="1828800"/>
                <a:gridCol w="2011680"/>
                <a:gridCol w="1856231"/>
              </a:tblGrid>
              <a:tr h="420624">
                <a:tc>
                  <a:txBody>
                    <a:bodyPr/>
                    <a:lstStyle/>
                    <a:p>
                      <a:pPr algn="l"/>
                      <a:r>
                        <a:rPr sz="1300" b="1">
                          <a:solidFill>
                            <a:srgbClr val="FFFFFF"/>
                          </a:solidFill>
                          <a:latin typeface="Arial"/>
                        </a:rPr>
                        <a:t>Rechtsform</a:t>
                      </a:r>
                    </a:p>
                  </a:txBody>
                  <a:tcPr anchor="ctr">
                    <a:solidFill>
                      <a:srgbClr val="16202A"/>
                    </a:solidFill>
                  </a:tcPr>
                </a:tc>
                <a:tc>
                  <a:txBody>
                    <a:bodyPr/>
                    <a:lstStyle/>
                    <a:p>
                      <a:pPr algn="r"/>
                      <a:r>
                        <a:rPr sz="1300" b="1">
                          <a:solidFill>
                            <a:srgbClr val="FFFFFF"/>
                          </a:solidFill>
                          <a:latin typeface="Arial"/>
                        </a:rPr>
                        <a:t>gemischt</a:t>
                      </a:r>
                    </a:p>
                  </a:txBody>
                  <a:tcPr anchor="ctr">
                    <a:solidFill>
                      <a:srgbClr val="16202A"/>
                    </a:solidFill>
                  </a:tcPr>
                </a:tc>
                <a:tc>
                  <a:txBody>
                    <a:bodyPr/>
                    <a:lstStyle/>
                    <a:p>
                      <a:pPr algn="r"/>
                      <a:r>
                        <a:rPr sz="1300" b="1">
                          <a:solidFill>
                            <a:srgbClr val="FFFFFF"/>
                          </a:solidFill>
                          <a:latin typeface="Arial"/>
                        </a:rPr>
                        <a:t>nicht städt.</a:t>
                      </a:r>
                    </a:p>
                  </a:txBody>
                  <a:tcPr anchor="ctr">
                    <a:solidFill>
                      <a:srgbClr val="16202A"/>
                    </a:solidFill>
                  </a:tcPr>
                </a:tc>
                <a:tc>
                  <a:txBody>
                    <a:bodyPr/>
                    <a:lstStyle/>
                    <a:p>
                      <a:pPr algn="r"/>
                      <a:r>
                        <a:rPr sz="1300" b="1">
                          <a:solidFill>
                            <a:srgbClr val="FFFFFF"/>
                          </a:solidFill>
                          <a:latin typeface="Arial"/>
                        </a:rPr>
                        <a:t>städtisch</a:t>
                      </a:r>
                    </a:p>
                  </a:txBody>
                  <a:tcPr anchor="ctr">
                    <a:solidFill>
                      <a:srgbClr val="16202A"/>
                    </a:solidFill>
                  </a:tcPr>
                </a:tc>
              </a:tr>
              <a:tr h="420624">
                <a:tc>
                  <a:txBody>
                    <a:bodyPr/>
                    <a:lstStyle/>
                    <a:p>
                      <a:pPr algn="l"/>
                      <a:r>
                        <a:rPr sz="1400">
                          <a:solidFill>
                            <a:srgbClr val="16202A"/>
                          </a:solidFill>
                          <a:latin typeface="Arial"/>
                        </a:rPr>
                        <a:t>AG · AöR · Stiftung öff. Rechts</a:t>
                      </a:r>
                    </a:p>
                  </a:txBody>
                  <a:tcPr anchor="ctr">
                    <a:solidFill>
                      <a:srgbClr val="FFFFFF"/>
                    </a:solidFill>
                  </a:tcPr>
                </a:tc>
                <a:tc>
                  <a:txBody>
                    <a:bodyPr/>
                    <a:lstStyle/>
                    <a:p>
                      <a:pPr algn="r"/>
                      <a:r>
                        <a:rPr sz="1400">
                          <a:solidFill>
                            <a:srgbClr val="16202A"/>
                          </a:solidFill>
                          <a:latin typeface="Arial"/>
                        </a:rPr>
                        <a:t>0</a:t>
                      </a:r>
                    </a:p>
                  </a:txBody>
                  <a:tcPr anchor="ctr">
                    <a:solidFill>
                      <a:srgbClr val="FFFFFF"/>
                    </a:solidFill>
                  </a:tcPr>
                </a:tc>
                <a:tc>
                  <a:txBody>
                    <a:bodyPr/>
                    <a:lstStyle/>
                    <a:p>
                      <a:pPr algn="r"/>
                      <a:r>
                        <a:rPr sz="1400">
                          <a:solidFill>
                            <a:srgbClr val="16202A"/>
                          </a:solidFill>
                          <a:latin typeface="Arial"/>
                        </a:rPr>
                        <a:t>0</a:t>
                      </a:r>
                    </a:p>
                  </a:txBody>
                  <a:tcPr anchor="ctr">
                    <a:solidFill>
                      <a:srgbClr val="FFFFFF"/>
                    </a:solidFill>
                  </a:tcPr>
                </a:tc>
                <a:tc>
                  <a:txBody>
                    <a:bodyPr/>
                    <a:lstStyle/>
                    <a:p>
                      <a:pPr algn="r"/>
                      <a:r>
                        <a:rPr sz="1400">
                          <a:solidFill>
                            <a:srgbClr val="16202A"/>
                          </a:solidFill>
                          <a:latin typeface="Arial"/>
                        </a:rPr>
                        <a:t>10</a:t>
                      </a:r>
                    </a:p>
                  </a:txBody>
                  <a:tcPr anchor="ctr">
                    <a:solidFill>
                      <a:srgbClr val="FFFFFF"/>
                    </a:solidFill>
                  </a:tcPr>
                </a:tc>
              </a:tr>
              <a:tr h="420624">
                <a:tc>
                  <a:txBody>
                    <a:bodyPr/>
                    <a:lstStyle/>
                    <a:p>
                      <a:pPr algn="l"/>
                      <a:r>
                        <a:rPr sz="1400">
                          <a:solidFill>
                            <a:srgbClr val="16202A"/>
                          </a:solidFill>
                          <a:latin typeface="Arial"/>
                        </a:rPr>
                        <a:t>Stiftung bürgerl. Rechts · e.V.</a:t>
                      </a:r>
                    </a:p>
                  </a:txBody>
                  <a:tcPr anchor="ctr">
                    <a:solidFill>
                      <a:srgbClr val="ECEFF1"/>
                    </a:solidFill>
                  </a:tcPr>
                </a:tc>
                <a:tc>
                  <a:txBody>
                    <a:bodyPr/>
                    <a:lstStyle/>
                    <a:p>
                      <a:pPr algn="r"/>
                      <a:r>
                        <a:rPr sz="1400">
                          <a:solidFill>
                            <a:srgbClr val="16202A"/>
                          </a:solidFill>
                          <a:latin typeface="Arial"/>
                        </a:rPr>
                        <a:t>0</a:t>
                      </a:r>
                    </a:p>
                  </a:txBody>
                  <a:tcPr anchor="ctr">
                    <a:solidFill>
                      <a:srgbClr val="ECEFF1"/>
                    </a:solidFill>
                  </a:tcPr>
                </a:tc>
                <a:tc>
                  <a:txBody>
                    <a:bodyPr/>
                    <a:lstStyle/>
                    <a:p>
                      <a:pPr algn="r"/>
                      <a:r>
                        <a:rPr sz="1400">
                          <a:solidFill>
                            <a:srgbClr val="16202A"/>
                          </a:solidFill>
                          <a:latin typeface="Arial"/>
                        </a:rPr>
                        <a:t>14</a:t>
                      </a:r>
                    </a:p>
                  </a:txBody>
                  <a:tcPr anchor="ctr">
                    <a:solidFill>
                      <a:srgbClr val="ECEFF1"/>
                    </a:solidFill>
                  </a:tcPr>
                </a:tc>
                <a:tc>
                  <a:txBody>
                    <a:bodyPr/>
                    <a:lstStyle/>
                    <a:p>
                      <a:pPr algn="r"/>
                      <a:r>
                        <a:rPr sz="1400">
                          <a:solidFill>
                            <a:srgbClr val="16202A"/>
                          </a:solidFill>
                          <a:latin typeface="Arial"/>
                        </a:rPr>
                        <a:t>0</a:t>
                      </a:r>
                    </a:p>
                  </a:txBody>
                  <a:tcPr anchor="ctr">
                    <a:solidFill>
                      <a:srgbClr val="ECEFF1"/>
                    </a:solidFill>
                  </a:tcPr>
                </a:tc>
              </a:tr>
              <a:tr h="420624">
                <a:tc>
                  <a:txBody>
                    <a:bodyPr/>
                    <a:lstStyle/>
                    <a:p>
                      <a:pPr algn="l"/>
                      <a:r>
                        <a:rPr sz="1400">
                          <a:solidFill>
                            <a:srgbClr val="16202A"/>
                          </a:solidFill>
                          <a:latin typeface="Arial"/>
                        </a:rPr>
                        <a:t>GmbH</a:t>
                      </a:r>
                    </a:p>
                  </a:txBody>
                  <a:tcPr anchor="ctr">
                    <a:solidFill>
                      <a:srgbClr val="FFFFFF"/>
                    </a:solidFill>
                  </a:tcPr>
                </a:tc>
                <a:tc>
                  <a:txBody>
                    <a:bodyPr/>
                    <a:lstStyle/>
                    <a:p>
                      <a:pPr algn="r"/>
                      <a:r>
                        <a:rPr sz="1400">
                          <a:solidFill>
                            <a:srgbClr val="16202A"/>
                          </a:solidFill>
                          <a:latin typeface="Arial"/>
                        </a:rPr>
                        <a:t>3</a:t>
                      </a:r>
                    </a:p>
                  </a:txBody>
                  <a:tcPr anchor="ctr">
                    <a:solidFill>
                      <a:srgbClr val="FFFFFF"/>
                    </a:solidFill>
                  </a:tcPr>
                </a:tc>
                <a:tc>
                  <a:txBody>
                    <a:bodyPr/>
                    <a:lstStyle/>
                    <a:p>
                      <a:pPr algn="r"/>
                      <a:r>
                        <a:rPr sz="1400">
                          <a:solidFill>
                            <a:srgbClr val="16202A"/>
                          </a:solidFill>
                          <a:latin typeface="Arial"/>
                        </a:rPr>
                        <a:t>4</a:t>
                      </a:r>
                    </a:p>
                  </a:txBody>
                  <a:tcPr anchor="ctr">
                    <a:solidFill>
                      <a:srgbClr val="FFFFFF"/>
                    </a:solidFill>
                  </a:tcPr>
                </a:tc>
                <a:tc>
                  <a:txBody>
                    <a:bodyPr/>
                    <a:lstStyle/>
                    <a:p>
                      <a:pPr algn="r"/>
                      <a:r>
                        <a:rPr sz="1400">
                          <a:solidFill>
                            <a:srgbClr val="16202A"/>
                          </a:solidFill>
                          <a:latin typeface="Arial"/>
                        </a:rPr>
                        <a:t>13</a:t>
                      </a:r>
                    </a:p>
                  </a:txBody>
                  <a:tcPr anchor="ctr">
                    <a:solidFill>
                      <a:srgbClr val="FFFFFF"/>
                    </a:solidFill>
                  </a:tcPr>
                </a:tc>
              </a:tr>
              <a:tr h="420624">
                <a:tc>
                  <a:txBody>
                    <a:bodyPr/>
                    <a:lstStyle/>
                    <a:p>
                      <a:pPr algn="l"/>
                      <a:r>
                        <a:rPr sz="1400">
                          <a:solidFill>
                            <a:srgbClr val="16202A"/>
                          </a:solidFill>
                          <a:latin typeface="Arial"/>
                        </a:rPr>
                        <a:t>gGmbH</a:t>
                      </a:r>
                    </a:p>
                  </a:txBody>
                  <a:tcPr anchor="ctr">
                    <a:solidFill>
                      <a:srgbClr val="ECEFF1"/>
                    </a:solidFill>
                  </a:tcPr>
                </a:tc>
                <a:tc>
                  <a:txBody>
                    <a:bodyPr/>
                    <a:lstStyle/>
                    <a:p>
                      <a:pPr algn="r"/>
                      <a:r>
                        <a:rPr sz="1400">
                          <a:solidFill>
                            <a:srgbClr val="16202A"/>
                          </a:solidFill>
                          <a:latin typeface="Arial"/>
                        </a:rPr>
                        <a:t>0</a:t>
                      </a:r>
                    </a:p>
                  </a:txBody>
                  <a:tcPr anchor="ctr">
                    <a:solidFill>
                      <a:srgbClr val="ECEFF1"/>
                    </a:solidFill>
                  </a:tcPr>
                </a:tc>
                <a:tc>
                  <a:txBody>
                    <a:bodyPr/>
                    <a:lstStyle/>
                    <a:p>
                      <a:pPr algn="r"/>
                      <a:r>
                        <a:rPr sz="1400">
                          <a:solidFill>
                            <a:srgbClr val="16202A"/>
                          </a:solidFill>
                          <a:latin typeface="Arial"/>
                        </a:rPr>
                        <a:t>2</a:t>
                      </a:r>
                    </a:p>
                  </a:txBody>
                  <a:tcPr anchor="ctr">
                    <a:solidFill>
                      <a:srgbClr val="ECEFF1"/>
                    </a:solidFill>
                  </a:tcPr>
                </a:tc>
                <a:tc>
                  <a:txBody>
                    <a:bodyPr/>
                    <a:lstStyle/>
                    <a:p>
                      <a:pPr algn="r"/>
                      <a:r>
                        <a:rPr sz="1400">
                          <a:solidFill>
                            <a:srgbClr val="16202A"/>
                          </a:solidFill>
                          <a:latin typeface="Arial"/>
                        </a:rPr>
                        <a:t>2</a:t>
                      </a:r>
                    </a:p>
                  </a:txBody>
                  <a:tcPr anchor="ctr">
                    <a:solidFill>
                      <a:srgbClr val="ECEFF1"/>
                    </a:solidFill>
                  </a:tcPr>
                </a:tc>
              </a:tr>
              <a:tr h="420624">
                <a:tc>
                  <a:txBody>
                    <a:bodyPr/>
                    <a:lstStyle/>
                    <a:p>
                      <a:pPr algn="l"/>
                      <a:r>
                        <a:rPr sz="1400">
                          <a:solidFill>
                            <a:srgbClr val="16202A"/>
                          </a:solidFill>
                          <a:latin typeface="Arial"/>
                        </a:rPr>
                        <a:t>KöR</a:t>
                      </a:r>
                    </a:p>
                  </a:txBody>
                  <a:tcPr anchor="ctr">
                    <a:solidFill>
                      <a:srgbClr val="FFFFFF"/>
                    </a:solidFill>
                  </a:tcPr>
                </a:tc>
                <a:tc>
                  <a:txBody>
                    <a:bodyPr/>
                    <a:lstStyle/>
                    <a:p>
                      <a:pPr algn="r"/>
                      <a:r>
                        <a:rPr sz="1400">
                          <a:solidFill>
                            <a:srgbClr val="16202A"/>
                          </a:solidFill>
                          <a:latin typeface="Arial"/>
                        </a:rPr>
                        <a:t>0</a:t>
                      </a:r>
                    </a:p>
                  </a:txBody>
                  <a:tcPr anchor="ctr">
                    <a:solidFill>
                      <a:srgbClr val="FFFFFF"/>
                    </a:solidFill>
                  </a:tcPr>
                </a:tc>
                <a:tc>
                  <a:txBody>
                    <a:bodyPr/>
                    <a:lstStyle/>
                    <a:p>
                      <a:pPr algn="r"/>
                      <a:r>
                        <a:rPr sz="1400" b="1">
                          <a:solidFill>
                            <a:srgbClr val="B4351F"/>
                          </a:solidFill>
                          <a:latin typeface="Arial"/>
                        </a:rPr>
                        <a:t>1</a:t>
                      </a:r>
                    </a:p>
                  </a:txBody>
                  <a:tcPr anchor="ctr">
                    <a:solidFill>
                      <a:srgbClr val="FFFFFF"/>
                    </a:solidFill>
                  </a:tcPr>
                </a:tc>
                <a:tc>
                  <a:txBody>
                    <a:bodyPr/>
                    <a:lstStyle/>
                    <a:p>
                      <a:pPr algn="r"/>
                      <a:r>
                        <a:rPr sz="1400" b="1">
                          <a:solidFill>
                            <a:srgbClr val="B4351F"/>
                          </a:solidFill>
                          <a:latin typeface="Arial"/>
                        </a:rPr>
                        <a:t>1</a:t>
                      </a:r>
                    </a:p>
                  </a:txBody>
                  <a:tcPr anchor="ctr">
                    <a:solidFill>
                      <a:srgbClr val="FFFFFF"/>
                    </a:solidFill>
                  </a:tcPr>
                </a:tc>
              </a:tr>
            </a:tbl>
          </a:graphicData>
        </a:graphic>
      </p:graphicFrame>
      <p:sp>
        <p:nvSpPr>
          <p:cNvPr id="6" name="TextBox 5"/>
          <p:cNvSpPr txBox="1"/>
          <p:nvPr/>
        </p:nvSpPr>
        <p:spPr>
          <a:xfrm>
            <a:off x="822960" y="5129784"/>
            <a:ext cx="10543032" cy="822960"/>
          </a:xfrm>
          <a:prstGeom prst="rect">
            <a:avLst/>
          </a:prstGeom>
          <a:noFill/>
        </p:spPr>
        <p:txBody>
          <a:bodyPr wrap="square" lIns="0" rIns="0" tIns="0" bIns="0">
            <a:spAutoFit/>
          </a:bodyPr>
          <a:lstStyle/>
          <a:p>
            <a:pPr>
              <a:lnSpc>
                <a:spcPct val="130000"/>
              </a:lnSpc>
              <a:spcBef>
                <a:spcPts val="0"/>
              </a:spcBef>
              <a:spcAft>
                <a:spcPts val="0"/>
              </a:spcAft>
            </a:pPr>
            <a:r>
              <a:rPr sz="1400" b="0">
                <a:solidFill>
                  <a:srgbClr val="55677A"/>
                </a:solidFill>
                <a:latin typeface="Arial"/>
              </a:rPr>
              <a:t>Die Gegenprobe zeigte: Universitätsklinikum und Handwerkskammer sind beide Körperschaften öffentlichen Rechts, aber verschieden eingestuft. Die Rechtsform allein entscheidet nicht. Bei öffentlich-rechtlichen Formen entscheidet die Trägerschaft, bei privatrechtlichen die Beteiligung.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GRENZEN</a:t>
            </a:r>
          </a:p>
          <a:p>
            <a:pPr>
              <a:lnSpc>
                <a:spcPct val="105000"/>
              </a:lnSpc>
              <a:spcBef>
                <a:spcPts val="0"/>
              </a:spcBef>
              <a:spcAft>
                <a:spcPts val="0"/>
              </a:spcAft>
            </a:pPr>
            <a:r>
              <a:rPr sz="3000" b="1">
                <a:solidFill>
                  <a:srgbClr val="16202A"/>
                </a:solidFill>
                <a:latin typeface="Arial"/>
              </a:rPr>
              <a:t>Was diese Auswertung nicht sagt</a:t>
            </a:r>
          </a:p>
        </p:txBody>
      </p:sp>
      <p:sp>
        <p:nvSpPr>
          <p:cNvPr id="5" name="TextBox 4"/>
          <p:cNvSpPr txBox="1"/>
          <p:nvPr/>
        </p:nvSpPr>
        <p:spPr>
          <a:xfrm>
            <a:off x="822960" y="2148840"/>
            <a:ext cx="10543032" cy="3931920"/>
          </a:xfrm>
          <a:prstGeom prst="rect">
            <a:avLst/>
          </a:prstGeom>
          <a:noFill/>
        </p:spPr>
        <p:txBody>
          <a:bodyPr wrap="square" lIns="0" rIns="0" tIns="0" bIns="0">
            <a:spAutoFit/>
          </a:bodyPr>
          <a:lstStyle/>
          <a:p>
            <a:pPr>
              <a:lnSpc>
                <a:spcPct val="100000"/>
              </a:lnSpc>
              <a:spcBef>
                <a:spcPts val="0"/>
              </a:spcBef>
              <a:spcAft>
                <a:spcPts val="400"/>
              </a:spcAft>
            </a:pPr>
            <a:r>
              <a:rPr sz="1900" b="1">
                <a:solidFill>
                  <a:srgbClr val="16202A"/>
                </a:solidFill>
                <a:latin typeface="Arial"/>
              </a:rPr>
              <a:t>Bewilligt, nicht ausgezahlt</a:t>
            </a:r>
          </a:p>
          <a:p>
            <a:pPr>
              <a:lnSpc>
                <a:spcPct val="125000"/>
              </a:lnSpc>
              <a:spcBef>
                <a:spcPts val="0"/>
              </a:spcBef>
              <a:spcAft>
                <a:spcPts val="0"/>
              </a:spcAft>
            </a:pPr>
            <a:r>
              <a:rPr sz="1500" b="0">
                <a:solidFill>
                  <a:srgbClr val="55677A"/>
                </a:solidFill>
                <a:latin typeface="Arial"/>
              </a:rPr>
              <a:t>Die Daten zeigen Bescheide. Ob das Geld abgerufen wurde, steht nicht darin.</a:t>
            </a:r>
          </a:p>
          <a:p>
            <a:pPr>
              <a:lnSpc>
                <a:spcPct val="100000"/>
              </a:lnSpc>
              <a:spcBef>
                <a:spcPts val="2000"/>
              </a:spcBef>
              <a:spcAft>
                <a:spcPts val="400"/>
              </a:spcAft>
            </a:pPr>
            <a:r>
              <a:rPr sz="1900" b="1">
                <a:solidFill>
                  <a:srgbClr val="16202A"/>
                </a:solidFill>
                <a:latin typeface="Arial"/>
              </a:rPr>
              <a:t>50 von 1.913 Empfängern sind geprüft</a:t>
            </a:r>
          </a:p>
          <a:p>
            <a:pPr>
              <a:lnSpc>
                <a:spcPct val="125000"/>
              </a:lnSpc>
              <a:spcBef>
                <a:spcPts val="0"/>
              </a:spcBef>
              <a:spcAft>
                <a:spcPts val="0"/>
              </a:spcAft>
            </a:pPr>
            <a:r>
              <a:rPr sz="1500" b="0">
                <a:solidFill>
                  <a:srgbClr val="55677A"/>
                </a:solidFill>
                <a:latin typeface="Arial"/>
              </a:rPr>
              <a:t>Sie decken 88,7 % der Summe ab. Für den langen Rest gilt die Einstufung „nicht als städtisch belegt“ – nicht „nachweislich nicht städtisch“.</a:t>
            </a:r>
          </a:p>
          <a:p>
            <a:pPr>
              <a:lnSpc>
                <a:spcPct val="100000"/>
              </a:lnSpc>
              <a:spcBef>
                <a:spcPts val="2000"/>
              </a:spcBef>
              <a:spcAft>
                <a:spcPts val="400"/>
              </a:spcAft>
            </a:pPr>
            <a:r>
              <a:rPr sz="1900" b="1">
                <a:solidFill>
                  <a:srgbClr val="16202A"/>
                </a:solidFill>
                <a:latin typeface="Arial"/>
              </a:rPr>
              <a:t>Der Vergleichsschlüssel entfernt auch Umlaute</a:t>
            </a:r>
          </a:p>
          <a:p>
            <a:pPr>
              <a:lnSpc>
                <a:spcPct val="125000"/>
              </a:lnSpc>
              <a:spcBef>
                <a:spcPts val="0"/>
              </a:spcBef>
              <a:spcAft>
                <a:spcPts val="0"/>
              </a:spcAft>
            </a:pPr>
            <a:r>
              <a:rPr sz="1500" b="0">
                <a:solidFill>
                  <a:srgbClr val="55677A"/>
                </a:solidFill>
                <a:latin typeface="Arial"/>
              </a:rPr>
              <a:t>„Müller“ und „Muller“ bekämen denselben Schlüssel. In diesem Datensatz ist das nicht aufgetreten, bleibt aber eine Grenze des Verfahrens.</a:t>
            </a:r>
          </a:p>
          <a:p>
            <a:pPr>
              <a:lnSpc>
                <a:spcPct val="100000"/>
              </a:lnSpc>
              <a:spcBef>
                <a:spcPts val="2000"/>
              </a:spcBef>
              <a:spcAft>
                <a:spcPts val="400"/>
              </a:spcAft>
            </a:pPr>
            <a:r>
              <a:rPr sz="1900" b="1">
                <a:solidFill>
                  <a:srgbClr val="16202A"/>
                </a:solidFill>
                <a:latin typeface="Arial"/>
              </a:rPr>
              <a:t>Seitengenaue Belege fehlen</a:t>
            </a:r>
          </a:p>
          <a:p>
            <a:pPr>
              <a:lnSpc>
                <a:spcPct val="125000"/>
              </a:lnSpc>
              <a:spcBef>
                <a:spcPts val="0"/>
              </a:spcBef>
              <a:spcAft>
                <a:spcPts val="0"/>
              </a:spcAft>
            </a:pPr>
            <a:r>
              <a:rPr sz="1500" b="0">
                <a:solidFill>
                  <a:srgbClr val="55677A"/>
                </a:solidFill>
                <a:latin typeface="Arial"/>
              </a:rPr>
              <a:t>Die Prüfung gegen den Beteiligungsbericht ist erfolgt, die Fundstellen sind nicht je Zeile mitgeschrieben. Für eine Veröffentlichung wäre das nachzuholen.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1097280" cy="381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3032" cy="1188720"/>
          </a:xfrm>
          <a:prstGeom prst="rect">
            <a:avLst/>
          </a:prstGeom>
          <a:noFill/>
        </p:spPr>
        <p:txBody>
          <a:bodyPr wrap="square" lIns="0" rIns="0" tIns="0" bIns="0">
            <a:spAutoFit/>
          </a:bodyPr>
          <a:lstStyle/>
          <a:p>
            <a:pPr>
              <a:lnSpc>
                <a:spcPct val="100000"/>
              </a:lnSpc>
              <a:spcBef>
                <a:spcPts val="0"/>
              </a:spcBef>
              <a:spcAft>
                <a:spcPts val="800"/>
              </a:spcAft>
            </a:pPr>
            <a:r>
              <a:rPr sz="1200" b="1">
                <a:solidFill>
                  <a:srgbClr val="0A5C6E"/>
                </a:solidFill>
                <a:latin typeface="Arial"/>
              </a:rPr>
              <a:t>FAZIT</a:t>
            </a:r>
          </a:p>
          <a:p>
            <a:pPr>
              <a:lnSpc>
                <a:spcPct val="105000"/>
              </a:lnSpc>
              <a:spcBef>
                <a:spcPts val="0"/>
              </a:spcBef>
              <a:spcAft>
                <a:spcPts val="0"/>
              </a:spcAft>
            </a:pPr>
            <a:r>
              <a:rPr sz="3000" b="1">
                <a:solidFill>
                  <a:srgbClr val="16202A"/>
                </a:solidFill>
                <a:latin typeface="Arial"/>
              </a:rPr>
              <a:t>Drei Dinge, die ich mitnehme</a:t>
            </a:r>
          </a:p>
        </p:txBody>
      </p:sp>
      <p:sp>
        <p:nvSpPr>
          <p:cNvPr id="5" name="TextBox 4"/>
          <p:cNvSpPr txBox="1"/>
          <p:nvPr/>
        </p:nvSpPr>
        <p:spPr>
          <a:xfrm>
            <a:off x="822960" y="2148840"/>
            <a:ext cx="10543032" cy="3931920"/>
          </a:xfrm>
          <a:prstGeom prst="rect">
            <a:avLst/>
          </a:prstGeom>
          <a:noFill/>
        </p:spPr>
        <p:txBody>
          <a:bodyPr wrap="square" lIns="0" rIns="0" tIns="0" bIns="0">
            <a:spAutoFit/>
          </a:bodyPr>
          <a:lstStyle/>
          <a:p>
            <a:pPr>
              <a:lnSpc>
                <a:spcPct val="100000"/>
              </a:lnSpc>
              <a:spcBef>
                <a:spcPts val="0"/>
              </a:spcBef>
              <a:spcAft>
                <a:spcPts val="400"/>
              </a:spcAft>
            </a:pPr>
            <a:r>
              <a:rPr sz="1900" b="1">
                <a:solidFill>
                  <a:srgbClr val="16202A"/>
                </a:solidFill>
                <a:latin typeface="Arial"/>
              </a:rPr>
              <a:t>Die Analyse war schnell, das Prüfen war die Arbeit</a:t>
            </a:r>
          </a:p>
          <a:p>
            <a:pPr>
              <a:lnSpc>
                <a:spcPct val="125000"/>
              </a:lnSpc>
              <a:spcBef>
                <a:spcPts val="0"/>
              </a:spcBef>
              <a:spcAft>
                <a:spcPts val="0"/>
              </a:spcAft>
            </a:pPr>
            <a:r>
              <a:rPr sz="1500" b="0">
                <a:solidFill>
                  <a:srgbClr val="55677A"/>
                </a:solidFill>
                <a:latin typeface="Arial"/>
              </a:rPr>
              <a:t>Die Gruppierung stand an einem Vormittag. Die vier Tage danach gingen für die Frage drauf, ob sie stimmt.</a:t>
            </a:r>
          </a:p>
          <a:p>
            <a:pPr>
              <a:lnSpc>
                <a:spcPct val="100000"/>
              </a:lnSpc>
              <a:spcBef>
                <a:spcPts val="2000"/>
              </a:spcBef>
              <a:spcAft>
                <a:spcPts val="400"/>
              </a:spcAft>
            </a:pPr>
            <a:r>
              <a:rPr sz="1900" b="1">
                <a:solidFill>
                  <a:srgbClr val="16202A"/>
                </a:solidFill>
                <a:latin typeface="Arial"/>
              </a:rPr>
              <a:t>Jeder Fund kam aus einem Test, nicht aus dem Rechnen</a:t>
            </a:r>
          </a:p>
          <a:p>
            <a:pPr>
              <a:lnSpc>
                <a:spcPct val="125000"/>
              </a:lnSpc>
              <a:spcBef>
                <a:spcPts val="0"/>
              </a:spcBef>
              <a:spcAft>
                <a:spcPts val="0"/>
              </a:spcAft>
            </a:pPr>
            <a:r>
              <a:rPr sz="1500" b="0">
                <a:solidFill>
                  <a:srgbClr val="55677A"/>
                </a:solidFill>
                <a:latin typeface="Arial"/>
              </a:rPr>
              <a:t>Alle drei Korrekturen entstanden beim Prüfen von etwas, das bereits fertig aussah. Ein Ergebnis ohne Gegenprobe ist eine Vermutung.</a:t>
            </a:r>
          </a:p>
          <a:p>
            <a:pPr>
              <a:lnSpc>
                <a:spcPct val="100000"/>
              </a:lnSpc>
              <a:spcBef>
                <a:spcPts val="2000"/>
              </a:spcBef>
              <a:spcAft>
                <a:spcPts val="400"/>
              </a:spcAft>
            </a:pPr>
            <a:r>
              <a:rPr sz="1900" b="1">
                <a:solidFill>
                  <a:srgbClr val="16202A"/>
                </a:solidFill>
                <a:latin typeface="Arial"/>
              </a:rPr>
              <a:t>Nichtwissen beziffern statt verschweigen</a:t>
            </a:r>
          </a:p>
          <a:p>
            <a:pPr>
              <a:lnSpc>
                <a:spcPct val="125000"/>
              </a:lnSpc>
              <a:spcBef>
                <a:spcPts val="0"/>
              </a:spcBef>
              <a:spcAft>
                <a:spcPts val="0"/>
              </a:spcAft>
            </a:pPr>
            <a:r>
              <a:rPr sz="1500" b="0">
                <a:solidFill>
                  <a:srgbClr val="55677A"/>
                </a:solidFill>
                <a:latin typeface="Arial"/>
              </a:rPr>
              <a:t>„Ich weiß es nicht“ ist eine Lücke. „Ich weiß es nicht, und es macht höchstens 0,34 % aus“ ist ein Ergebnis.</a:t>
            </a:r>
          </a:p>
        </p:txBody>
      </p:sp>
      <p:sp>
        <p:nvSpPr>
          <p:cNvPr id="6" name="TextBox 5"/>
          <p:cNvSpPr txBox="1"/>
          <p:nvPr/>
        </p:nvSpPr>
        <p:spPr>
          <a:xfrm>
            <a:off x="822960" y="6172200"/>
            <a:ext cx="10543032" cy="457200"/>
          </a:xfrm>
          <a:prstGeom prst="rect">
            <a:avLst/>
          </a:prstGeom>
          <a:noFill/>
        </p:spPr>
        <p:txBody>
          <a:bodyPr wrap="square" lIns="0" rIns="0" tIns="0" bIns="0">
            <a:spAutoFit/>
          </a:bodyPr>
          <a:lstStyle/>
          <a:p>
            <a:pPr>
              <a:lnSpc>
                <a:spcPct val="100000"/>
              </a:lnSpc>
              <a:spcBef>
                <a:spcPts val="0"/>
              </a:spcBef>
              <a:spcAft>
                <a:spcPts val="0"/>
              </a:spcAft>
            </a:pPr>
            <a:r>
              <a:rPr sz="1200" b="0">
                <a:solidFill>
                  <a:srgbClr val="55677A"/>
                </a:solidFill>
                <a:latin typeface="Arial"/>
              </a:rPr>
              <a:t>Daten: Transparenzportal Hamburg (INEZ), Stand Jahresende 2025 · Code und Dokumentation: github.com/Coco1606/hamburg-in-zahlen-manuell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